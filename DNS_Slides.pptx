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40"/>
  </p:notesMasterIdLst>
  <p:handoutMasterIdLst>
    <p:handoutMasterId r:id="rId41"/>
  </p:handoutMasterIdLst>
  <p:sldIdLst>
    <p:sldId id="388" r:id="rId2"/>
    <p:sldId id="392" r:id="rId3"/>
    <p:sldId id="393" r:id="rId4"/>
    <p:sldId id="394" r:id="rId5"/>
    <p:sldId id="395" r:id="rId6"/>
    <p:sldId id="391" r:id="rId7"/>
    <p:sldId id="398" r:id="rId8"/>
    <p:sldId id="399" r:id="rId9"/>
    <p:sldId id="400" r:id="rId10"/>
    <p:sldId id="401" r:id="rId11"/>
    <p:sldId id="404" r:id="rId12"/>
    <p:sldId id="405" r:id="rId13"/>
    <p:sldId id="402" r:id="rId14"/>
    <p:sldId id="403" r:id="rId15"/>
    <p:sldId id="406" r:id="rId16"/>
    <p:sldId id="407" r:id="rId17"/>
    <p:sldId id="408" r:id="rId18"/>
    <p:sldId id="425" r:id="rId19"/>
    <p:sldId id="426" r:id="rId20"/>
    <p:sldId id="409" r:id="rId21"/>
    <p:sldId id="410" r:id="rId22"/>
    <p:sldId id="422" r:id="rId23"/>
    <p:sldId id="420" r:id="rId24"/>
    <p:sldId id="411" r:id="rId25"/>
    <p:sldId id="412" r:id="rId26"/>
    <p:sldId id="413" r:id="rId27"/>
    <p:sldId id="396" r:id="rId28"/>
    <p:sldId id="414" r:id="rId29"/>
    <p:sldId id="417" r:id="rId30"/>
    <p:sldId id="415" r:id="rId31"/>
    <p:sldId id="423" r:id="rId32"/>
    <p:sldId id="416" r:id="rId33"/>
    <p:sldId id="418" r:id="rId34"/>
    <p:sldId id="427" r:id="rId35"/>
    <p:sldId id="428" r:id="rId36"/>
    <p:sldId id="424" r:id="rId37"/>
    <p:sldId id="421" r:id="rId38"/>
    <p:sldId id="419" r:id="rId39"/>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206C271-A17B-4745-8409-D19C184D271D}">
          <p14:sldIdLst>
            <p14:sldId id="388"/>
            <p14:sldId id="392"/>
            <p14:sldId id="393"/>
            <p14:sldId id="394"/>
            <p14:sldId id="395"/>
            <p14:sldId id="391"/>
            <p14:sldId id="398"/>
            <p14:sldId id="399"/>
            <p14:sldId id="400"/>
            <p14:sldId id="401"/>
            <p14:sldId id="404"/>
            <p14:sldId id="405"/>
            <p14:sldId id="402"/>
            <p14:sldId id="403"/>
            <p14:sldId id="406"/>
            <p14:sldId id="407"/>
            <p14:sldId id="408"/>
            <p14:sldId id="425"/>
            <p14:sldId id="426"/>
            <p14:sldId id="409"/>
            <p14:sldId id="410"/>
            <p14:sldId id="422"/>
            <p14:sldId id="420"/>
            <p14:sldId id="411"/>
            <p14:sldId id="412"/>
            <p14:sldId id="413"/>
            <p14:sldId id="396"/>
            <p14:sldId id="414"/>
            <p14:sldId id="417"/>
            <p14:sldId id="415"/>
            <p14:sldId id="423"/>
            <p14:sldId id="416"/>
            <p14:sldId id="418"/>
            <p14:sldId id="427"/>
            <p14:sldId id="428"/>
            <p14:sldId id="424"/>
            <p14:sldId id="421"/>
            <p14:sldId id="41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67" autoAdjust="0"/>
    <p:restoredTop sz="72498" autoAdjust="0"/>
  </p:normalViewPr>
  <p:slideViewPr>
    <p:cSldViewPr snapToGrid="0">
      <p:cViewPr varScale="1">
        <p:scale>
          <a:sx n="162" d="100"/>
          <a:sy n="162" d="100"/>
        </p:scale>
        <p:origin x="368" y="20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520" y="-96"/>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r>
              <a:rPr lang="en-US"/>
              <a:t>Christo Wilson</a:t>
            </a:r>
          </a:p>
        </p:txBody>
      </p:sp>
      <p:sp>
        <p:nvSpPr>
          <p:cNvPr id="3" name="Date Placeholder 2"/>
          <p:cNvSpPr>
            <a:spLocks noGrp="1"/>
          </p:cNvSpPr>
          <p:nvPr>
            <p:ph type="dt" sz="quarter" idx="1"/>
          </p:nvPr>
        </p:nvSpPr>
        <p:spPr>
          <a:xfrm>
            <a:off x="3898102" y="0"/>
            <a:ext cx="2982119" cy="464820"/>
          </a:xfrm>
          <a:prstGeom prst="rect">
            <a:avLst/>
          </a:prstGeom>
        </p:spPr>
        <p:txBody>
          <a:bodyPr vert="horz" lIns="92446" tIns="46223" rIns="92446" bIns="46223" rtlCol="0"/>
          <a:lstStyle>
            <a:lvl1pPr algn="r">
              <a:defRPr sz="1200"/>
            </a:lvl1pPr>
          </a:lstStyle>
          <a:p>
            <a:r>
              <a:rPr lang="en-US"/>
              <a:t>8/22/2012</a:t>
            </a:r>
          </a:p>
        </p:txBody>
      </p:sp>
      <p:sp>
        <p:nvSpPr>
          <p:cNvPr id="4" name="Footer Placeholder 3"/>
          <p:cNvSpPr>
            <a:spLocks noGrp="1"/>
          </p:cNvSpPr>
          <p:nvPr>
            <p:ph type="ftr" sz="quarter" idx="2"/>
          </p:nvPr>
        </p:nvSpPr>
        <p:spPr>
          <a:xfrm>
            <a:off x="0" y="8829967"/>
            <a:ext cx="2982119" cy="464820"/>
          </a:xfrm>
          <a:prstGeom prst="rect">
            <a:avLst/>
          </a:prstGeom>
        </p:spPr>
        <p:txBody>
          <a:bodyPr vert="horz" lIns="92446" tIns="46223" rIns="92446" bIns="46223" rtlCol="0" anchor="b"/>
          <a:lstStyle>
            <a:lvl1pPr algn="l">
              <a:defRPr sz="1200"/>
            </a:lvl1pPr>
          </a:lstStyle>
          <a:p>
            <a:r>
              <a:rPr lang="en-US"/>
              <a:t>Defense</a:t>
            </a:r>
          </a:p>
        </p:txBody>
      </p:sp>
      <p:sp>
        <p:nvSpPr>
          <p:cNvPr id="5" name="Slide Number Placeholder 4"/>
          <p:cNvSpPr>
            <a:spLocks noGrp="1"/>
          </p:cNvSpPr>
          <p:nvPr>
            <p:ph type="sldNum" sz="quarter" idx="3"/>
          </p:nvPr>
        </p:nvSpPr>
        <p:spPr>
          <a:xfrm>
            <a:off x="3898102" y="8829967"/>
            <a:ext cx="2982119" cy="464820"/>
          </a:xfrm>
          <a:prstGeom prst="rect">
            <a:avLst/>
          </a:prstGeom>
        </p:spPr>
        <p:txBody>
          <a:bodyPr vert="horz" lIns="92446" tIns="46223" rIns="92446" bIns="46223" rtlCol="0" anchor="b"/>
          <a:lstStyle>
            <a:lvl1pPr algn="r">
              <a:defRPr sz="1200"/>
            </a:lvl1pPr>
          </a:lstStyle>
          <a:p>
            <a:fld id="{03CF3CE8-99B9-4E0D-8156-BD8D62DE6A20}" type="slidenum">
              <a:rPr lang="en-US" smtClean="0"/>
              <a:t>‹#›</a:t>
            </a:fld>
            <a:endParaRPr lang="en-US"/>
          </a:p>
        </p:txBody>
      </p:sp>
    </p:spTree>
    <p:extLst>
      <p:ext uri="{BB962C8B-B14F-4D97-AF65-F5344CB8AC3E}">
        <p14:creationId xmlns:p14="http://schemas.microsoft.com/office/powerpoint/2010/main" val="428249905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r>
              <a:rPr lang="en-US"/>
              <a:t>Christo Wilson</a:t>
            </a:r>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r>
              <a:rPr lang="en-US"/>
              <a:t>8/22/2012</a:t>
            </a:r>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r>
              <a:rPr lang="en-US"/>
              <a:t>Defense</a:t>
            </a:r>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77FBF96E-C445-4FF1-86A3-96F5585B6DBD}" type="slidenum">
              <a:rPr lang="en-US" smtClean="0"/>
              <a:t>‹#›</a:t>
            </a:fld>
            <a:endParaRPr lang="en-US"/>
          </a:p>
        </p:txBody>
      </p:sp>
    </p:spTree>
    <p:extLst>
      <p:ext uri="{BB962C8B-B14F-4D97-AF65-F5344CB8AC3E}">
        <p14:creationId xmlns:p14="http://schemas.microsoft.com/office/powerpoint/2010/main" val="2432190809"/>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FBF96E-C445-4FF1-86A3-96F5585B6DBD}" type="slidenum">
              <a:rPr lang="en-US" smtClean="0"/>
              <a:t>1</a:t>
            </a:fld>
            <a:endParaRPr lang="en-US"/>
          </a:p>
        </p:txBody>
      </p:sp>
      <p:sp>
        <p:nvSpPr>
          <p:cNvPr id="5" name="Date Placeholder 4"/>
          <p:cNvSpPr>
            <a:spLocks noGrp="1"/>
          </p:cNvSpPr>
          <p:nvPr>
            <p:ph type="dt" idx="11"/>
          </p:nvPr>
        </p:nvSpPr>
        <p:spPr/>
        <p:txBody>
          <a:bodyPr/>
          <a:lstStyle/>
          <a:p>
            <a:r>
              <a:rPr lang="en-US"/>
              <a:t>8/22/2012</a:t>
            </a:r>
          </a:p>
        </p:txBody>
      </p:sp>
      <p:sp>
        <p:nvSpPr>
          <p:cNvPr id="6" name="Footer Placeholder 5"/>
          <p:cNvSpPr>
            <a:spLocks noGrp="1"/>
          </p:cNvSpPr>
          <p:nvPr>
            <p:ph type="ftr" sz="quarter" idx="12"/>
          </p:nvPr>
        </p:nvSpPr>
        <p:spPr/>
        <p:txBody>
          <a:bodyPr/>
          <a:lstStyle/>
          <a:p>
            <a:r>
              <a:rPr lang="en-US"/>
              <a:t>Defense</a:t>
            </a:r>
          </a:p>
        </p:txBody>
      </p:sp>
      <p:sp>
        <p:nvSpPr>
          <p:cNvPr id="7" name="Header Placeholder 6"/>
          <p:cNvSpPr>
            <a:spLocks noGrp="1"/>
          </p:cNvSpPr>
          <p:nvPr>
            <p:ph type="hdr" sz="quarter" idx="13"/>
          </p:nvPr>
        </p:nvSpPr>
        <p:spPr/>
        <p:txBody>
          <a:bodyPr/>
          <a:lstStyle/>
          <a:p>
            <a:r>
              <a:rPr lang="en-US"/>
              <a:t>Christo Wilson</a:t>
            </a:r>
          </a:p>
        </p:txBody>
      </p:sp>
    </p:spTree>
    <p:extLst>
      <p:ext uri="{BB962C8B-B14F-4D97-AF65-F5344CB8AC3E}">
        <p14:creationId xmlns:p14="http://schemas.microsoft.com/office/powerpoint/2010/main" val="2620605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Christo Wilson</a:t>
            </a:r>
          </a:p>
        </p:txBody>
      </p:sp>
      <p:sp>
        <p:nvSpPr>
          <p:cNvPr id="5" name="Date Placeholder 4"/>
          <p:cNvSpPr>
            <a:spLocks noGrp="1"/>
          </p:cNvSpPr>
          <p:nvPr>
            <p:ph type="dt" idx="1"/>
          </p:nvPr>
        </p:nvSpPr>
        <p:spPr/>
        <p:txBody>
          <a:bodyPr/>
          <a:lstStyle/>
          <a:p>
            <a:r>
              <a:rPr lang="en-US"/>
              <a:t>8/22/2012</a:t>
            </a:r>
          </a:p>
        </p:txBody>
      </p:sp>
      <p:sp>
        <p:nvSpPr>
          <p:cNvPr id="6" name="Footer Placeholder 5"/>
          <p:cNvSpPr>
            <a:spLocks noGrp="1"/>
          </p:cNvSpPr>
          <p:nvPr>
            <p:ph type="ftr" sz="quarter" idx="4"/>
          </p:nvPr>
        </p:nvSpPr>
        <p:spPr/>
        <p:txBody>
          <a:bodyPr/>
          <a:lstStyle/>
          <a:p>
            <a:r>
              <a:rPr lang="en-US"/>
              <a:t>Defense</a:t>
            </a:r>
          </a:p>
        </p:txBody>
      </p:sp>
      <p:sp>
        <p:nvSpPr>
          <p:cNvPr id="7" name="Slide Number Placeholder 6"/>
          <p:cNvSpPr>
            <a:spLocks noGrp="1"/>
          </p:cNvSpPr>
          <p:nvPr>
            <p:ph type="sldNum" sz="quarter" idx="5"/>
          </p:nvPr>
        </p:nvSpPr>
        <p:spPr/>
        <p:txBody>
          <a:bodyPr/>
          <a:lstStyle/>
          <a:p>
            <a:fld id="{77FBF96E-C445-4FF1-86A3-96F5585B6DBD}" type="slidenum">
              <a:rPr lang="en-US" smtClean="0"/>
              <a:t>33</a:t>
            </a:fld>
            <a:endParaRPr lang="en-US"/>
          </a:p>
        </p:txBody>
      </p:sp>
    </p:spTree>
    <p:extLst>
      <p:ext uri="{BB962C8B-B14F-4D97-AF65-F5344CB8AC3E}">
        <p14:creationId xmlns:p14="http://schemas.microsoft.com/office/powerpoint/2010/main" val="1537827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222222"/>
                </a:solidFill>
                <a:effectLst/>
                <a:latin typeface="-apple-system"/>
              </a:rPr>
              <a:t>- Each zone in DNSSEC has a zone-signing key pair (ZSK): the private portion of the key digitally signs each </a:t>
            </a:r>
            <a:r>
              <a:rPr lang="en-IN" b="0" i="0" dirty="0" err="1">
                <a:solidFill>
                  <a:srgbClr val="222222"/>
                </a:solidFill>
                <a:effectLst/>
                <a:latin typeface="-apple-system"/>
              </a:rPr>
              <a:t>RRset</a:t>
            </a:r>
            <a:r>
              <a:rPr lang="en-IN" b="0" i="0" dirty="0">
                <a:solidFill>
                  <a:srgbClr val="222222"/>
                </a:solidFill>
                <a:effectLst/>
                <a:latin typeface="-apple-system"/>
              </a:rPr>
              <a:t> in the zone, while the public portion verifies the signature. To enable DNSSEC, a zone operator creates digital signatures for each </a:t>
            </a:r>
            <a:r>
              <a:rPr lang="en-IN" b="0" i="0" dirty="0" err="1">
                <a:solidFill>
                  <a:srgbClr val="222222"/>
                </a:solidFill>
                <a:effectLst/>
                <a:latin typeface="-apple-system"/>
              </a:rPr>
              <a:t>RRset</a:t>
            </a:r>
            <a:r>
              <a:rPr lang="en-IN" b="0" i="0" dirty="0">
                <a:solidFill>
                  <a:srgbClr val="222222"/>
                </a:solidFill>
                <a:effectLst/>
                <a:latin typeface="-apple-system"/>
              </a:rPr>
              <a:t> using the private ZSK and stores them in their name server as RRSIG records. This is like saying, “These are my DNS records, they come from my server, and they should look like this.”</a:t>
            </a:r>
            <a:br>
              <a:rPr lang="en-IN" b="0" i="0" dirty="0">
                <a:solidFill>
                  <a:srgbClr val="222222"/>
                </a:solidFill>
                <a:effectLst/>
                <a:latin typeface="-apple-system"/>
              </a:rPr>
            </a:br>
            <a:r>
              <a:rPr lang="en-IN" b="0" i="0" dirty="0">
                <a:solidFill>
                  <a:srgbClr val="222222"/>
                </a:solidFill>
                <a:effectLst/>
                <a:latin typeface="-apple-system"/>
              </a:rPr>
              <a:t>- However, these RRSIG records are useless unless DNS resolvers have a way of verifying the signatures. The zone operator also needs to make their public ZSK available by adding it to their name server in a DNSKEY record.</a:t>
            </a:r>
            <a:br>
              <a:rPr lang="en-IN" b="0" i="0" dirty="0">
                <a:solidFill>
                  <a:srgbClr val="222222"/>
                </a:solidFill>
                <a:effectLst/>
                <a:latin typeface="-apple-system"/>
              </a:rPr>
            </a:br>
            <a:r>
              <a:rPr lang="en-IN" b="0" i="0" dirty="0">
                <a:solidFill>
                  <a:srgbClr val="222222"/>
                </a:solidFill>
                <a:effectLst/>
                <a:latin typeface="-apple-system"/>
              </a:rPr>
              <a:t>- When a DNSSEC resolver requests a particular record type (e.g., AAAA), the name server also returns the corresponding RRSIG. The resolver can then pull the DNSKEY record containing the public ZSK from the name server. Together, the </a:t>
            </a:r>
            <a:r>
              <a:rPr lang="en-IN" b="0" i="0" dirty="0" err="1">
                <a:solidFill>
                  <a:srgbClr val="222222"/>
                </a:solidFill>
                <a:effectLst/>
                <a:latin typeface="-apple-system"/>
              </a:rPr>
              <a:t>RRset</a:t>
            </a:r>
            <a:r>
              <a:rPr lang="en-IN" b="0" i="0" dirty="0">
                <a:solidFill>
                  <a:srgbClr val="222222"/>
                </a:solidFill>
                <a:effectLst/>
                <a:latin typeface="-apple-system"/>
              </a:rPr>
              <a:t>, RRSIG, and public ZSK can validate the response.</a:t>
            </a:r>
            <a:endParaRPr lang="en-US" dirty="0"/>
          </a:p>
        </p:txBody>
      </p:sp>
      <p:sp>
        <p:nvSpPr>
          <p:cNvPr id="4" name="Header Placeholder 3"/>
          <p:cNvSpPr>
            <a:spLocks noGrp="1"/>
          </p:cNvSpPr>
          <p:nvPr>
            <p:ph type="hdr" sz="quarter"/>
          </p:nvPr>
        </p:nvSpPr>
        <p:spPr/>
        <p:txBody>
          <a:bodyPr/>
          <a:lstStyle/>
          <a:p>
            <a:r>
              <a:rPr lang="en-US"/>
              <a:t>Christo Wilson</a:t>
            </a:r>
          </a:p>
        </p:txBody>
      </p:sp>
      <p:sp>
        <p:nvSpPr>
          <p:cNvPr id="5" name="Date Placeholder 4"/>
          <p:cNvSpPr>
            <a:spLocks noGrp="1"/>
          </p:cNvSpPr>
          <p:nvPr>
            <p:ph type="dt" idx="1"/>
          </p:nvPr>
        </p:nvSpPr>
        <p:spPr/>
        <p:txBody>
          <a:bodyPr/>
          <a:lstStyle/>
          <a:p>
            <a:r>
              <a:rPr lang="en-US"/>
              <a:t>8/22/2012</a:t>
            </a:r>
          </a:p>
        </p:txBody>
      </p:sp>
      <p:sp>
        <p:nvSpPr>
          <p:cNvPr id="6" name="Footer Placeholder 5"/>
          <p:cNvSpPr>
            <a:spLocks noGrp="1"/>
          </p:cNvSpPr>
          <p:nvPr>
            <p:ph type="ftr" sz="quarter" idx="4"/>
          </p:nvPr>
        </p:nvSpPr>
        <p:spPr/>
        <p:txBody>
          <a:bodyPr/>
          <a:lstStyle/>
          <a:p>
            <a:r>
              <a:rPr lang="en-US"/>
              <a:t>Defense</a:t>
            </a:r>
          </a:p>
        </p:txBody>
      </p:sp>
      <p:sp>
        <p:nvSpPr>
          <p:cNvPr id="7" name="Slide Number Placeholder 6"/>
          <p:cNvSpPr>
            <a:spLocks noGrp="1"/>
          </p:cNvSpPr>
          <p:nvPr>
            <p:ph type="sldNum" sz="quarter" idx="5"/>
          </p:nvPr>
        </p:nvSpPr>
        <p:spPr/>
        <p:txBody>
          <a:bodyPr/>
          <a:lstStyle/>
          <a:p>
            <a:fld id="{77FBF96E-C445-4FF1-86A3-96F5585B6DBD}" type="slidenum">
              <a:rPr lang="en-US" smtClean="0"/>
              <a:t>34</a:t>
            </a:fld>
            <a:endParaRPr lang="en-US"/>
          </a:p>
        </p:txBody>
      </p:sp>
    </p:spTree>
    <p:extLst>
      <p:ext uri="{BB962C8B-B14F-4D97-AF65-F5344CB8AC3E}">
        <p14:creationId xmlns:p14="http://schemas.microsoft.com/office/powerpoint/2010/main" val="3392002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b="1" i="0" dirty="0">
                <a:solidFill>
                  <a:srgbClr val="222222"/>
                </a:solidFill>
                <a:effectLst/>
                <a:latin typeface="-apple-system"/>
              </a:rPr>
              <a:t>Key-Signing Keys</a:t>
            </a:r>
          </a:p>
          <a:p>
            <a:pPr algn="l"/>
            <a:r>
              <a:rPr lang="en-IN" b="0" i="0" dirty="0">
                <a:solidFill>
                  <a:srgbClr val="222222"/>
                </a:solidFill>
                <a:effectLst/>
                <a:latin typeface="-apple-system"/>
              </a:rPr>
              <a:t>In addition to a zone-signing key, DNSSEC name servers also have a key-signing key (KSK). The KSK validates the DNSKEY record in exactly the same way as our ZSK secured the rest of our </a:t>
            </a:r>
            <a:r>
              <a:rPr lang="en-IN" b="0" i="0" dirty="0" err="1">
                <a:solidFill>
                  <a:srgbClr val="222222"/>
                </a:solidFill>
                <a:effectLst/>
                <a:latin typeface="-apple-system"/>
              </a:rPr>
              <a:t>RRsets</a:t>
            </a:r>
            <a:r>
              <a:rPr lang="en-IN" b="0" i="0" dirty="0">
                <a:solidFill>
                  <a:srgbClr val="222222"/>
                </a:solidFill>
                <a:effectLst/>
                <a:latin typeface="-apple-system"/>
              </a:rPr>
              <a:t> in the previous section: It signs the public ZSK (which is stored in a DNSKEY record), creating an RRSIG for the DNSKEY.</a:t>
            </a:r>
          </a:p>
          <a:p>
            <a:pPr algn="l"/>
            <a:endParaRPr lang="en-IN" b="0" i="0" dirty="0">
              <a:solidFill>
                <a:srgbClr val="222222"/>
              </a:solidFill>
              <a:effectLst/>
              <a:latin typeface="-apple-system"/>
            </a:endParaRPr>
          </a:p>
          <a:p>
            <a:pPr algn="l"/>
            <a:endParaRPr lang="en-IN" b="0" i="0" dirty="0">
              <a:solidFill>
                <a:srgbClr val="222222"/>
              </a:solidFill>
              <a:effectLst/>
              <a:latin typeface="-apple-system"/>
            </a:endParaRPr>
          </a:p>
          <a:p>
            <a:pPr algn="l"/>
            <a:r>
              <a:rPr lang="en-IN" b="0" i="0" dirty="0">
                <a:solidFill>
                  <a:srgbClr val="222222"/>
                </a:solidFill>
                <a:effectLst/>
                <a:latin typeface="-apple-system"/>
              </a:rPr>
              <a:t>Just like the public ZSK, the name server publishes the public KSK in another DNSKEY record, which gives us the DNSKEY </a:t>
            </a:r>
            <a:r>
              <a:rPr lang="en-IN" b="0" i="0" dirty="0" err="1">
                <a:solidFill>
                  <a:srgbClr val="222222"/>
                </a:solidFill>
                <a:effectLst/>
                <a:latin typeface="-apple-system"/>
              </a:rPr>
              <a:t>RRset</a:t>
            </a:r>
            <a:r>
              <a:rPr lang="en-IN" b="0" i="0" dirty="0">
                <a:solidFill>
                  <a:srgbClr val="222222"/>
                </a:solidFill>
                <a:effectLst/>
                <a:latin typeface="-apple-system"/>
              </a:rPr>
              <a:t> shown in the earlier slide. Both the public KSK and public ZSK are signed by the private KSK. Resolvers can then use the public KSK to validate the public ZSK.</a:t>
            </a:r>
            <a:br>
              <a:rPr lang="en-IN" b="0" i="0" dirty="0">
                <a:solidFill>
                  <a:srgbClr val="222222"/>
                </a:solidFill>
                <a:effectLst/>
                <a:latin typeface="-apple-system"/>
              </a:rPr>
            </a:br>
            <a:br>
              <a:rPr lang="en-IN" b="0" i="0" dirty="0">
                <a:solidFill>
                  <a:srgbClr val="222222"/>
                </a:solidFill>
                <a:effectLst/>
                <a:latin typeface="-apple-system"/>
              </a:rPr>
            </a:br>
            <a:r>
              <a:rPr lang="en-IN" b="0" i="0" dirty="0">
                <a:solidFill>
                  <a:srgbClr val="222222"/>
                </a:solidFill>
                <a:effectLst/>
                <a:latin typeface="-apple-system"/>
              </a:rPr>
              <a:t>Validation for resolvers now looks like this:</a:t>
            </a:r>
          </a:p>
          <a:p>
            <a:pPr algn="l">
              <a:buFont typeface="Arial" panose="020B0604020202020204" pitchFamily="34" charset="0"/>
              <a:buChar char="•"/>
            </a:pPr>
            <a:r>
              <a:rPr lang="en-IN" b="0" i="0" dirty="0">
                <a:solidFill>
                  <a:srgbClr val="222222"/>
                </a:solidFill>
                <a:effectLst/>
                <a:latin typeface="-apple-system"/>
              </a:rPr>
              <a:t>Request the desired </a:t>
            </a:r>
            <a:r>
              <a:rPr lang="en-IN" b="0" i="0" dirty="0" err="1">
                <a:solidFill>
                  <a:srgbClr val="222222"/>
                </a:solidFill>
                <a:effectLst/>
                <a:latin typeface="-apple-system"/>
              </a:rPr>
              <a:t>RRset</a:t>
            </a:r>
            <a:r>
              <a:rPr lang="en-IN" b="0" i="0" dirty="0">
                <a:solidFill>
                  <a:srgbClr val="222222"/>
                </a:solidFill>
                <a:effectLst/>
                <a:latin typeface="-apple-system"/>
              </a:rPr>
              <a:t>, which also returns the corresponding RRSIG record.</a:t>
            </a:r>
          </a:p>
          <a:p>
            <a:pPr algn="l">
              <a:buFont typeface="Arial" panose="020B0604020202020204" pitchFamily="34" charset="0"/>
              <a:buChar char="•"/>
            </a:pPr>
            <a:r>
              <a:rPr lang="en-IN" b="0" i="0" dirty="0">
                <a:solidFill>
                  <a:srgbClr val="222222"/>
                </a:solidFill>
                <a:effectLst/>
                <a:latin typeface="-apple-system"/>
              </a:rPr>
              <a:t>Request the DNSKEY records containing the public ZSK and public KSK, which also returns the RRSIG for the DNSKEY </a:t>
            </a:r>
            <a:r>
              <a:rPr lang="en-IN" b="0" i="0" dirty="0" err="1">
                <a:solidFill>
                  <a:srgbClr val="222222"/>
                </a:solidFill>
                <a:effectLst/>
                <a:latin typeface="-apple-system"/>
              </a:rPr>
              <a:t>RRset</a:t>
            </a:r>
            <a:r>
              <a:rPr lang="en-IN" b="0" i="0" dirty="0">
                <a:solidFill>
                  <a:srgbClr val="222222"/>
                </a:solidFill>
                <a:effectLst/>
                <a:latin typeface="-apple-system"/>
              </a:rPr>
              <a:t>.</a:t>
            </a:r>
          </a:p>
          <a:p>
            <a:pPr algn="l">
              <a:buFont typeface="Arial" panose="020B0604020202020204" pitchFamily="34" charset="0"/>
              <a:buChar char="•"/>
            </a:pPr>
            <a:r>
              <a:rPr lang="en-IN" b="0" i="0" dirty="0">
                <a:solidFill>
                  <a:srgbClr val="222222"/>
                </a:solidFill>
                <a:effectLst/>
                <a:latin typeface="-apple-system"/>
              </a:rPr>
              <a:t>Verify the RRSIG of the requested </a:t>
            </a:r>
            <a:r>
              <a:rPr lang="en-IN" b="0" i="0" dirty="0" err="1">
                <a:solidFill>
                  <a:srgbClr val="222222"/>
                </a:solidFill>
                <a:effectLst/>
                <a:latin typeface="-apple-system"/>
              </a:rPr>
              <a:t>RRset</a:t>
            </a:r>
            <a:r>
              <a:rPr lang="en-IN" b="0" i="0" dirty="0">
                <a:solidFill>
                  <a:srgbClr val="222222"/>
                </a:solidFill>
                <a:effectLst/>
                <a:latin typeface="-apple-system"/>
              </a:rPr>
              <a:t> with the public ZSK.</a:t>
            </a:r>
          </a:p>
          <a:p>
            <a:pPr algn="l">
              <a:buFont typeface="Arial" panose="020B0604020202020204" pitchFamily="34" charset="0"/>
              <a:buChar char="•"/>
            </a:pPr>
            <a:r>
              <a:rPr lang="en-IN" b="0" i="0" dirty="0">
                <a:solidFill>
                  <a:srgbClr val="222222"/>
                </a:solidFill>
                <a:effectLst/>
                <a:latin typeface="-apple-system"/>
              </a:rPr>
              <a:t>Verify the RRSIG of the DNSKEY </a:t>
            </a:r>
            <a:r>
              <a:rPr lang="en-IN" b="0" i="0" dirty="0" err="1">
                <a:solidFill>
                  <a:srgbClr val="222222"/>
                </a:solidFill>
                <a:effectLst/>
                <a:latin typeface="-apple-system"/>
              </a:rPr>
              <a:t>RRset</a:t>
            </a:r>
            <a:r>
              <a:rPr lang="en-IN" b="0" i="0" dirty="0">
                <a:solidFill>
                  <a:srgbClr val="222222"/>
                </a:solidFill>
                <a:effectLst/>
                <a:latin typeface="-apple-system"/>
              </a:rPr>
              <a:t> with the public KSK.</a:t>
            </a:r>
          </a:p>
          <a:p>
            <a:pPr algn="l">
              <a:buFont typeface="Arial" panose="020B0604020202020204" pitchFamily="34" charset="0"/>
              <a:buChar char="•"/>
            </a:pPr>
            <a:endParaRPr lang="en-IN" b="0" i="0" dirty="0">
              <a:solidFill>
                <a:srgbClr val="222222"/>
              </a:solidFill>
              <a:effectLst/>
              <a:latin typeface="-apple-system"/>
            </a:endParaRPr>
          </a:p>
          <a:p>
            <a:pPr algn="l">
              <a:buFont typeface="Arial" panose="020B0604020202020204" pitchFamily="34" charset="0"/>
              <a:buChar char="•"/>
            </a:pPr>
            <a:r>
              <a:rPr lang="en-IN" b="0" i="0" dirty="0">
                <a:solidFill>
                  <a:srgbClr val="222222"/>
                </a:solidFill>
                <a:effectLst/>
                <a:latin typeface="-apple-system"/>
              </a:rPr>
              <a:t>We’ve now established trust within our zone, but DNS is a hierarchical system, and zones rarely operate independently. Complicating things further, the key-signing key is signed by itself, which doesn’t provide any additional trust. We need a way to connect the trust in our zone with its parent zone.</a:t>
            </a:r>
          </a:p>
          <a:p>
            <a:pPr algn="l"/>
            <a:endParaRPr lang="en-IN" b="0" i="0" dirty="0">
              <a:solidFill>
                <a:srgbClr val="222222"/>
              </a:solidFill>
              <a:effectLst/>
              <a:latin typeface="-apple-system"/>
            </a:endParaRPr>
          </a:p>
          <a:p>
            <a:br>
              <a:rPr lang="en-US" dirty="0"/>
            </a:br>
            <a:endParaRPr lang="en-US" dirty="0"/>
          </a:p>
        </p:txBody>
      </p:sp>
      <p:sp>
        <p:nvSpPr>
          <p:cNvPr id="4" name="Header Placeholder 3"/>
          <p:cNvSpPr>
            <a:spLocks noGrp="1"/>
          </p:cNvSpPr>
          <p:nvPr>
            <p:ph type="hdr" sz="quarter"/>
          </p:nvPr>
        </p:nvSpPr>
        <p:spPr/>
        <p:txBody>
          <a:bodyPr/>
          <a:lstStyle/>
          <a:p>
            <a:r>
              <a:rPr lang="en-US"/>
              <a:t>Christo Wilson</a:t>
            </a:r>
          </a:p>
        </p:txBody>
      </p:sp>
      <p:sp>
        <p:nvSpPr>
          <p:cNvPr id="5" name="Date Placeholder 4"/>
          <p:cNvSpPr>
            <a:spLocks noGrp="1"/>
          </p:cNvSpPr>
          <p:nvPr>
            <p:ph type="dt" idx="1"/>
          </p:nvPr>
        </p:nvSpPr>
        <p:spPr/>
        <p:txBody>
          <a:bodyPr/>
          <a:lstStyle/>
          <a:p>
            <a:r>
              <a:rPr lang="en-US"/>
              <a:t>8/22/2012</a:t>
            </a:r>
          </a:p>
        </p:txBody>
      </p:sp>
      <p:sp>
        <p:nvSpPr>
          <p:cNvPr id="6" name="Footer Placeholder 5"/>
          <p:cNvSpPr>
            <a:spLocks noGrp="1"/>
          </p:cNvSpPr>
          <p:nvPr>
            <p:ph type="ftr" sz="quarter" idx="4"/>
          </p:nvPr>
        </p:nvSpPr>
        <p:spPr/>
        <p:txBody>
          <a:bodyPr/>
          <a:lstStyle/>
          <a:p>
            <a:r>
              <a:rPr lang="en-US"/>
              <a:t>Defense</a:t>
            </a:r>
          </a:p>
        </p:txBody>
      </p:sp>
      <p:sp>
        <p:nvSpPr>
          <p:cNvPr id="7" name="Slide Number Placeholder 6"/>
          <p:cNvSpPr>
            <a:spLocks noGrp="1"/>
          </p:cNvSpPr>
          <p:nvPr>
            <p:ph type="sldNum" sz="quarter" idx="5"/>
          </p:nvPr>
        </p:nvSpPr>
        <p:spPr/>
        <p:txBody>
          <a:bodyPr/>
          <a:lstStyle/>
          <a:p>
            <a:fld id="{77FBF96E-C445-4FF1-86A3-96F5585B6DBD}" type="slidenum">
              <a:rPr lang="en-US" smtClean="0"/>
              <a:t>35</a:t>
            </a:fld>
            <a:endParaRPr lang="en-US"/>
          </a:p>
        </p:txBody>
      </p:sp>
    </p:spTree>
    <p:extLst>
      <p:ext uri="{BB962C8B-B14F-4D97-AF65-F5344CB8AC3E}">
        <p14:creationId xmlns:p14="http://schemas.microsoft.com/office/powerpoint/2010/main" val="44864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 </a:t>
            </a:r>
            <a:r>
              <a:rPr lang="en-IN" b="0" i="0" dirty="0">
                <a:solidFill>
                  <a:srgbClr val="222222"/>
                </a:solidFill>
                <a:effectLst/>
                <a:latin typeface="-apple-system"/>
              </a:rPr>
              <a:t>DNSSEC introduces a delegation signer (DS) record to allow the transfer of trust from a parent zone to a child zone. A zone operator hashes the DNSKEY record containing the public KSK and gives it to the parent zone to publish as a DS record.</a:t>
            </a:r>
          </a:p>
          <a:p>
            <a:endParaRPr lang="en-IN" dirty="0"/>
          </a:p>
          <a:p>
            <a:endParaRPr lang="en-IN" dirty="0"/>
          </a:p>
          <a:p>
            <a:r>
              <a:rPr lang="en-IN" b="0" i="0" dirty="0">
                <a:solidFill>
                  <a:srgbClr val="222222"/>
                </a:solidFill>
                <a:effectLst/>
                <a:latin typeface="-apple-system"/>
              </a:rPr>
              <a:t>- Every time a resolver is referred to a child zone, the parent zone also provides a DS record. This DS record is how resolvers know that the child zone is DNSSEC-enabled. To check the validity of the child zone’s public KSK, the resolver hashes it and compares it to the DS record from the parent. If they match, the resolver can assume that the public KSK hasn’t been tampered with, which means it can trust all of the records in the child zone. This is how a chain of trust is established in DNSSEC.</a:t>
            </a:r>
            <a:br>
              <a:rPr lang="en-IN" dirty="0"/>
            </a:br>
            <a:endParaRPr lang="en-US" dirty="0"/>
          </a:p>
        </p:txBody>
      </p:sp>
      <p:sp>
        <p:nvSpPr>
          <p:cNvPr id="4" name="Header Placeholder 3"/>
          <p:cNvSpPr>
            <a:spLocks noGrp="1"/>
          </p:cNvSpPr>
          <p:nvPr>
            <p:ph type="hdr" sz="quarter"/>
          </p:nvPr>
        </p:nvSpPr>
        <p:spPr/>
        <p:txBody>
          <a:bodyPr/>
          <a:lstStyle/>
          <a:p>
            <a:r>
              <a:rPr lang="en-US"/>
              <a:t>Christo Wilson</a:t>
            </a:r>
          </a:p>
        </p:txBody>
      </p:sp>
      <p:sp>
        <p:nvSpPr>
          <p:cNvPr id="5" name="Date Placeholder 4"/>
          <p:cNvSpPr>
            <a:spLocks noGrp="1"/>
          </p:cNvSpPr>
          <p:nvPr>
            <p:ph type="dt" idx="1"/>
          </p:nvPr>
        </p:nvSpPr>
        <p:spPr/>
        <p:txBody>
          <a:bodyPr/>
          <a:lstStyle/>
          <a:p>
            <a:r>
              <a:rPr lang="en-US"/>
              <a:t>8/22/2012</a:t>
            </a:r>
          </a:p>
        </p:txBody>
      </p:sp>
      <p:sp>
        <p:nvSpPr>
          <p:cNvPr id="6" name="Footer Placeholder 5"/>
          <p:cNvSpPr>
            <a:spLocks noGrp="1"/>
          </p:cNvSpPr>
          <p:nvPr>
            <p:ph type="ftr" sz="quarter" idx="4"/>
          </p:nvPr>
        </p:nvSpPr>
        <p:spPr/>
        <p:txBody>
          <a:bodyPr/>
          <a:lstStyle/>
          <a:p>
            <a:r>
              <a:rPr lang="en-US"/>
              <a:t>Defense</a:t>
            </a:r>
          </a:p>
        </p:txBody>
      </p:sp>
      <p:sp>
        <p:nvSpPr>
          <p:cNvPr id="7" name="Slide Number Placeholder 6"/>
          <p:cNvSpPr>
            <a:spLocks noGrp="1"/>
          </p:cNvSpPr>
          <p:nvPr>
            <p:ph type="sldNum" sz="quarter" idx="5"/>
          </p:nvPr>
        </p:nvSpPr>
        <p:spPr/>
        <p:txBody>
          <a:bodyPr/>
          <a:lstStyle/>
          <a:p>
            <a:fld id="{77FBF96E-C445-4FF1-86A3-96F5585B6DBD}" type="slidenum">
              <a:rPr lang="en-US" smtClean="0"/>
              <a:t>36</a:t>
            </a:fld>
            <a:endParaRPr lang="en-US"/>
          </a:p>
        </p:txBody>
      </p:sp>
    </p:spTree>
    <p:extLst>
      <p:ext uri="{BB962C8B-B14F-4D97-AF65-F5344CB8AC3E}">
        <p14:creationId xmlns:p14="http://schemas.microsoft.com/office/powerpoint/2010/main" val="1657751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a:prstGeom prst="rect">
            <a:avLst/>
          </a:prstGeom>
        </p:spPr>
        <p:txBody>
          <a:bodyPr>
            <a:noAutofit/>
          </a:bodyPr>
          <a:lstStyle>
            <a:lvl1pPr algn="ctr">
              <a:defRPr sz="2000">
                <a:solidFill>
                  <a:srgbClr val="FFFFFF"/>
                </a:solidFill>
              </a:defRPr>
            </a:lvl1pPr>
          </a:lstStyle>
          <a:p>
            <a:endParaRPr lang="en-US"/>
          </a:p>
        </p:txBody>
      </p:sp>
      <p:sp>
        <p:nvSpPr>
          <p:cNvPr id="17" name="Footer Placeholder 16"/>
          <p:cNvSpPr>
            <a:spLocks noGrp="1"/>
          </p:cNvSpPr>
          <p:nvPr>
            <p:ph type="ftr" sz="quarter" idx="11"/>
          </p:nvPr>
        </p:nvSpPr>
        <p:spPr>
          <a:xfrm>
            <a:off x="2085393" y="236538"/>
            <a:ext cx="5867400" cy="365125"/>
          </a:xfrm>
          <a:prstGeom prst="rect">
            <a:avLst/>
          </a:prstGeo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283B9EA5-CE9A-4950-A80C-5ADF06B45BB8}"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839200" cy="990600"/>
          </a:xfrm>
        </p:spPr>
        <p:txBody>
          <a:bodyPr/>
          <a:lstStyle/>
          <a:p>
            <a:r>
              <a:rPr kumimoji="0" lang="en-US"/>
              <a:t>Click to edit Master title style</a:t>
            </a:r>
          </a:p>
        </p:txBody>
      </p:sp>
      <p:sp>
        <p:nvSpPr>
          <p:cNvPr id="6" name="Slide Number Placeholder 5"/>
          <p:cNvSpPr>
            <a:spLocks noGrp="1"/>
          </p:cNvSpPr>
          <p:nvPr>
            <p:ph type="sldNum" sz="quarter" idx="12"/>
          </p:nvPr>
        </p:nvSpPr>
        <p:spPr>
          <a:xfrm>
            <a:off x="0" y="1256270"/>
            <a:ext cx="533400" cy="304800"/>
          </a:xfrm>
        </p:spPr>
        <p:txBody>
          <a:bodyPr/>
          <a:lstStyle>
            <a:lvl1pPr>
              <a:defRPr sz="1800">
                <a:solidFill>
                  <a:srgbClr val="FFFFFF"/>
                </a:solidFill>
              </a:defRPr>
            </a:lvl1pPr>
          </a:lstStyle>
          <a:p>
            <a:fld id="{283B9EA5-CE9A-4950-A80C-5ADF06B45BB8}" type="slidenum">
              <a:rPr lang="en-US" smtClean="0"/>
              <a:pPr/>
              <a:t>‹#›</a:t>
            </a:fld>
            <a:endParaRPr lang="en-US" dirty="0"/>
          </a:p>
        </p:txBody>
      </p:sp>
      <p:sp>
        <p:nvSpPr>
          <p:cNvPr id="8" name="Content Placeholder 7"/>
          <p:cNvSpPr>
            <a:spLocks noGrp="1"/>
          </p:cNvSpPr>
          <p:nvPr>
            <p:ph sz="quarter" idx="1"/>
          </p:nvPr>
        </p:nvSpPr>
        <p:spPr>
          <a:xfrm>
            <a:off x="152400" y="1600200"/>
            <a:ext cx="8839200" cy="5105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2286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3048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3048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3048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457200"/>
            <a:ext cx="1295400" cy="701676"/>
          </a:xfrm>
        </p:spPr>
        <p:txBody>
          <a:bodyPr>
            <a:noAutofit/>
          </a:bodyPr>
          <a:lstStyle>
            <a:lvl1pPr>
              <a:defRPr sz="2400">
                <a:solidFill>
                  <a:srgbClr val="FFFFFF"/>
                </a:solidFill>
              </a:defRPr>
            </a:lvl1pPr>
          </a:lstStyle>
          <a:p>
            <a:fld id="{283B9EA5-CE9A-4950-A80C-5ADF06B45BB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endParaRPr lang="en-US"/>
          </a:p>
        </p:txBody>
      </p:sp>
      <p:sp>
        <p:nvSpPr>
          <p:cNvPr id="10" name="Slide Number Placeholder 9"/>
          <p:cNvSpPr>
            <a:spLocks noGrp="1"/>
          </p:cNvSpPr>
          <p:nvPr>
            <p:ph type="sldNum" sz="quarter" idx="16"/>
          </p:nvPr>
        </p:nvSpPr>
        <p:spPr/>
        <p:txBody>
          <a:bodyPr rtlCol="0"/>
          <a:lstStyle/>
          <a:p>
            <a:fld id="{283B9EA5-CE9A-4950-A80C-5ADF06B45BB8}" type="slidenum">
              <a:rPr lang="en-US" smtClean="0"/>
              <a:t>‹#›</a:t>
            </a:fld>
            <a:endParaRPr lang="en-US"/>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endParaRPr lang="en-US"/>
          </a:p>
        </p:txBody>
      </p:sp>
      <p:sp>
        <p:nvSpPr>
          <p:cNvPr id="12" name="Slide Number Placeholder 11"/>
          <p:cNvSpPr>
            <a:spLocks noGrp="1"/>
          </p:cNvSpPr>
          <p:nvPr>
            <p:ph type="sldNum" sz="quarter" idx="16"/>
          </p:nvPr>
        </p:nvSpPr>
        <p:spPr/>
        <p:txBody>
          <a:bodyPr rtlCol="0"/>
          <a:lstStyle/>
          <a:p>
            <a:fld id="{283B9EA5-CE9A-4950-A80C-5ADF06B45BB8}" type="slidenum">
              <a:rPr lang="en-US" smtClean="0"/>
              <a:t>‹#›</a:t>
            </a:fld>
            <a:endParaRPr lang="en-US"/>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a:xfrm>
            <a:off x="6096000" y="6248400"/>
            <a:ext cx="2667000" cy="365125"/>
          </a:xfrm>
          <a:prstGeom prst="rect">
            <a:avLst/>
          </a:prstGeom>
        </p:spPr>
        <p:txBody>
          <a:bodyPr/>
          <a:lstStyle/>
          <a:p>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283B9EA5-CE9A-4950-A80C-5ADF06B45BB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endParaRPr lang="en-US"/>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283B9EA5-CE9A-4950-A80C-5ADF06B45BB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a:xfrm>
            <a:off x="6096000" y="6248400"/>
            <a:ext cx="2667000" cy="365125"/>
          </a:xfrm>
          <a:prstGeom prst="rect">
            <a:avLst/>
          </a:prstGeom>
        </p:spPr>
        <p:txBody>
          <a:bodyPr/>
          <a:lstStyle/>
          <a:p>
            <a:endParaRPr lang="en-US"/>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283B9EA5-CE9A-4950-A80C-5ADF06B45BB8}"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283B9EA5-CE9A-4950-A80C-5ADF06B45BB8}"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83B9EA5-CE9A-4950-A80C-5ADF06B45BB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endParaRPr lang="en-US"/>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283B9EA5-CE9A-4950-A80C-5ADF06B45BB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152400" y="228600"/>
            <a:ext cx="8839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152400" y="1600200"/>
            <a:ext cx="8839200" cy="51054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634" y="1257917"/>
            <a:ext cx="595184" cy="260728"/>
          </a:xfrm>
          <a:prstGeom prst="rect">
            <a:avLst/>
          </a:prstGeom>
        </p:spPr>
        <p:txBody>
          <a:bodyPr vert="horz" anchor="ctr" anchorCtr="0">
            <a:normAutofit/>
          </a:bodyPr>
          <a:lstStyle>
            <a:lvl1pPr algn="ctr" eaLnBrk="1" latinLnBrk="0" hangingPunct="1">
              <a:defRPr kumimoji="0" sz="1800" b="1">
                <a:solidFill>
                  <a:srgbClr val="FFFFFF"/>
                </a:solidFill>
              </a:defRPr>
            </a:lvl1pPr>
          </a:lstStyle>
          <a:p>
            <a:fld id="{283B9EA5-CE9A-4950-A80C-5ADF06B45BB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iith.ac.inww.northeastern.ed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ccs.neu.edu/"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www.ccs.neu.edu/"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bar.mysite.com" TargetMode="External"/><Relationship Id="rId2" Type="http://schemas.openxmlformats.org/officeDocument/2006/relationships/hyperlink" Target="foo.mysite.com" TargetMode="External"/><Relationship Id="rId1" Type="http://schemas.openxmlformats.org/officeDocument/2006/relationships/slideLayout" Target="../slideLayouts/slideLayout2.xml"/><Relationship Id="rId5" Type="http://schemas.openxmlformats.org/officeDocument/2006/relationships/hyperlink" Target="amber.ccs.neu.edu" TargetMode="External"/><Relationship Id="rId4" Type="http://schemas.openxmlformats.org/officeDocument/2006/relationships/hyperlink" Target="http://www.ccs.neu.edu/" TargetMode="External"/></Relationships>
</file>

<file path=ppt/slides/_rels/slide23.xml.rels><?xml version="1.0" encoding="UTF-8" standalone="yes"?>
<Relationships xmlns="http://schemas.openxmlformats.org/package/2006/relationships"><Relationship Id="rId2" Type="http://schemas.openxmlformats.org/officeDocument/2006/relationships/hyperlink" Target="ccs.neu.edu"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gif"/><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http://www.bankofamerica.co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799" y="1143000"/>
            <a:ext cx="7395883" cy="1828800"/>
          </a:xfrm>
        </p:spPr>
        <p:txBody>
          <a:bodyPr>
            <a:normAutofit/>
          </a:bodyPr>
          <a:lstStyle/>
          <a:p>
            <a:r>
              <a:rPr lang="en-US" sz="6000" cap="none" dirty="0"/>
              <a:t>CS 6903</a:t>
            </a:r>
            <a:br>
              <a:rPr lang="en-US" sz="6000" cap="none" dirty="0"/>
            </a:br>
            <a:r>
              <a:rPr lang="en-US" sz="4900" cap="none" dirty="0"/>
              <a:t>Network Security</a:t>
            </a:r>
          </a:p>
        </p:txBody>
      </p:sp>
      <p:sp>
        <p:nvSpPr>
          <p:cNvPr id="5" name="Subtitle 4"/>
          <p:cNvSpPr>
            <a:spLocks noGrp="1"/>
          </p:cNvSpPr>
          <p:nvPr>
            <p:ph type="subTitle" idx="1"/>
          </p:nvPr>
        </p:nvSpPr>
        <p:spPr/>
        <p:txBody>
          <a:bodyPr/>
          <a:lstStyle/>
          <a:p>
            <a:r>
              <a:rPr lang="en-US" dirty="0"/>
              <a:t>Based on Slides by D. </a:t>
            </a:r>
            <a:r>
              <a:rPr lang="en-US" dirty="0" err="1"/>
              <a:t>Choffnes</a:t>
            </a:r>
            <a:r>
              <a:rPr lang="en-US" dirty="0"/>
              <a:t> (NEU)</a:t>
            </a:r>
          </a:p>
        </p:txBody>
      </p:sp>
      <p:sp>
        <p:nvSpPr>
          <p:cNvPr id="3" name="Title 1">
            <a:extLst>
              <a:ext uri="{FF2B5EF4-FFF2-40B4-BE49-F238E27FC236}">
                <a16:creationId xmlns:a16="http://schemas.microsoft.com/office/drawing/2014/main" id="{0C1B0206-5760-4898-1D91-2D1475F7C864}"/>
              </a:ext>
            </a:extLst>
          </p:cNvPr>
          <p:cNvSpPr txBox="1">
            <a:spLocks/>
          </p:cNvSpPr>
          <p:nvPr/>
        </p:nvSpPr>
        <p:spPr>
          <a:xfrm>
            <a:off x="685799" y="4010891"/>
            <a:ext cx="7395883" cy="1828800"/>
          </a:xfrm>
          <a:prstGeom prst="rect">
            <a:avLst/>
          </a:prstGeom>
        </p:spPr>
        <p:txBody>
          <a:bodyPr vert="horz" anchor="b">
            <a:normAutofit/>
          </a:bodyPr>
          <a:lstStyle>
            <a:lvl1pPr algn="l" rtl="0" eaLnBrk="1" latinLnBrk="0" hangingPunct="1">
              <a:spcBef>
                <a:spcPct val="0"/>
              </a:spcBef>
              <a:buNone/>
              <a:defRPr kumimoji="0" sz="4400" kern="1200" cap="all" baseline="0">
                <a:solidFill>
                  <a:schemeClr val="tx2"/>
                </a:solidFill>
                <a:latin typeface="+mj-lt"/>
                <a:ea typeface="+mj-ea"/>
                <a:cs typeface="+mj-cs"/>
              </a:defRPr>
            </a:lvl1pPr>
          </a:lstStyle>
          <a:p>
            <a:r>
              <a:rPr lang="en-US" sz="6000" cap="none" dirty="0"/>
              <a:t>Praveen Tammana</a:t>
            </a:r>
            <a:endParaRPr lang="en-US" sz="4900" cap="none" dirty="0"/>
          </a:p>
        </p:txBody>
      </p:sp>
    </p:spTree>
    <p:extLst>
      <p:ext uri="{BB962C8B-B14F-4D97-AF65-F5344CB8AC3E}">
        <p14:creationId xmlns:p14="http://schemas.microsoft.com/office/powerpoint/2010/main" val="3265509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 8 (The Carbon-based nodes)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a:t>
            </a:fld>
            <a:endParaRPr lang="en-US" dirty="0"/>
          </a:p>
        </p:txBody>
      </p:sp>
      <p:sp>
        <p:nvSpPr>
          <p:cNvPr id="4" name="Content Placeholder 3"/>
          <p:cNvSpPr>
            <a:spLocks noGrp="1"/>
          </p:cNvSpPr>
          <p:nvPr>
            <p:ph sz="quarter" idx="1"/>
          </p:nvPr>
        </p:nvSpPr>
        <p:spPr/>
        <p:txBody>
          <a:bodyPr/>
          <a:lstStyle/>
          <a:p>
            <a:r>
              <a:rPr lang="en-US" dirty="0"/>
              <a:t>If you want to…</a:t>
            </a:r>
          </a:p>
          <a:p>
            <a:pPr lvl="1"/>
            <a:r>
              <a:rPr lang="en-US" dirty="0"/>
              <a:t>Call someone, you need to ask for their phone number</a:t>
            </a:r>
          </a:p>
          <a:p>
            <a:pPr lvl="2"/>
            <a:r>
              <a:rPr lang="en-US" dirty="0"/>
              <a:t>You can’t just dial “P R O F  M I S L O V E”</a:t>
            </a:r>
          </a:p>
          <a:p>
            <a:pPr lvl="1"/>
            <a:r>
              <a:rPr lang="en-US" dirty="0"/>
              <a:t>Mail someone, you need to get their address first</a:t>
            </a:r>
          </a:p>
          <a:p>
            <a:r>
              <a:rPr lang="en-US" dirty="0"/>
              <a:t>What about the Internet?</a:t>
            </a:r>
          </a:p>
          <a:p>
            <a:pPr lvl="1"/>
            <a:r>
              <a:rPr lang="en-US" dirty="0"/>
              <a:t>If you need to reach Google, you need their IP</a:t>
            </a:r>
          </a:p>
          <a:p>
            <a:pPr lvl="1"/>
            <a:r>
              <a:rPr lang="en-US" dirty="0"/>
              <a:t>Does anyone know Google’s IP?</a:t>
            </a:r>
          </a:p>
          <a:p>
            <a:r>
              <a:rPr lang="en-US" dirty="0"/>
              <a:t>Problem:</a:t>
            </a:r>
          </a:p>
          <a:p>
            <a:pPr lvl="1"/>
            <a:r>
              <a:rPr lang="en-US" dirty="0"/>
              <a:t>People can’t remember IP addresses</a:t>
            </a:r>
          </a:p>
          <a:p>
            <a:pPr lvl="1"/>
            <a:r>
              <a:rPr lang="en-US" dirty="0"/>
              <a:t>Need human readable names that map to IPs</a:t>
            </a:r>
          </a:p>
        </p:txBody>
      </p:sp>
    </p:spTree>
    <p:extLst>
      <p:ext uri="{BB962C8B-B14F-4D97-AF65-F5344CB8AC3E}">
        <p14:creationId xmlns:p14="http://schemas.microsoft.com/office/powerpoint/2010/main" val="225339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anim calcmode="lin" valueType="num">
                                      <p:cBhvr>
                                        <p:cTn id="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500"/>
                                        <p:tgtEl>
                                          <p:spTgt spid="4">
                                            <p:txEl>
                                              <p:pRg st="5" end="5"/>
                                            </p:txEl>
                                          </p:spTgt>
                                        </p:tgtEl>
                                      </p:cBhvr>
                                    </p:animEffect>
                                    <p:anim calcmode="lin" valueType="num">
                                      <p:cBhvr>
                                        <p:cTn id="1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anim calcmode="lin" valueType="num">
                                      <p:cBhvr>
                                        <p:cTn id="18"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9" dur="5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Effect transition="in" filter="fade">
                                      <p:cBhvr>
                                        <p:cTn id="24" dur="500"/>
                                        <p:tgtEl>
                                          <p:spTgt spid="4">
                                            <p:txEl>
                                              <p:pRg st="7" end="7"/>
                                            </p:txEl>
                                          </p:spTgt>
                                        </p:tgtEl>
                                      </p:cBhvr>
                                    </p:animEffect>
                                    <p:anim calcmode="lin" valueType="num">
                                      <p:cBhvr>
                                        <p:cTn id="2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6" dur="500" fill="hold"/>
                                        <p:tgtEl>
                                          <p:spTgt spid="4">
                                            <p:txEl>
                                              <p:pRg st="7" end="7"/>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Effect transition="in" filter="fade">
                                      <p:cBhvr>
                                        <p:cTn id="29" dur="500"/>
                                        <p:tgtEl>
                                          <p:spTgt spid="4">
                                            <p:txEl>
                                              <p:pRg st="8" end="8"/>
                                            </p:txEl>
                                          </p:spTgt>
                                        </p:tgtEl>
                                      </p:cBhvr>
                                    </p:animEffect>
                                    <p:anim calcmode="lin" valueType="num">
                                      <p:cBhvr>
                                        <p:cTn id="30"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1" dur="500" fill="hold"/>
                                        <p:tgtEl>
                                          <p:spTgt spid="4">
                                            <p:txEl>
                                              <p:pRg st="8" end="8"/>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xEl>
                                              <p:pRg st="9" end="9"/>
                                            </p:txEl>
                                          </p:spTgt>
                                        </p:tgtEl>
                                        <p:attrNameLst>
                                          <p:attrName>style.visibility</p:attrName>
                                        </p:attrNameLst>
                                      </p:cBhvr>
                                      <p:to>
                                        <p:strVal val="visible"/>
                                      </p:to>
                                    </p:set>
                                    <p:animEffect transition="in" filter="fade">
                                      <p:cBhvr>
                                        <p:cTn id="34" dur="500"/>
                                        <p:tgtEl>
                                          <p:spTgt spid="4">
                                            <p:txEl>
                                              <p:pRg st="9" end="9"/>
                                            </p:txEl>
                                          </p:spTgt>
                                        </p:tgtEl>
                                      </p:cBhvr>
                                    </p:animEffect>
                                    <p:anim calcmode="lin" valueType="num">
                                      <p:cBhvr>
                                        <p:cTn id="3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36" dur="5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Names and Addresses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a:t>
            </a:fld>
            <a:endParaRPr lang="en-US" dirty="0"/>
          </a:p>
        </p:txBody>
      </p:sp>
      <p:sp>
        <p:nvSpPr>
          <p:cNvPr id="4" name="Content Placeholder 3"/>
          <p:cNvSpPr>
            <a:spLocks noGrp="1"/>
          </p:cNvSpPr>
          <p:nvPr>
            <p:ph sz="quarter" idx="1"/>
          </p:nvPr>
        </p:nvSpPr>
        <p:spPr/>
        <p:txBody>
          <a:bodyPr/>
          <a:lstStyle/>
          <a:p>
            <a:r>
              <a:rPr lang="en-US" dirty="0"/>
              <a:t>Addresses, e.g. 129.10.117.100</a:t>
            </a:r>
          </a:p>
          <a:p>
            <a:pPr lvl="1"/>
            <a:r>
              <a:rPr lang="en-US" dirty="0"/>
              <a:t>Computer usable labels for machines</a:t>
            </a:r>
          </a:p>
          <a:p>
            <a:pPr lvl="1"/>
            <a:r>
              <a:rPr lang="en-US" dirty="0"/>
              <a:t>Conform to structure of the network</a:t>
            </a:r>
          </a:p>
          <a:p>
            <a:r>
              <a:rPr lang="en-US" dirty="0"/>
              <a:t>Names, e.g. </a:t>
            </a:r>
            <a:r>
              <a:rPr lang="en-US" dirty="0">
                <a:hlinkClick r:id="rId2"/>
              </a:rPr>
              <a:t>www.iith.ac.in</a:t>
            </a:r>
            <a:endParaRPr lang="en-US" dirty="0"/>
          </a:p>
          <a:p>
            <a:pPr lvl="1"/>
            <a:r>
              <a:rPr lang="en-US" dirty="0"/>
              <a:t>Human usable labels for machines</a:t>
            </a:r>
          </a:p>
          <a:p>
            <a:pPr lvl="1"/>
            <a:r>
              <a:rPr lang="en-US" dirty="0"/>
              <a:t>Conform to organizational structure</a:t>
            </a:r>
          </a:p>
          <a:p>
            <a:r>
              <a:rPr lang="en-US" dirty="0"/>
              <a:t>How do you map from one to the other?</a:t>
            </a:r>
          </a:p>
          <a:p>
            <a:pPr lvl="1"/>
            <a:r>
              <a:rPr lang="en-US" dirty="0"/>
              <a:t>Domain Name System (DNS)</a:t>
            </a:r>
          </a:p>
        </p:txBody>
      </p:sp>
    </p:spTree>
    <p:extLst>
      <p:ext uri="{BB962C8B-B14F-4D97-AF65-F5344CB8AC3E}">
        <p14:creationId xmlns:p14="http://schemas.microsoft.com/office/powerpoint/2010/main" val="291418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anim calcmode="lin" valueType="num">
                                      <p:cBhvr>
                                        <p:cTn id="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anim calcmode="lin" valueType="num">
                                      <p:cBhvr>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500"/>
                                        <p:tgtEl>
                                          <p:spTgt spid="4">
                                            <p:txEl>
                                              <p:pRg st="5" end="5"/>
                                            </p:txEl>
                                          </p:spTgt>
                                        </p:tgtEl>
                                      </p:cBhvr>
                                    </p:animEffect>
                                    <p:anim calcmode="lin" valueType="num">
                                      <p:cBhvr>
                                        <p:cTn id="1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anim calcmode="lin" valueType="num">
                                      <p:cBhvr>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6" dur="500" fill="hold"/>
                                        <p:tgtEl>
                                          <p:spTgt spid="4">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Effect transition="in" filter="fade">
                                      <p:cBhvr>
                                        <p:cTn id="29" dur="500"/>
                                        <p:tgtEl>
                                          <p:spTgt spid="4">
                                            <p:txEl>
                                              <p:pRg st="7" end="7"/>
                                            </p:txEl>
                                          </p:spTgt>
                                        </p:tgtEl>
                                      </p:cBhvr>
                                    </p:animEffect>
                                    <p:anim calcmode="lin" valueType="num">
                                      <p:cBhvr>
                                        <p:cTn id="30"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1" dur="5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4</a:t>
            </a:fld>
            <a:endParaRPr lang="en-US" dirty="0"/>
          </a:p>
        </p:txBody>
      </p:sp>
      <p:sp>
        <p:nvSpPr>
          <p:cNvPr id="4" name="Content Placeholder 3"/>
          <p:cNvSpPr>
            <a:spLocks noGrp="1"/>
          </p:cNvSpPr>
          <p:nvPr>
            <p:ph sz="quarter" idx="1"/>
          </p:nvPr>
        </p:nvSpPr>
        <p:spPr/>
        <p:txBody>
          <a:bodyPr/>
          <a:lstStyle/>
          <a:p>
            <a:r>
              <a:rPr lang="en-US" dirty="0"/>
              <a:t>Before DNS, all mappings were in </a:t>
            </a:r>
            <a:r>
              <a:rPr lang="en-US" i="1" dirty="0"/>
              <a:t>hosts.txt</a:t>
            </a:r>
          </a:p>
          <a:p>
            <a:pPr lvl="1"/>
            <a:r>
              <a:rPr lang="en-US" i="1" dirty="0"/>
              <a:t>/</a:t>
            </a:r>
            <a:r>
              <a:rPr lang="en-US" i="1" dirty="0" err="1"/>
              <a:t>etc</a:t>
            </a:r>
            <a:r>
              <a:rPr lang="en-US" i="1" dirty="0"/>
              <a:t>/hosts </a:t>
            </a:r>
            <a:r>
              <a:rPr lang="en-US" dirty="0"/>
              <a:t>on Linux</a:t>
            </a:r>
          </a:p>
          <a:p>
            <a:pPr lvl="1"/>
            <a:r>
              <a:rPr lang="en-US" i="1" dirty="0"/>
              <a:t>C:\Windows\System32\drivers\etc\hosts </a:t>
            </a:r>
            <a:r>
              <a:rPr lang="en-US" dirty="0"/>
              <a:t>on Windows</a:t>
            </a:r>
          </a:p>
          <a:p>
            <a:r>
              <a:rPr lang="en-US" dirty="0"/>
              <a:t>Centralized, manual system</a:t>
            </a:r>
          </a:p>
          <a:p>
            <a:pPr lvl="1"/>
            <a:r>
              <a:rPr lang="en-US" dirty="0"/>
              <a:t>Changes were submitted to SRI via email</a:t>
            </a:r>
          </a:p>
          <a:p>
            <a:pPr lvl="1"/>
            <a:r>
              <a:rPr lang="en-US" dirty="0"/>
              <a:t>Machines periodically FTP new copies of </a:t>
            </a:r>
            <a:r>
              <a:rPr lang="en-US" i="1" dirty="0"/>
              <a:t>hosts.txt</a:t>
            </a:r>
          </a:p>
          <a:p>
            <a:pPr lvl="1"/>
            <a:r>
              <a:rPr lang="en-US" dirty="0"/>
              <a:t>Administrators could pick names at their discretion</a:t>
            </a:r>
          </a:p>
          <a:p>
            <a:pPr lvl="1"/>
            <a:r>
              <a:rPr lang="en-US" dirty="0"/>
              <a:t>Any name was allowed</a:t>
            </a:r>
          </a:p>
          <a:p>
            <a:pPr lvl="2"/>
            <a:r>
              <a:rPr lang="en-US" dirty="0" err="1"/>
              <a:t>alans_server_at_neu_pwns_joo_lol_kthxbye</a:t>
            </a:r>
            <a:endParaRPr lang="en-US" dirty="0"/>
          </a:p>
        </p:txBody>
      </p:sp>
    </p:spTree>
    <p:extLst>
      <p:ext uri="{BB962C8B-B14F-4D97-AF65-F5344CB8AC3E}">
        <p14:creationId xmlns:p14="http://schemas.microsoft.com/office/powerpoint/2010/main" val="4277605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anim calcmode="lin" valueType="num">
                                      <p:cBhvr>
                                        <p:cTn id="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anim calcmode="lin" valueType="num">
                                      <p:cBhvr>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500"/>
                                        <p:tgtEl>
                                          <p:spTgt spid="4">
                                            <p:txEl>
                                              <p:pRg st="5" end="5"/>
                                            </p:txEl>
                                          </p:spTgt>
                                        </p:tgtEl>
                                      </p:cBhvr>
                                    </p:animEffect>
                                    <p:anim calcmode="lin" valueType="num">
                                      <p:cBhvr>
                                        <p:cTn id="1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500" fill="hold"/>
                                        <p:tgtEl>
                                          <p:spTgt spid="4">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anim calcmode="lin" valueType="num">
                                      <p:cBhvr>
                                        <p:cTn id="2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4" dur="500" fill="hold"/>
                                        <p:tgtEl>
                                          <p:spTgt spid="4">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anim calcmode="lin" valueType="num">
                                      <p:cBhvr>
                                        <p:cTn id="28"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9" dur="500" fill="hold"/>
                                        <p:tgtEl>
                                          <p:spTgt spid="4">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500"/>
                                        <p:tgtEl>
                                          <p:spTgt spid="4">
                                            <p:txEl>
                                              <p:pRg st="8" end="8"/>
                                            </p:txEl>
                                          </p:spTgt>
                                        </p:tgtEl>
                                      </p:cBhvr>
                                    </p:animEffect>
                                    <p:anim calcmode="lin" valueType="num">
                                      <p:cBhvr>
                                        <p:cTn id="3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4" dur="5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Towards DNS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5</a:t>
            </a:fld>
            <a:endParaRPr lang="en-US" dirty="0"/>
          </a:p>
        </p:txBody>
      </p:sp>
      <p:sp>
        <p:nvSpPr>
          <p:cNvPr id="4" name="Content Placeholder 3"/>
          <p:cNvSpPr>
            <a:spLocks noGrp="1"/>
          </p:cNvSpPr>
          <p:nvPr>
            <p:ph sz="quarter" idx="1"/>
          </p:nvPr>
        </p:nvSpPr>
        <p:spPr/>
        <p:txBody>
          <a:bodyPr/>
          <a:lstStyle/>
          <a:p>
            <a:r>
              <a:rPr lang="en-US" dirty="0"/>
              <a:t>Eventually, the </a:t>
            </a:r>
            <a:r>
              <a:rPr lang="en-US" i="1" dirty="0"/>
              <a:t>hosts.txt</a:t>
            </a:r>
            <a:r>
              <a:rPr lang="en-US" dirty="0"/>
              <a:t> system fell apart</a:t>
            </a:r>
          </a:p>
          <a:p>
            <a:pPr lvl="1"/>
            <a:r>
              <a:rPr lang="en-US" dirty="0"/>
              <a:t>Not scalable, SRI couldn’t handle the load</a:t>
            </a:r>
          </a:p>
          <a:p>
            <a:pPr lvl="1"/>
            <a:r>
              <a:rPr lang="en-US" dirty="0"/>
              <a:t>Hard to enforce uniqueness of names</a:t>
            </a:r>
          </a:p>
          <a:p>
            <a:pPr lvl="2"/>
            <a:r>
              <a:rPr lang="en-US" dirty="0" err="1"/>
              <a:t>e.g</a:t>
            </a:r>
            <a:r>
              <a:rPr lang="en-US" dirty="0"/>
              <a:t> MIT</a:t>
            </a:r>
          </a:p>
          <a:p>
            <a:pPr lvl="3"/>
            <a:r>
              <a:rPr lang="en-US" dirty="0"/>
              <a:t>Massachusetts Institute of Technology?</a:t>
            </a:r>
          </a:p>
          <a:p>
            <a:pPr lvl="3"/>
            <a:r>
              <a:rPr lang="en-US" dirty="0"/>
              <a:t>Melbourne Institute of Technology?</a:t>
            </a:r>
          </a:p>
          <a:p>
            <a:pPr lvl="1"/>
            <a:r>
              <a:rPr lang="en-US" dirty="0"/>
              <a:t>Many machines had inaccurate copies of </a:t>
            </a:r>
            <a:r>
              <a:rPr lang="en-US" i="1" dirty="0"/>
              <a:t>hosts.txt</a:t>
            </a:r>
          </a:p>
          <a:p>
            <a:r>
              <a:rPr lang="en-US" dirty="0"/>
              <a:t>Thus, DNS was born</a:t>
            </a:r>
          </a:p>
        </p:txBody>
      </p:sp>
    </p:spTree>
    <p:extLst>
      <p:ext uri="{BB962C8B-B14F-4D97-AF65-F5344CB8AC3E}">
        <p14:creationId xmlns:p14="http://schemas.microsoft.com/office/powerpoint/2010/main" val="380484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anim calcmode="lin" valueType="num">
                                      <p:cBhvr>
                                        <p:cTn id="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anim calcmode="lin" valueType="num">
                                      <p:cBhvr>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anim calcmode="lin" valueType="num">
                                      <p:cBhvr>
                                        <p:cTn id="1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5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anim calcmode="lin" valueType="num">
                                      <p:cBhvr>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5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anim calcmode="lin" valueType="num">
                                      <p:cBhvr>
                                        <p:cTn id="2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500" fill="hold"/>
                                        <p:tgtEl>
                                          <p:spTgt spid="4">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anim calcmode="lin" valueType="num">
                                      <p:cBhvr>
                                        <p:cTn id="3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4" dur="5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Effect transition="in" filter="fade">
                                      <p:cBhvr>
                                        <p:cTn id="39" dur="500"/>
                                        <p:tgtEl>
                                          <p:spTgt spid="4">
                                            <p:txEl>
                                              <p:pRg st="7" end="7"/>
                                            </p:txEl>
                                          </p:spTgt>
                                        </p:tgtEl>
                                      </p:cBhvr>
                                    </p:animEffect>
                                    <p:anim calcmode="lin" valueType="num">
                                      <p:cBhvr>
                                        <p:cTn id="40"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1" dur="5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450376" y="2667000"/>
            <a:ext cx="8338782" cy="3529084"/>
          </a:xfrm>
        </p:spPr>
        <p:txBody>
          <a:bodyPr>
            <a:noAutofit/>
          </a:bodyPr>
          <a:lstStyle/>
          <a:p>
            <a:pPr marL="571500" indent="-571500">
              <a:buFont typeface="Wingdings" pitchFamily="2" charset="2"/>
              <a:buChar char="q"/>
            </a:pPr>
            <a:r>
              <a:rPr lang="en-US" sz="4400" dirty="0"/>
              <a:t>DNS Basics</a:t>
            </a:r>
          </a:p>
          <a:p>
            <a:pPr marL="571500" indent="-571500">
              <a:buFont typeface="Wingdings" pitchFamily="2" charset="2"/>
              <a:buChar char="q"/>
            </a:pPr>
            <a:r>
              <a:rPr lang="en-US" sz="4400" dirty="0"/>
              <a:t>DNS Security</a:t>
            </a:r>
          </a:p>
        </p:txBody>
      </p:sp>
      <p:sp>
        <p:nvSpPr>
          <p:cNvPr id="5" name="Title 4"/>
          <p:cNvSpPr>
            <a:spLocks noGrp="1"/>
          </p:cNvSpPr>
          <p:nvPr>
            <p:ph type="title"/>
          </p:nvPr>
        </p:nvSpPr>
        <p:spPr/>
        <p:txBody>
          <a:bodyPr/>
          <a:lstStyle/>
          <a:p>
            <a:r>
              <a:rPr lang="en-US" dirty="0"/>
              <a:t>Outline</a:t>
            </a:r>
          </a:p>
        </p:txBody>
      </p:sp>
      <p:sp>
        <p:nvSpPr>
          <p:cNvPr id="3" name="Slide Number Placeholder 2"/>
          <p:cNvSpPr>
            <a:spLocks noGrp="1"/>
          </p:cNvSpPr>
          <p:nvPr>
            <p:ph type="sldNum" sz="quarter" idx="11"/>
          </p:nvPr>
        </p:nvSpPr>
        <p:spPr/>
        <p:txBody>
          <a:bodyPr>
            <a:normAutofit/>
          </a:bodyPr>
          <a:lstStyle/>
          <a:p>
            <a:fld id="{283B9EA5-CE9A-4950-A80C-5ADF06B45BB8}" type="slidenum">
              <a:rPr lang="en-US" smtClean="0"/>
              <a:pPr/>
              <a:t>6</a:t>
            </a:fld>
            <a:endParaRPr lang="en-US" dirty="0"/>
          </a:p>
        </p:txBody>
      </p:sp>
    </p:spTree>
    <p:extLst>
      <p:ext uri="{BB962C8B-B14F-4D97-AF65-F5344CB8AC3E}">
        <p14:creationId xmlns:p14="http://schemas.microsoft.com/office/powerpoint/2010/main" val="29228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DNS at a High-Level</a:t>
            </a:r>
          </a:p>
        </p:txBody>
      </p:sp>
      <p:sp>
        <p:nvSpPr>
          <p:cNvPr id="4" name="Slide Number Placeholder 3"/>
          <p:cNvSpPr>
            <a:spLocks noGrp="1"/>
          </p:cNvSpPr>
          <p:nvPr>
            <p:ph type="sldNum" sz="quarter" idx="12"/>
          </p:nvPr>
        </p:nvSpPr>
        <p:spPr/>
        <p:txBody>
          <a:bodyPr>
            <a:normAutofit fontScale="92500" lnSpcReduction="20000"/>
          </a:bodyPr>
          <a:lstStyle/>
          <a:p>
            <a:fld id="{283B9EA5-CE9A-4950-A80C-5ADF06B45BB8}" type="slidenum">
              <a:rPr lang="en-US" smtClean="0"/>
              <a:t>7</a:t>
            </a:fld>
            <a:endParaRPr lang="en-US"/>
          </a:p>
        </p:txBody>
      </p:sp>
      <p:sp>
        <p:nvSpPr>
          <p:cNvPr id="6" name="Content Placeholder 5"/>
          <p:cNvSpPr>
            <a:spLocks noGrp="1"/>
          </p:cNvSpPr>
          <p:nvPr>
            <p:ph sz="quarter" idx="1"/>
          </p:nvPr>
        </p:nvSpPr>
        <p:spPr/>
        <p:txBody>
          <a:bodyPr/>
          <a:lstStyle/>
          <a:p>
            <a:r>
              <a:rPr lang="en-US" dirty="0"/>
              <a:t>Domain Name System</a:t>
            </a:r>
          </a:p>
          <a:p>
            <a:r>
              <a:rPr lang="en-US" dirty="0"/>
              <a:t>Distributed database</a:t>
            </a:r>
          </a:p>
          <a:p>
            <a:pPr lvl="1"/>
            <a:r>
              <a:rPr lang="en-US" dirty="0"/>
              <a:t>No centralization</a:t>
            </a:r>
          </a:p>
          <a:p>
            <a:r>
              <a:rPr lang="en-US" dirty="0"/>
              <a:t>Simple client/server architecture</a:t>
            </a:r>
          </a:p>
          <a:p>
            <a:pPr lvl="1"/>
            <a:r>
              <a:rPr lang="en-US" dirty="0"/>
              <a:t>UDP port 53, some implementations also use TCP</a:t>
            </a:r>
          </a:p>
          <a:p>
            <a:r>
              <a:rPr lang="en-US" dirty="0"/>
              <a:t>Hierarchical namespace</a:t>
            </a:r>
          </a:p>
          <a:p>
            <a:pPr lvl="1"/>
            <a:r>
              <a:rPr lang="en-US" dirty="0"/>
              <a:t>As opposed to original, flat namespace</a:t>
            </a:r>
          </a:p>
          <a:p>
            <a:pPr lvl="1"/>
            <a:r>
              <a:rPr lang="en-US" dirty="0"/>
              <a:t>e.g. .com </a:t>
            </a:r>
            <a:r>
              <a:rPr lang="en-US" dirty="0">
                <a:sym typeface="Wingdings" pitchFamily="2" charset="2"/>
              </a:rPr>
              <a:t> google.com  mail.google.com</a:t>
            </a:r>
          </a:p>
        </p:txBody>
      </p:sp>
    </p:spTree>
    <p:extLst>
      <p:ext uri="{BB962C8B-B14F-4D97-AF65-F5344CB8AC3E}">
        <p14:creationId xmlns:p14="http://schemas.microsoft.com/office/powerpoint/2010/main" val="2110934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Hierarchy</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8</a:t>
            </a:fld>
            <a:endParaRPr lang="en-US" dirty="0"/>
          </a:p>
        </p:txBody>
      </p:sp>
      <p:sp>
        <p:nvSpPr>
          <p:cNvPr id="4" name="Content Placeholder 3"/>
          <p:cNvSpPr>
            <a:spLocks noGrp="1"/>
          </p:cNvSpPr>
          <p:nvPr>
            <p:ph sz="quarter" idx="1"/>
          </p:nvPr>
        </p:nvSpPr>
        <p:spPr>
          <a:xfrm>
            <a:off x="3058886" y="3200402"/>
            <a:ext cx="5932714" cy="3570514"/>
          </a:xfrm>
        </p:spPr>
        <p:txBody>
          <a:bodyPr>
            <a:normAutofit lnSpcReduction="10000"/>
          </a:bodyPr>
          <a:lstStyle/>
          <a:p>
            <a:r>
              <a:rPr lang="en-US" dirty="0"/>
              <a:t>Top Level Domains (TLDs) are at the top</a:t>
            </a:r>
          </a:p>
          <a:p>
            <a:r>
              <a:rPr lang="en-US" dirty="0"/>
              <a:t>Maximum tree depth: 128</a:t>
            </a:r>
          </a:p>
          <a:p>
            <a:r>
              <a:rPr lang="en-US" dirty="0"/>
              <a:t>Each Domain Name is a </a:t>
            </a:r>
            <a:r>
              <a:rPr lang="en-US" dirty="0" err="1"/>
              <a:t>subtree</a:t>
            </a:r>
            <a:endParaRPr lang="en-US" dirty="0"/>
          </a:p>
          <a:p>
            <a:pPr lvl="1"/>
            <a:r>
              <a:rPr lang="en-US" dirty="0"/>
              <a:t>.</a:t>
            </a:r>
            <a:r>
              <a:rPr lang="en-US" dirty="0" err="1"/>
              <a:t>edu</a:t>
            </a:r>
            <a:r>
              <a:rPr lang="en-US" dirty="0"/>
              <a:t> </a:t>
            </a:r>
            <a:r>
              <a:rPr lang="en-US" dirty="0">
                <a:sym typeface="Wingdings" pitchFamily="2" charset="2"/>
              </a:rPr>
              <a:t> neu.edu  ccs.neu.edu  </a:t>
            </a:r>
            <a:r>
              <a:rPr lang="en-US" dirty="0">
                <a:sym typeface="Wingdings" pitchFamily="2" charset="2"/>
                <a:hlinkClick r:id="rId2"/>
              </a:rPr>
              <a:t>www.ccs.neu.edu</a:t>
            </a:r>
            <a:endParaRPr lang="en-US" dirty="0">
              <a:sym typeface="Wingdings" pitchFamily="2" charset="2"/>
            </a:endParaRPr>
          </a:p>
          <a:p>
            <a:r>
              <a:rPr lang="en-US" dirty="0">
                <a:sym typeface="Wingdings" pitchFamily="2" charset="2"/>
              </a:rPr>
              <a:t>Name collisions are avoided</a:t>
            </a:r>
          </a:p>
          <a:p>
            <a:pPr lvl="1"/>
            <a:r>
              <a:rPr lang="en-US" dirty="0">
                <a:sym typeface="Wingdings" pitchFamily="2" charset="2"/>
              </a:rPr>
              <a:t>neu.com vs. neu.edu</a:t>
            </a:r>
            <a:endParaRPr lang="en-US" dirty="0"/>
          </a:p>
        </p:txBody>
      </p:sp>
      <p:sp>
        <p:nvSpPr>
          <p:cNvPr id="5" name="TextBox 4"/>
          <p:cNvSpPr txBox="1"/>
          <p:nvPr/>
        </p:nvSpPr>
        <p:spPr>
          <a:xfrm>
            <a:off x="3963867" y="1524388"/>
            <a:ext cx="835485" cy="461665"/>
          </a:xfrm>
          <a:prstGeom prst="rect">
            <a:avLst/>
          </a:prstGeom>
          <a:noFill/>
        </p:spPr>
        <p:txBody>
          <a:bodyPr wrap="none" rtlCol="0">
            <a:spAutoFit/>
          </a:bodyPr>
          <a:lstStyle/>
          <a:p>
            <a:r>
              <a:rPr lang="en-US" sz="2400" dirty="0"/>
              <a:t>Root</a:t>
            </a:r>
          </a:p>
        </p:txBody>
      </p:sp>
      <p:sp>
        <p:nvSpPr>
          <p:cNvPr id="6" name="TextBox 5"/>
          <p:cNvSpPr txBox="1"/>
          <p:nvPr/>
        </p:nvSpPr>
        <p:spPr>
          <a:xfrm>
            <a:off x="1264237" y="2563006"/>
            <a:ext cx="699230" cy="461665"/>
          </a:xfrm>
          <a:prstGeom prst="rect">
            <a:avLst/>
          </a:prstGeom>
          <a:noFill/>
        </p:spPr>
        <p:txBody>
          <a:bodyPr wrap="none" rtlCol="0">
            <a:spAutoFit/>
          </a:bodyPr>
          <a:lstStyle/>
          <a:p>
            <a:r>
              <a:rPr lang="en-US" sz="2400" dirty="0" err="1"/>
              <a:t>edu</a:t>
            </a:r>
            <a:endParaRPr lang="en-US" sz="2400" dirty="0"/>
          </a:p>
        </p:txBody>
      </p:sp>
      <p:sp>
        <p:nvSpPr>
          <p:cNvPr id="7" name="TextBox 6"/>
          <p:cNvSpPr txBox="1"/>
          <p:nvPr/>
        </p:nvSpPr>
        <p:spPr>
          <a:xfrm>
            <a:off x="2332645" y="2563006"/>
            <a:ext cx="766557" cy="461665"/>
          </a:xfrm>
          <a:prstGeom prst="rect">
            <a:avLst/>
          </a:prstGeom>
          <a:noFill/>
        </p:spPr>
        <p:txBody>
          <a:bodyPr wrap="none" rtlCol="0">
            <a:spAutoFit/>
          </a:bodyPr>
          <a:lstStyle/>
          <a:p>
            <a:r>
              <a:rPr lang="en-US" sz="2400" dirty="0"/>
              <a:t>com</a:t>
            </a:r>
          </a:p>
        </p:txBody>
      </p:sp>
      <p:sp>
        <p:nvSpPr>
          <p:cNvPr id="8" name="TextBox 7"/>
          <p:cNvSpPr txBox="1"/>
          <p:nvPr/>
        </p:nvSpPr>
        <p:spPr>
          <a:xfrm>
            <a:off x="3468380" y="2563006"/>
            <a:ext cx="681597" cy="461665"/>
          </a:xfrm>
          <a:prstGeom prst="rect">
            <a:avLst/>
          </a:prstGeom>
          <a:noFill/>
        </p:spPr>
        <p:txBody>
          <a:bodyPr wrap="none" rtlCol="0">
            <a:spAutoFit/>
          </a:bodyPr>
          <a:lstStyle/>
          <a:p>
            <a:r>
              <a:rPr lang="en-US" sz="2400" dirty="0" err="1"/>
              <a:t>gov</a:t>
            </a:r>
            <a:endParaRPr lang="en-US" sz="2400" dirty="0"/>
          </a:p>
        </p:txBody>
      </p:sp>
      <p:sp>
        <p:nvSpPr>
          <p:cNvPr id="9" name="TextBox 8"/>
          <p:cNvSpPr txBox="1"/>
          <p:nvPr/>
        </p:nvSpPr>
        <p:spPr>
          <a:xfrm>
            <a:off x="4519155" y="2563006"/>
            <a:ext cx="579005" cy="461665"/>
          </a:xfrm>
          <a:prstGeom prst="rect">
            <a:avLst/>
          </a:prstGeom>
          <a:noFill/>
        </p:spPr>
        <p:txBody>
          <a:bodyPr wrap="none" rtlCol="0">
            <a:spAutoFit/>
          </a:bodyPr>
          <a:lstStyle/>
          <a:p>
            <a:r>
              <a:rPr lang="en-US" sz="2400" dirty="0"/>
              <a:t>mil</a:t>
            </a:r>
          </a:p>
        </p:txBody>
      </p:sp>
      <p:sp>
        <p:nvSpPr>
          <p:cNvPr id="10" name="TextBox 9"/>
          <p:cNvSpPr txBox="1"/>
          <p:nvPr/>
        </p:nvSpPr>
        <p:spPr>
          <a:xfrm>
            <a:off x="5467338" y="2563006"/>
            <a:ext cx="630301" cy="461665"/>
          </a:xfrm>
          <a:prstGeom prst="rect">
            <a:avLst/>
          </a:prstGeom>
          <a:noFill/>
        </p:spPr>
        <p:txBody>
          <a:bodyPr wrap="none" rtlCol="0">
            <a:spAutoFit/>
          </a:bodyPr>
          <a:lstStyle/>
          <a:p>
            <a:r>
              <a:rPr lang="en-US" sz="2400" dirty="0"/>
              <a:t>org</a:t>
            </a:r>
          </a:p>
        </p:txBody>
      </p:sp>
      <p:sp>
        <p:nvSpPr>
          <p:cNvPr id="11" name="TextBox 10"/>
          <p:cNvSpPr txBox="1"/>
          <p:nvPr/>
        </p:nvSpPr>
        <p:spPr>
          <a:xfrm>
            <a:off x="207531" y="2563006"/>
            <a:ext cx="612668" cy="461665"/>
          </a:xfrm>
          <a:prstGeom prst="rect">
            <a:avLst/>
          </a:prstGeom>
          <a:noFill/>
        </p:spPr>
        <p:txBody>
          <a:bodyPr wrap="none" rtlCol="0">
            <a:spAutoFit/>
          </a:bodyPr>
          <a:lstStyle/>
          <a:p>
            <a:r>
              <a:rPr lang="en-US" sz="2400" dirty="0"/>
              <a:t>net</a:t>
            </a:r>
          </a:p>
        </p:txBody>
      </p:sp>
      <p:sp>
        <p:nvSpPr>
          <p:cNvPr id="12" name="TextBox 11"/>
          <p:cNvSpPr txBox="1"/>
          <p:nvPr/>
        </p:nvSpPr>
        <p:spPr>
          <a:xfrm>
            <a:off x="6501581" y="2563006"/>
            <a:ext cx="510076" cy="461665"/>
          </a:xfrm>
          <a:prstGeom prst="rect">
            <a:avLst/>
          </a:prstGeom>
          <a:noFill/>
        </p:spPr>
        <p:txBody>
          <a:bodyPr wrap="none" rtlCol="0">
            <a:spAutoFit/>
          </a:bodyPr>
          <a:lstStyle/>
          <a:p>
            <a:r>
              <a:rPr lang="en-US" sz="2400" dirty="0" err="1"/>
              <a:t>uk</a:t>
            </a:r>
            <a:endParaRPr lang="en-US" sz="2400" dirty="0"/>
          </a:p>
        </p:txBody>
      </p:sp>
      <p:sp>
        <p:nvSpPr>
          <p:cNvPr id="13" name="TextBox 12"/>
          <p:cNvSpPr txBox="1"/>
          <p:nvPr/>
        </p:nvSpPr>
        <p:spPr>
          <a:xfrm>
            <a:off x="7380835" y="2563006"/>
            <a:ext cx="372218" cy="461665"/>
          </a:xfrm>
          <a:prstGeom prst="rect">
            <a:avLst/>
          </a:prstGeom>
          <a:noFill/>
        </p:spPr>
        <p:txBody>
          <a:bodyPr wrap="none" rtlCol="0">
            <a:spAutoFit/>
          </a:bodyPr>
          <a:lstStyle/>
          <a:p>
            <a:r>
              <a:rPr lang="en-US" sz="2400" dirty="0" err="1"/>
              <a:t>fr</a:t>
            </a:r>
            <a:endParaRPr lang="en-US" sz="2400" dirty="0"/>
          </a:p>
        </p:txBody>
      </p:sp>
      <p:sp>
        <p:nvSpPr>
          <p:cNvPr id="14" name="TextBox 13"/>
          <p:cNvSpPr txBox="1"/>
          <p:nvPr/>
        </p:nvSpPr>
        <p:spPr>
          <a:xfrm>
            <a:off x="8122230" y="2563006"/>
            <a:ext cx="679994" cy="461665"/>
          </a:xfrm>
          <a:prstGeom prst="rect">
            <a:avLst/>
          </a:prstGeom>
          <a:noFill/>
        </p:spPr>
        <p:txBody>
          <a:bodyPr wrap="none" rtlCol="0">
            <a:spAutoFit/>
          </a:bodyPr>
          <a:lstStyle/>
          <a:p>
            <a:r>
              <a:rPr lang="en-US" sz="2400" dirty="0"/>
              <a:t>etc.</a:t>
            </a:r>
          </a:p>
        </p:txBody>
      </p:sp>
      <p:sp>
        <p:nvSpPr>
          <p:cNvPr id="15" name="TextBox 14"/>
          <p:cNvSpPr txBox="1"/>
          <p:nvPr/>
        </p:nvSpPr>
        <p:spPr>
          <a:xfrm>
            <a:off x="295298" y="3542718"/>
            <a:ext cx="699230" cy="461665"/>
          </a:xfrm>
          <a:prstGeom prst="rect">
            <a:avLst/>
          </a:prstGeom>
          <a:noFill/>
        </p:spPr>
        <p:txBody>
          <a:bodyPr wrap="none" rtlCol="0">
            <a:spAutoFit/>
          </a:bodyPr>
          <a:lstStyle/>
          <a:p>
            <a:r>
              <a:rPr lang="en-US" sz="2400" dirty="0" err="1"/>
              <a:t>neu</a:t>
            </a:r>
            <a:endParaRPr lang="en-US" sz="2400" dirty="0"/>
          </a:p>
        </p:txBody>
      </p:sp>
      <p:sp>
        <p:nvSpPr>
          <p:cNvPr id="16" name="TextBox 15"/>
          <p:cNvSpPr txBox="1"/>
          <p:nvPr/>
        </p:nvSpPr>
        <p:spPr>
          <a:xfrm>
            <a:off x="2084278" y="3542717"/>
            <a:ext cx="595035" cy="461665"/>
          </a:xfrm>
          <a:prstGeom prst="rect">
            <a:avLst/>
          </a:prstGeom>
          <a:noFill/>
        </p:spPr>
        <p:txBody>
          <a:bodyPr wrap="none" rtlCol="0">
            <a:spAutoFit/>
          </a:bodyPr>
          <a:lstStyle/>
          <a:p>
            <a:r>
              <a:rPr lang="en-US" sz="2400" dirty="0" err="1"/>
              <a:t>mit</a:t>
            </a:r>
            <a:endParaRPr lang="en-US" sz="2400" dirty="0"/>
          </a:p>
        </p:txBody>
      </p:sp>
      <p:sp>
        <p:nvSpPr>
          <p:cNvPr id="17" name="TextBox 16"/>
          <p:cNvSpPr txBox="1"/>
          <p:nvPr/>
        </p:nvSpPr>
        <p:spPr>
          <a:xfrm>
            <a:off x="118789" y="4663950"/>
            <a:ext cx="646331" cy="461665"/>
          </a:xfrm>
          <a:prstGeom prst="rect">
            <a:avLst/>
          </a:prstGeom>
          <a:noFill/>
        </p:spPr>
        <p:txBody>
          <a:bodyPr wrap="none" rtlCol="0">
            <a:spAutoFit/>
          </a:bodyPr>
          <a:lstStyle/>
          <a:p>
            <a:r>
              <a:rPr lang="en-US" sz="2400" dirty="0"/>
              <a:t>ccs</a:t>
            </a:r>
          </a:p>
        </p:txBody>
      </p:sp>
      <p:sp>
        <p:nvSpPr>
          <p:cNvPr id="18" name="TextBox 17"/>
          <p:cNvSpPr txBox="1"/>
          <p:nvPr/>
        </p:nvSpPr>
        <p:spPr>
          <a:xfrm>
            <a:off x="1024997" y="4663950"/>
            <a:ext cx="681597" cy="461665"/>
          </a:xfrm>
          <a:prstGeom prst="rect">
            <a:avLst/>
          </a:prstGeom>
          <a:noFill/>
        </p:spPr>
        <p:txBody>
          <a:bodyPr wrap="none" rtlCol="0">
            <a:spAutoFit/>
          </a:bodyPr>
          <a:lstStyle/>
          <a:p>
            <a:r>
              <a:rPr lang="en-US" sz="2400" dirty="0" err="1"/>
              <a:t>ece</a:t>
            </a:r>
            <a:endParaRPr lang="en-US" sz="2400" dirty="0"/>
          </a:p>
        </p:txBody>
      </p:sp>
      <p:sp>
        <p:nvSpPr>
          <p:cNvPr id="19" name="TextBox 18"/>
          <p:cNvSpPr txBox="1"/>
          <p:nvPr/>
        </p:nvSpPr>
        <p:spPr>
          <a:xfrm>
            <a:off x="1952775" y="4663950"/>
            <a:ext cx="989373" cy="461665"/>
          </a:xfrm>
          <a:prstGeom prst="rect">
            <a:avLst/>
          </a:prstGeom>
          <a:noFill/>
        </p:spPr>
        <p:txBody>
          <a:bodyPr wrap="none" rtlCol="0">
            <a:spAutoFit/>
          </a:bodyPr>
          <a:lstStyle/>
          <a:p>
            <a:r>
              <a:rPr lang="en-US" sz="2400" dirty="0"/>
              <a:t>husky</a:t>
            </a:r>
          </a:p>
        </p:txBody>
      </p:sp>
      <p:sp>
        <p:nvSpPr>
          <p:cNvPr id="20" name="TextBox 19"/>
          <p:cNvSpPr txBox="1"/>
          <p:nvPr/>
        </p:nvSpPr>
        <p:spPr>
          <a:xfrm>
            <a:off x="97819" y="5926701"/>
            <a:ext cx="853119" cy="461665"/>
          </a:xfrm>
          <a:prstGeom prst="rect">
            <a:avLst/>
          </a:prstGeom>
          <a:noFill/>
        </p:spPr>
        <p:txBody>
          <a:bodyPr wrap="none" rtlCol="0">
            <a:spAutoFit/>
          </a:bodyPr>
          <a:lstStyle/>
          <a:p>
            <a:r>
              <a:rPr lang="en-US" sz="2400" dirty="0"/>
              <a:t>www</a:t>
            </a:r>
          </a:p>
        </p:txBody>
      </p:sp>
      <p:sp>
        <p:nvSpPr>
          <p:cNvPr id="21" name="TextBox 20"/>
          <p:cNvSpPr txBox="1"/>
          <p:nvPr/>
        </p:nvSpPr>
        <p:spPr>
          <a:xfrm>
            <a:off x="1135185" y="5926701"/>
            <a:ext cx="837089" cy="461665"/>
          </a:xfrm>
          <a:prstGeom prst="rect">
            <a:avLst/>
          </a:prstGeom>
          <a:noFill/>
        </p:spPr>
        <p:txBody>
          <a:bodyPr wrap="none" rtlCol="0">
            <a:spAutoFit/>
          </a:bodyPr>
          <a:lstStyle/>
          <a:p>
            <a:r>
              <a:rPr lang="en-US" sz="2400" dirty="0"/>
              <a:t>login</a:t>
            </a:r>
          </a:p>
        </p:txBody>
      </p:sp>
      <p:sp>
        <p:nvSpPr>
          <p:cNvPr id="22" name="TextBox 21"/>
          <p:cNvSpPr txBox="1"/>
          <p:nvPr/>
        </p:nvSpPr>
        <p:spPr>
          <a:xfrm>
            <a:off x="2270920" y="5926701"/>
            <a:ext cx="750526" cy="461665"/>
          </a:xfrm>
          <a:prstGeom prst="rect">
            <a:avLst/>
          </a:prstGeom>
          <a:noFill/>
        </p:spPr>
        <p:txBody>
          <a:bodyPr wrap="none" rtlCol="0">
            <a:spAutoFit/>
          </a:bodyPr>
          <a:lstStyle/>
          <a:p>
            <a:r>
              <a:rPr lang="en-US" sz="2400" dirty="0"/>
              <a:t>mail</a:t>
            </a:r>
          </a:p>
        </p:txBody>
      </p:sp>
      <p:cxnSp>
        <p:nvCxnSpPr>
          <p:cNvPr id="24" name="Straight Connector 23"/>
          <p:cNvCxnSpPr>
            <a:stCxn id="5" idx="2"/>
            <a:endCxn id="6" idx="0"/>
          </p:cNvCxnSpPr>
          <p:nvPr/>
        </p:nvCxnSpPr>
        <p:spPr>
          <a:xfrm flipH="1">
            <a:off x="1613852" y="1986053"/>
            <a:ext cx="2767758"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5" idx="2"/>
            <a:endCxn id="7" idx="0"/>
          </p:cNvCxnSpPr>
          <p:nvPr/>
        </p:nvCxnSpPr>
        <p:spPr>
          <a:xfrm flipH="1">
            <a:off x="2715924" y="1986053"/>
            <a:ext cx="1665686"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5" idx="2"/>
            <a:endCxn id="8" idx="0"/>
          </p:cNvCxnSpPr>
          <p:nvPr/>
        </p:nvCxnSpPr>
        <p:spPr>
          <a:xfrm flipH="1">
            <a:off x="3809179" y="1986053"/>
            <a:ext cx="572431"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5" idx="2"/>
            <a:endCxn id="9" idx="0"/>
          </p:cNvCxnSpPr>
          <p:nvPr/>
        </p:nvCxnSpPr>
        <p:spPr>
          <a:xfrm>
            <a:off x="4381610" y="1986053"/>
            <a:ext cx="427048"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5" idx="2"/>
            <a:endCxn id="10" idx="0"/>
          </p:cNvCxnSpPr>
          <p:nvPr/>
        </p:nvCxnSpPr>
        <p:spPr>
          <a:xfrm>
            <a:off x="4381610" y="1986053"/>
            <a:ext cx="140087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5" idx="2"/>
            <a:endCxn id="11" idx="0"/>
          </p:cNvCxnSpPr>
          <p:nvPr/>
        </p:nvCxnSpPr>
        <p:spPr>
          <a:xfrm flipH="1">
            <a:off x="513865" y="1986053"/>
            <a:ext cx="3867745"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5" idx="2"/>
            <a:endCxn id="12" idx="0"/>
          </p:cNvCxnSpPr>
          <p:nvPr/>
        </p:nvCxnSpPr>
        <p:spPr>
          <a:xfrm>
            <a:off x="4381610" y="1986053"/>
            <a:ext cx="237500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5" idx="2"/>
            <a:endCxn id="13" idx="0"/>
          </p:cNvCxnSpPr>
          <p:nvPr/>
        </p:nvCxnSpPr>
        <p:spPr>
          <a:xfrm>
            <a:off x="4381610" y="1986053"/>
            <a:ext cx="3185334"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5" idx="2"/>
            <a:endCxn id="14" idx="0"/>
          </p:cNvCxnSpPr>
          <p:nvPr/>
        </p:nvCxnSpPr>
        <p:spPr>
          <a:xfrm>
            <a:off x="4381610" y="1986053"/>
            <a:ext cx="4080617"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6" idx="2"/>
            <a:endCxn id="15" idx="0"/>
          </p:cNvCxnSpPr>
          <p:nvPr/>
        </p:nvCxnSpPr>
        <p:spPr>
          <a:xfrm flipH="1">
            <a:off x="644913" y="3024671"/>
            <a:ext cx="968939" cy="51804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6" idx="2"/>
            <a:endCxn id="16" idx="0"/>
          </p:cNvCxnSpPr>
          <p:nvPr/>
        </p:nvCxnSpPr>
        <p:spPr>
          <a:xfrm>
            <a:off x="1613852" y="3024671"/>
            <a:ext cx="767944" cy="5180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5" idx="2"/>
            <a:endCxn id="17" idx="0"/>
          </p:cNvCxnSpPr>
          <p:nvPr/>
        </p:nvCxnSpPr>
        <p:spPr>
          <a:xfrm flipH="1">
            <a:off x="441955" y="4004383"/>
            <a:ext cx="202958" cy="6595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15" idx="2"/>
            <a:endCxn id="18" idx="0"/>
          </p:cNvCxnSpPr>
          <p:nvPr/>
        </p:nvCxnSpPr>
        <p:spPr>
          <a:xfrm>
            <a:off x="644913" y="4004383"/>
            <a:ext cx="720883" cy="6595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15" idx="2"/>
            <a:endCxn id="19" idx="0"/>
          </p:cNvCxnSpPr>
          <p:nvPr/>
        </p:nvCxnSpPr>
        <p:spPr>
          <a:xfrm>
            <a:off x="644913" y="4004383"/>
            <a:ext cx="1802549" cy="6595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17" idx="2"/>
            <a:endCxn id="20" idx="0"/>
          </p:cNvCxnSpPr>
          <p:nvPr/>
        </p:nvCxnSpPr>
        <p:spPr>
          <a:xfrm>
            <a:off x="441955" y="5125615"/>
            <a:ext cx="82424"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17" idx="2"/>
            <a:endCxn id="21" idx="0"/>
          </p:cNvCxnSpPr>
          <p:nvPr/>
        </p:nvCxnSpPr>
        <p:spPr>
          <a:xfrm>
            <a:off x="441955" y="5125615"/>
            <a:ext cx="1111775"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17" idx="2"/>
            <a:endCxn id="22" idx="0"/>
          </p:cNvCxnSpPr>
          <p:nvPr/>
        </p:nvCxnSpPr>
        <p:spPr>
          <a:xfrm>
            <a:off x="441955" y="5125615"/>
            <a:ext cx="2204228" cy="80108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5" name="Rounded Rectangle 74"/>
          <p:cNvSpPr/>
          <p:nvPr/>
        </p:nvSpPr>
        <p:spPr>
          <a:xfrm>
            <a:off x="139714" y="2497689"/>
            <a:ext cx="86625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ounded Rectangle 75"/>
          <p:cNvSpPr/>
          <p:nvPr/>
        </p:nvSpPr>
        <p:spPr>
          <a:xfrm>
            <a:off x="72950" y="5828998"/>
            <a:ext cx="830565"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p:cNvSpPr/>
          <p:nvPr/>
        </p:nvSpPr>
        <p:spPr>
          <a:xfrm>
            <a:off x="72996" y="4566247"/>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ounded Rectangle 77"/>
          <p:cNvSpPr/>
          <p:nvPr/>
        </p:nvSpPr>
        <p:spPr>
          <a:xfrm>
            <a:off x="283706" y="3445015"/>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ounded Rectangle 78"/>
          <p:cNvSpPr/>
          <p:nvPr/>
        </p:nvSpPr>
        <p:spPr>
          <a:xfrm>
            <a:off x="1269069" y="2495857"/>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92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arn(inVertical)">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grpId="1" nodeType="clickEffect">
                                  <p:stCondLst>
                                    <p:cond delay="0"/>
                                  </p:stCondLst>
                                  <p:childTnLst>
                                    <p:animEffect transition="out" filter="barn(inVertical)">
                                      <p:cBhvr>
                                        <p:cTn id="11" dur="500"/>
                                        <p:tgtEl>
                                          <p:spTgt spid="75"/>
                                        </p:tgtEl>
                                      </p:cBhvr>
                                    </p:animEffect>
                                    <p:set>
                                      <p:cBhvr>
                                        <p:cTn id="12" dur="1" fill="hold">
                                          <p:stCondLst>
                                            <p:cond delay="499"/>
                                          </p:stCondLst>
                                        </p:cTn>
                                        <p:tgtEl>
                                          <p:spTgt spid="7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barn(inVertical)">
                                      <p:cBhvr>
                                        <p:cTn id="17" dur="500"/>
                                        <p:tgtEl>
                                          <p:spTgt spid="76"/>
                                        </p:tgtEl>
                                      </p:cBhvr>
                                    </p:animEffect>
                                  </p:childTnLst>
                                </p:cTn>
                              </p:par>
                            </p:childTnLst>
                          </p:cTn>
                        </p:par>
                        <p:par>
                          <p:cTn id="18" fill="hold">
                            <p:stCondLst>
                              <p:cond delay="500"/>
                            </p:stCondLst>
                            <p:childTnLst>
                              <p:par>
                                <p:cTn id="19" presetID="16" presetClass="entr" presetSubtype="21"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animEffect transition="in" filter="barn(inVertical)">
                                      <p:cBhvr>
                                        <p:cTn id="21" dur="500"/>
                                        <p:tgtEl>
                                          <p:spTgt spid="77"/>
                                        </p:tgtEl>
                                      </p:cBhvr>
                                    </p:animEffect>
                                  </p:childTnLst>
                                </p:cTn>
                              </p:par>
                            </p:childTnLst>
                          </p:cTn>
                        </p:par>
                        <p:par>
                          <p:cTn id="22" fill="hold">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78"/>
                                        </p:tgtEl>
                                        <p:attrNameLst>
                                          <p:attrName>style.visibility</p:attrName>
                                        </p:attrNameLst>
                                      </p:cBhvr>
                                      <p:to>
                                        <p:strVal val="visible"/>
                                      </p:to>
                                    </p:set>
                                    <p:animEffect transition="in" filter="barn(inVertical)">
                                      <p:cBhvr>
                                        <p:cTn id="25" dur="500"/>
                                        <p:tgtEl>
                                          <p:spTgt spid="78"/>
                                        </p:tgtEl>
                                      </p:cBhvr>
                                    </p:animEffect>
                                  </p:childTnLst>
                                </p:cTn>
                              </p:par>
                            </p:childTnLst>
                          </p:cTn>
                        </p:par>
                        <p:par>
                          <p:cTn id="26" fill="hold">
                            <p:stCondLst>
                              <p:cond delay="1500"/>
                            </p:stCondLst>
                            <p:childTnLst>
                              <p:par>
                                <p:cTn id="27" presetID="16" presetClass="entr" presetSubtype="21" fill="hold" grpId="0" nodeType="after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barn(inVertical)">
                                      <p:cBhvr>
                                        <p:cTn id="29" dur="500"/>
                                        <p:tgtEl>
                                          <p:spTgt spid="7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xit" presetSubtype="21" fill="hold" grpId="1" nodeType="clickEffect">
                                  <p:stCondLst>
                                    <p:cond delay="0"/>
                                  </p:stCondLst>
                                  <p:childTnLst>
                                    <p:animEffect transition="out" filter="barn(inVertical)">
                                      <p:cBhvr>
                                        <p:cTn id="33" dur="500"/>
                                        <p:tgtEl>
                                          <p:spTgt spid="76"/>
                                        </p:tgtEl>
                                      </p:cBhvr>
                                    </p:animEffect>
                                    <p:set>
                                      <p:cBhvr>
                                        <p:cTn id="34" dur="1" fill="hold">
                                          <p:stCondLst>
                                            <p:cond delay="499"/>
                                          </p:stCondLst>
                                        </p:cTn>
                                        <p:tgtEl>
                                          <p:spTgt spid="76"/>
                                        </p:tgtEl>
                                        <p:attrNameLst>
                                          <p:attrName>style.visibility</p:attrName>
                                        </p:attrNameLst>
                                      </p:cBhvr>
                                      <p:to>
                                        <p:strVal val="hidden"/>
                                      </p:to>
                                    </p:set>
                                  </p:childTnLst>
                                </p:cTn>
                              </p:par>
                              <p:par>
                                <p:cTn id="35" presetID="16" presetClass="exit" presetSubtype="21" fill="hold" grpId="1" nodeType="withEffect">
                                  <p:stCondLst>
                                    <p:cond delay="0"/>
                                  </p:stCondLst>
                                  <p:childTnLst>
                                    <p:animEffect transition="out" filter="barn(inVertical)">
                                      <p:cBhvr>
                                        <p:cTn id="36" dur="500"/>
                                        <p:tgtEl>
                                          <p:spTgt spid="77"/>
                                        </p:tgtEl>
                                      </p:cBhvr>
                                    </p:animEffect>
                                    <p:set>
                                      <p:cBhvr>
                                        <p:cTn id="37" dur="1" fill="hold">
                                          <p:stCondLst>
                                            <p:cond delay="499"/>
                                          </p:stCondLst>
                                        </p:cTn>
                                        <p:tgtEl>
                                          <p:spTgt spid="77"/>
                                        </p:tgtEl>
                                        <p:attrNameLst>
                                          <p:attrName>style.visibility</p:attrName>
                                        </p:attrNameLst>
                                      </p:cBhvr>
                                      <p:to>
                                        <p:strVal val="hidden"/>
                                      </p:to>
                                    </p:set>
                                  </p:childTnLst>
                                </p:cTn>
                              </p:par>
                              <p:par>
                                <p:cTn id="38" presetID="16" presetClass="exit" presetSubtype="21" fill="hold" grpId="1" nodeType="withEffect">
                                  <p:stCondLst>
                                    <p:cond delay="0"/>
                                  </p:stCondLst>
                                  <p:childTnLst>
                                    <p:animEffect transition="out" filter="barn(inVertical)">
                                      <p:cBhvr>
                                        <p:cTn id="39" dur="500"/>
                                        <p:tgtEl>
                                          <p:spTgt spid="78"/>
                                        </p:tgtEl>
                                      </p:cBhvr>
                                    </p:animEffect>
                                    <p:set>
                                      <p:cBhvr>
                                        <p:cTn id="40" dur="1" fill="hold">
                                          <p:stCondLst>
                                            <p:cond delay="499"/>
                                          </p:stCondLst>
                                        </p:cTn>
                                        <p:tgtEl>
                                          <p:spTgt spid="78"/>
                                        </p:tgtEl>
                                        <p:attrNameLst>
                                          <p:attrName>style.visibility</p:attrName>
                                        </p:attrNameLst>
                                      </p:cBhvr>
                                      <p:to>
                                        <p:strVal val="hidden"/>
                                      </p:to>
                                    </p:set>
                                  </p:childTnLst>
                                </p:cTn>
                              </p:par>
                              <p:par>
                                <p:cTn id="41" presetID="16" presetClass="exit" presetSubtype="21" fill="hold" grpId="1" nodeType="withEffect">
                                  <p:stCondLst>
                                    <p:cond delay="0"/>
                                  </p:stCondLst>
                                  <p:childTnLst>
                                    <p:animEffect transition="out" filter="barn(inVertical)">
                                      <p:cBhvr>
                                        <p:cTn id="42" dur="500"/>
                                        <p:tgtEl>
                                          <p:spTgt spid="79"/>
                                        </p:tgtEl>
                                      </p:cBhvr>
                                    </p:animEffect>
                                    <p:set>
                                      <p:cBhvr>
                                        <p:cTn id="43" dur="1" fill="hold">
                                          <p:stCondLst>
                                            <p:cond delay="499"/>
                                          </p:stCondLst>
                                        </p:cTn>
                                        <p:tgtEl>
                                          <p:spTgt spid="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5" grpId="1" animBg="1"/>
      <p:bldP spid="76" grpId="0" animBg="1"/>
      <p:bldP spid="76" grpId="1" animBg="1"/>
      <p:bldP spid="77" grpId="0" animBg="1"/>
      <p:bldP spid="77" grpId="1" animBg="1"/>
      <p:bldP spid="78" grpId="0" animBg="1"/>
      <p:bldP spid="78" grpId="1" animBg="1"/>
      <p:bldP spid="79" grpId="0" animBg="1"/>
      <p:bldP spid="7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 Administration</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9</a:t>
            </a:fld>
            <a:endParaRPr lang="en-US" dirty="0"/>
          </a:p>
        </p:txBody>
      </p:sp>
      <p:sp>
        <p:nvSpPr>
          <p:cNvPr id="4" name="Content Placeholder 3"/>
          <p:cNvSpPr>
            <a:spLocks noGrp="1"/>
          </p:cNvSpPr>
          <p:nvPr>
            <p:ph sz="quarter" idx="1"/>
          </p:nvPr>
        </p:nvSpPr>
        <p:spPr>
          <a:xfrm>
            <a:off x="3058886" y="3200402"/>
            <a:ext cx="5932714" cy="3570514"/>
          </a:xfrm>
        </p:spPr>
        <p:txBody>
          <a:bodyPr>
            <a:normAutofit/>
          </a:bodyPr>
          <a:lstStyle/>
          <a:p>
            <a:r>
              <a:rPr lang="en-US" dirty="0"/>
              <a:t>Tree is divided into zones</a:t>
            </a:r>
          </a:p>
          <a:p>
            <a:pPr lvl="1"/>
            <a:r>
              <a:rPr lang="en-US" dirty="0"/>
              <a:t>Each zone has an administrator</a:t>
            </a:r>
          </a:p>
          <a:p>
            <a:pPr lvl="1"/>
            <a:r>
              <a:rPr lang="en-US" dirty="0"/>
              <a:t>Responsible for the part of the </a:t>
            </a:r>
            <a:r>
              <a:rPr lang="en-US" dirty="0" err="1"/>
              <a:t>heirarchy</a:t>
            </a:r>
            <a:endParaRPr lang="en-US" dirty="0"/>
          </a:p>
          <a:p>
            <a:r>
              <a:rPr lang="en-US" dirty="0"/>
              <a:t>Example:</a:t>
            </a:r>
          </a:p>
          <a:p>
            <a:pPr lvl="1"/>
            <a:r>
              <a:rPr lang="en-US" dirty="0"/>
              <a:t>CCIS controls *.ccs.neu.edu</a:t>
            </a:r>
          </a:p>
          <a:p>
            <a:pPr lvl="1"/>
            <a:r>
              <a:rPr lang="en-US" dirty="0"/>
              <a:t>NEU controls *.neu.edu</a:t>
            </a:r>
          </a:p>
        </p:txBody>
      </p:sp>
      <p:sp>
        <p:nvSpPr>
          <p:cNvPr id="5" name="TextBox 4"/>
          <p:cNvSpPr txBox="1"/>
          <p:nvPr/>
        </p:nvSpPr>
        <p:spPr>
          <a:xfrm>
            <a:off x="3963867" y="1567932"/>
            <a:ext cx="835485" cy="461665"/>
          </a:xfrm>
          <a:prstGeom prst="rect">
            <a:avLst/>
          </a:prstGeom>
          <a:noFill/>
        </p:spPr>
        <p:txBody>
          <a:bodyPr wrap="none" rtlCol="0">
            <a:spAutoFit/>
          </a:bodyPr>
          <a:lstStyle/>
          <a:p>
            <a:r>
              <a:rPr lang="en-US" sz="2400" dirty="0"/>
              <a:t>Root</a:t>
            </a:r>
          </a:p>
        </p:txBody>
      </p:sp>
      <p:sp>
        <p:nvSpPr>
          <p:cNvPr id="6" name="TextBox 5"/>
          <p:cNvSpPr txBox="1"/>
          <p:nvPr/>
        </p:nvSpPr>
        <p:spPr>
          <a:xfrm>
            <a:off x="1209807" y="2606550"/>
            <a:ext cx="699230" cy="461665"/>
          </a:xfrm>
          <a:prstGeom prst="rect">
            <a:avLst/>
          </a:prstGeom>
          <a:noFill/>
        </p:spPr>
        <p:txBody>
          <a:bodyPr wrap="none" rtlCol="0">
            <a:spAutoFit/>
          </a:bodyPr>
          <a:lstStyle/>
          <a:p>
            <a:r>
              <a:rPr lang="en-US" sz="2400" dirty="0" err="1"/>
              <a:t>edu</a:t>
            </a:r>
            <a:endParaRPr lang="en-US" sz="2400" dirty="0"/>
          </a:p>
        </p:txBody>
      </p:sp>
      <p:sp>
        <p:nvSpPr>
          <p:cNvPr id="7" name="TextBox 6"/>
          <p:cNvSpPr txBox="1"/>
          <p:nvPr/>
        </p:nvSpPr>
        <p:spPr>
          <a:xfrm>
            <a:off x="2278215" y="2606550"/>
            <a:ext cx="766557" cy="461665"/>
          </a:xfrm>
          <a:prstGeom prst="rect">
            <a:avLst/>
          </a:prstGeom>
          <a:noFill/>
        </p:spPr>
        <p:txBody>
          <a:bodyPr wrap="none" rtlCol="0">
            <a:spAutoFit/>
          </a:bodyPr>
          <a:lstStyle/>
          <a:p>
            <a:r>
              <a:rPr lang="en-US" sz="2400" dirty="0"/>
              <a:t>com</a:t>
            </a:r>
          </a:p>
        </p:txBody>
      </p:sp>
      <p:sp>
        <p:nvSpPr>
          <p:cNvPr id="8" name="TextBox 7"/>
          <p:cNvSpPr txBox="1"/>
          <p:nvPr/>
        </p:nvSpPr>
        <p:spPr>
          <a:xfrm>
            <a:off x="3413950" y="2606550"/>
            <a:ext cx="681597" cy="461665"/>
          </a:xfrm>
          <a:prstGeom prst="rect">
            <a:avLst/>
          </a:prstGeom>
          <a:noFill/>
        </p:spPr>
        <p:txBody>
          <a:bodyPr wrap="none" rtlCol="0">
            <a:spAutoFit/>
          </a:bodyPr>
          <a:lstStyle/>
          <a:p>
            <a:r>
              <a:rPr lang="en-US" sz="2400" dirty="0" err="1"/>
              <a:t>gov</a:t>
            </a:r>
            <a:endParaRPr lang="en-US" sz="2400" dirty="0"/>
          </a:p>
        </p:txBody>
      </p:sp>
      <p:sp>
        <p:nvSpPr>
          <p:cNvPr id="9" name="TextBox 8"/>
          <p:cNvSpPr txBox="1"/>
          <p:nvPr/>
        </p:nvSpPr>
        <p:spPr>
          <a:xfrm>
            <a:off x="4464725" y="2606550"/>
            <a:ext cx="579005" cy="461665"/>
          </a:xfrm>
          <a:prstGeom prst="rect">
            <a:avLst/>
          </a:prstGeom>
          <a:noFill/>
        </p:spPr>
        <p:txBody>
          <a:bodyPr wrap="none" rtlCol="0">
            <a:spAutoFit/>
          </a:bodyPr>
          <a:lstStyle/>
          <a:p>
            <a:r>
              <a:rPr lang="en-US" sz="2400" dirty="0"/>
              <a:t>mil</a:t>
            </a:r>
          </a:p>
        </p:txBody>
      </p:sp>
      <p:sp>
        <p:nvSpPr>
          <p:cNvPr id="10" name="TextBox 9"/>
          <p:cNvSpPr txBox="1"/>
          <p:nvPr/>
        </p:nvSpPr>
        <p:spPr>
          <a:xfrm>
            <a:off x="5412908" y="2606550"/>
            <a:ext cx="630301" cy="461665"/>
          </a:xfrm>
          <a:prstGeom prst="rect">
            <a:avLst/>
          </a:prstGeom>
          <a:noFill/>
        </p:spPr>
        <p:txBody>
          <a:bodyPr wrap="none" rtlCol="0">
            <a:spAutoFit/>
          </a:bodyPr>
          <a:lstStyle/>
          <a:p>
            <a:r>
              <a:rPr lang="en-US" sz="2400" dirty="0"/>
              <a:t>org</a:t>
            </a:r>
          </a:p>
        </p:txBody>
      </p:sp>
      <p:sp>
        <p:nvSpPr>
          <p:cNvPr id="11" name="TextBox 10"/>
          <p:cNvSpPr txBox="1"/>
          <p:nvPr/>
        </p:nvSpPr>
        <p:spPr>
          <a:xfrm>
            <a:off x="296570" y="2606550"/>
            <a:ext cx="612668" cy="461665"/>
          </a:xfrm>
          <a:prstGeom prst="rect">
            <a:avLst/>
          </a:prstGeom>
          <a:noFill/>
        </p:spPr>
        <p:txBody>
          <a:bodyPr wrap="none" rtlCol="0">
            <a:spAutoFit/>
          </a:bodyPr>
          <a:lstStyle/>
          <a:p>
            <a:r>
              <a:rPr lang="en-US" sz="2400" dirty="0"/>
              <a:t>net</a:t>
            </a:r>
          </a:p>
        </p:txBody>
      </p:sp>
      <p:sp>
        <p:nvSpPr>
          <p:cNvPr id="12" name="TextBox 11"/>
          <p:cNvSpPr txBox="1"/>
          <p:nvPr/>
        </p:nvSpPr>
        <p:spPr>
          <a:xfrm>
            <a:off x="6501581" y="2606550"/>
            <a:ext cx="510076" cy="461665"/>
          </a:xfrm>
          <a:prstGeom prst="rect">
            <a:avLst/>
          </a:prstGeom>
          <a:noFill/>
        </p:spPr>
        <p:txBody>
          <a:bodyPr wrap="none" rtlCol="0">
            <a:spAutoFit/>
          </a:bodyPr>
          <a:lstStyle/>
          <a:p>
            <a:r>
              <a:rPr lang="en-US" sz="2400" dirty="0" err="1"/>
              <a:t>uk</a:t>
            </a:r>
            <a:endParaRPr lang="en-US" sz="2400" dirty="0"/>
          </a:p>
        </p:txBody>
      </p:sp>
      <p:sp>
        <p:nvSpPr>
          <p:cNvPr id="13" name="TextBox 12"/>
          <p:cNvSpPr txBox="1"/>
          <p:nvPr/>
        </p:nvSpPr>
        <p:spPr>
          <a:xfrm>
            <a:off x="7380835" y="2606550"/>
            <a:ext cx="372218" cy="461665"/>
          </a:xfrm>
          <a:prstGeom prst="rect">
            <a:avLst/>
          </a:prstGeom>
          <a:noFill/>
        </p:spPr>
        <p:txBody>
          <a:bodyPr wrap="none" rtlCol="0">
            <a:spAutoFit/>
          </a:bodyPr>
          <a:lstStyle/>
          <a:p>
            <a:r>
              <a:rPr lang="en-US" sz="2400" dirty="0" err="1"/>
              <a:t>fr</a:t>
            </a:r>
            <a:endParaRPr lang="en-US" sz="2400" dirty="0"/>
          </a:p>
        </p:txBody>
      </p:sp>
      <p:sp>
        <p:nvSpPr>
          <p:cNvPr id="14" name="TextBox 13"/>
          <p:cNvSpPr txBox="1"/>
          <p:nvPr/>
        </p:nvSpPr>
        <p:spPr>
          <a:xfrm>
            <a:off x="8122230" y="2606550"/>
            <a:ext cx="679994" cy="461665"/>
          </a:xfrm>
          <a:prstGeom prst="rect">
            <a:avLst/>
          </a:prstGeom>
          <a:noFill/>
        </p:spPr>
        <p:txBody>
          <a:bodyPr wrap="none" rtlCol="0">
            <a:spAutoFit/>
          </a:bodyPr>
          <a:lstStyle/>
          <a:p>
            <a:r>
              <a:rPr lang="en-US" sz="2400" dirty="0"/>
              <a:t>etc.</a:t>
            </a:r>
          </a:p>
        </p:txBody>
      </p:sp>
      <p:sp>
        <p:nvSpPr>
          <p:cNvPr id="15" name="TextBox 14"/>
          <p:cNvSpPr txBox="1"/>
          <p:nvPr/>
        </p:nvSpPr>
        <p:spPr>
          <a:xfrm>
            <a:off x="295298" y="3586262"/>
            <a:ext cx="699230" cy="461665"/>
          </a:xfrm>
          <a:prstGeom prst="rect">
            <a:avLst/>
          </a:prstGeom>
          <a:noFill/>
        </p:spPr>
        <p:txBody>
          <a:bodyPr wrap="none" rtlCol="0">
            <a:spAutoFit/>
          </a:bodyPr>
          <a:lstStyle/>
          <a:p>
            <a:r>
              <a:rPr lang="en-US" sz="2400" dirty="0" err="1"/>
              <a:t>neu</a:t>
            </a:r>
            <a:endParaRPr lang="en-US" sz="2400" dirty="0"/>
          </a:p>
        </p:txBody>
      </p:sp>
      <p:sp>
        <p:nvSpPr>
          <p:cNvPr id="16" name="TextBox 15"/>
          <p:cNvSpPr txBox="1"/>
          <p:nvPr/>
        </p:nvSpPr>
        <p:spPr>
          <a:xfrm>
            <a:off x="1452890" y="3586261"/>
            <a:ext cx="595035" cy="461665"/>
          </a:xfrm>
          <a:prstGeom prst="rect">
            <a:avLst/>
          </a:prstGeom>
          <a:noFill/>
        </p:spPr>
        <p:txBody>
          <a:bodyPr wrap="none" rtlCol="0">
            <a:spAutoFit/>
          </a:bodyPr>
          <a:lstStyle/>
          <a:p>
            <a:r>
              <a:rPr lang="en-US" sz="2400" dirty="0" err="1"/>
              <a:t>mit</a:t>
            </a:r>
            <a:endParaRPr lang="en-US" sz="2400" dirty="0"/>
          </a:p>
        </p:txBody>
      </p:sp>
      <p:sp>
        <p:nvSpPr>
          <p:cNvPr id="17" name="TextBox 16"/>
          <p:cNvSpPr txBox="1"/>
          <p:nvPr/>
        </p:nvSpPr>
        <p:spPr>
          <a:xfrm>
            <a:off x="118789" y="4707494"/>
            <a:ext cx="646331" cy="461665"/>
          </a:xfrm>
          <a:prstGeom prst="rect">
            <a:avLst/>
          </a:prstGeom>
          <a:noFill/>
        </p:spPr>
        <p:txBody>
          <a:bodyPr wrap="none" rtlCol="0">
            <a:spAutoFit/>
          </a:bodyPr>
          <a:lstStyle/>
          <a:p>
            <a:r>
              <a:rPr lang="en-US" sz="2400" dirty="0"/>
              <a:t>ccs</a:t>
            </a:r>
          </a:p>
        </p:txBody>
      </p:sp>
      <p:sp>
        <p:nvSpPr>
          <p:cNvPr id="20" name="TextBox 19"/>
          <p:cNvSpPr txBox="1"/>
          <p:nvPr/>
        </p:nvSpPr>
        <p:spPr>
          <a:xfrm>
            <a:off x="97819" y="5970245"/>
            <a:ext cx="853119" cy="461665"/>
          </a:xfrm>
          <a:prstGeom prst="rect">
            <a:avLst/>
          </a:prstGeom>
          <a:noFill/>
        </p:spPr>
        <p:txBody>
          <a:bodyPr wrap="none" rtlCol="0">
            <a:spAutoFit/>
          </a:bodyPr>
          <a:lstStyle/>
          <a:p>
            <a:r>
              <a:rPr lang="en-US" sz="2400" dirty="0"/>
              <a:t>www</a:t>
            </a:r>
          </a:p>
        </p:txBody>
      </p:sp>
      <p:sp>
        <p:nvSpPr>
          <p:cNvPr id="21" name="TextBox 20"/>
          <p:cNvSpPr txBox="1"/>
          <p:nvPr/>
        </p:nvSpPr>
        <p:spPr>
          <a:xfrm>
            <a:off x="1135185" y="5970245"/>
            <a:ext cx="837089" cy="461665"/>
          </a:xfrm>
          <a:prstGeom prst="rect">
            <a:avLst/>
          </a:prstGeom>
          <a:noFill/>
        </p:spPr>
        <p:txBody>
          <a:bodyPr wrap="none" rtlCol="0">
            <a:spAutoFit/>
          </a:bodyPr>
          <a:lstStyle/>
          <a:p>
            <a:r>
              <a:rPr lang="en-US" sz="2400" dirty="0"/>
              <a:t>login</a:t>
            </a:r>
          </a:p>
        </p:txBody>
      </p:sp>
      <p:sp>
        <p:nvSpPr>
          <p:cNvPr id="22" name="TextBox 21"/>
          <p:cNvSpPr txBox="1"/>
          <p:nvPr/>
        </p:nvSpPr>
        <p:spPr>
          <a:xfrm>
            <a:off x="2270920" y="5970245"/>
            <a:ext cx="750526" cy="461665"/>
          </a:xfrm>
          <a:prstGeom prst="rect">
            <a:avLst/>
          </a:prstGeom>
          <a:noFill/>
        </p:spPr>
        <p:txBody>
          <a:bodyPr wrap="none" rtlCol="0">
            <a:spAutoFit/>
          </a:bodyPr>
          <a:lstStyle/>
          <a:p>
            <a:r>
              <a:rPr lang="en-US" sz="2400" dirty="0"/>
              <a:t>mail</a:t>
            </a:r>
          </a:p>
        </p:txBody>
      </p:sp>
      <p:cxnSp>
        <p:nvCxnSpPr>
          <p:cNvPr id="24" name="Straight Connector 23"/>
          <p:cNvCxnSpPr>
            <a:stCxn id="5" idx="2"/>
            <a:endCxn id="6" idx="0"/>
          </p:cNvCxnSpPr>
          <p:nvPr/>
        </p:nvCxnSpPr>
        <p:spPr>
          <a:xfrm flipH="1">
            <a:off x="1559422" y="2029597"/>
            <a:ext cx="2822188"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5" idx="2"/>
            <a:endCxn id="7" idx="0"/>
          </p:cNvCxnSpPr>
          <p:nvPr/>
        </p:nvCxnSpPr>
        <p:spPr>
          <a:xfrm flipH="1">
            <a:off x="2661494" y="2029597"/>
            <a:ext cx="1720116"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5" idx="2"/>
            <a:endCxn id="8" idx="0"/>
          </p:cNvCxnSpPr>
          <p:nvPr/>
        </p:nvCxnSpPr>
        <p:spPr>
          <a:xfrm flipH="1">
            <a:off x="3754749" y="2029597"/>
            <a:ext cx="626861"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5" idx="2"/>
            <a:endCxn id="9" idx="0"/>
          </p:cNvCxnSpPr>
          <p:nvPr/>
        </p:nvCxnSpPr>
        <p:spPr>
          <a:xfrm>
            <a:off x="4381610" y="2029597"/>
            <a:ext cx="372618"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5" idx="2"/>
            <a:endCxn id="10" idx="0"/>
          </p:cNvCxnSpPr>
          <p:nvPr/>
        </p:nvCxnSpPr>
        <p:spPr>
          <a:xfrm>
            <a:off x="4381610" y="2029597"/>
            <a:ext cx="134644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5" idx="2"/>
            <a:endCxn id="11" idx="0"/>
          </p:cNvCxnSpPr>
          <p:nvPr/>
        </p:nvCxnSpPr>
        <p:spPr>
          <a:xfrm flipH="1">
            <a:off x="602904" y="2029597"/>
            <a:ext cx="3778706"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5" idx="2"/>
            <a:endCxn id="12" idx="0"/>
          </p:cNvCxnSpPr>
          <p:nvPr/>
        </p:nvCxnSpPr>
        <p:spPr>
          <a:xfrm>
            <a:off x="4381610" y="2029597"/>
            <a:ext cx="237500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5" idx="2"/>
            <a:endCxn id="13" idx="0"/>
          </p:cNvCxnSpPr>
          <p:nvPr/>
        </p:nvCxnSpPr>
        <p:spPr>
          <a:xfrm>
            <a:off x="4381610" y="2029597"/>
            <a:ext cx="3185334"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5" idx="2"/>
            <a:endCxn id="14" idx="0"/>
          </p:cNvCxnSpPr>
          <p:nvPr/>
        </p:nvCxnSpPr>
        <p:spPr>
          <a:xfrm>
            <a:off x="4381610" y="2029597"/>
            <a:ext cx="4080617"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6" idx="2"/>
            <a:endCxn id="15" idx="0"/>
          </p:cNvCxnSpPr>
          <p:nvPr/>
        </p:nvCxnSpPr>
        <p:spPr>
          <a:xfrm flipH="1">
            <a:off x="644913" y="3068215"/>
            <a:ext cx="914509" cy="51804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6" idx="2"/>
            <a:endCxn id="16" idx="0"/>
          </p:cNvCxnSpPr>
          <p:nvPr/>
        </p:nvCxnSpPr>
        <p:spPr>
          <a:xfrm>
            <a:off x="1559422" y="3068215"/>
            <a:ext cx="190986" cy="5180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5" idx="2"/>
            <a:endCxn id="17" idx="0"/>
          </p:cNvCxnSpPr>
          <p:nvPr/>
        </p:nvCxnSpPr>
        <p:spPr>
          <a:xfrm flipH="1">
            <a:off x="441955" y="4047927"/>
            <a:ext cx="202958" cy="6595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17" idx="2"/>
            <a:endCxn id="20" idx="0"/>
          </p:cNvCxnSpPr>
          <p:nvPr/>
        </p:nvCxnSpPr>
        <p:spPr>
          <a:xfrm>
            <a:off x="441955" y="5169159"/>
            <a:ext cx="82424"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17" idx="2"/>
            <a:endCxn id="21" idx="0"/>
          </p:cNvCxnSpPr>
          <p:nvPr/>
        </p:nvCxnSpPr>
        <p:spPr>
          <a:xfrm>
            <a:off x="441955" y="5169159"/>
            <a:ext cx="1111775"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17" idx="2"/>
            <a:endCxn id="22" idx="0"/>
          </p:cNvCxnSpPr>
          <p:nvPr/>
        </p:nvCxnSpPr>
        <p:spPr>
          <a:xfrm>
            <a:off x="441955" y="5169159"/>
            <a:ext cx="2204228" cy="80108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5" name="Rounded Rectangle 74"/>
          <p:cNvSpPr/>
          <p:nvPr/>
        </p:nvSpPr>
        <p:spPr>
          <a:xfrm>
            <a:off x="3777342" y="1578819"/>
            <a:ext cx="1230085" cy="450778"/>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p:cNvSpPr/>
          <p:nvPr/>
        </p:nvSpPr>
        <p:spPr>
          <a:xfrm>
            <a:off x="72996" y="4609791"/>
            <a:ext cx="2948450" cy="1910754"/>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ounded Rectangle 77"/>
          <p:cNvSpPr/>
          <p:nvPr/>
        </p:nvSpPr>
        <p:spPr>
          <a:xfrm>
            <a:off x="283706" y="3488559"/>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ounded Rectangle 78"/>
          <p:cNvSpPr/>
          <p:nvPr/>
        </p:nvSpPr>
        <p:spPr>
          <a:xfrm>
            <a:off x="1417336" y="3488559"/>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p:cNvSpPr/>
          <p:nvPr/>
        </p:nvSpPr>
        <p:spPr>
          <a:xfrm>
            <a:off x="6405114" y="2508847"/>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p:cNvSpPr/>
          <p:nvPr/>
        </p:nvSpPr>
        <p:spPr>
          <a:xfrm>
            <a:off x="7215439" y="2507020"/>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p:cNvSpPr/>
          <p:nvPr/>
        </p:nvSpPr>
        <p:spPr>
          <a:xfrm>
            <a:off x="5376554" y="2505193"/>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p:cNvSpPr/>
          <p:nvPr/>
        </p:nvSpPr>
        <p:spPr>
          <a:xfrm>
            <a:off x="4402723" y="2503366"/>
            <a:ext cx="703010"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p:cNvSpPr/>
          <p:nvPr/>
        </p:nvSpPr>
        <p:spPr>
          <a:xfrm>
            <a:off x="283706" y="2508847"/>
            <a:ext cx="3822547" cy="657069"/>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flipH="1">
            <a:off x="5531071" y="1578819"/>
            <a:ext cx="1480586" cy="570006"/>
            <a:chOff x="1219200" y="4876799"/>
            <a:chExt cx="5181605" cy="1384995"/>
          </a:xfrm>
        </p:grpSpPr>
        <p:sp>
          <p:nvSpPr>
            <p:cNvPr id="59" name="Rectangular Callout 58"/>
            <p:cNvSpPr/>
            <p:nvPr/>
          </p:nvSpPr>
          <p:spPr>
            <a:xfrm>
              <a:off x="1219200" y="4876799"/>
              <a:ext cx="5181602" cy="1384995"/>
            </a:xfrm>
            <a:prstGeom prst="wedgeRectCallout">
              <a:avLst>
                <a:gd name="adj1" fmla="val 91902"/>
                <a:gd name="adj2" fmla="val -10671"/>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61" name="TextBox 60"/>
            <p:cNvSpPr txBox="1"/>
            <p:nvPr/>
          </p:nvSpPr>
          <p:spPr>
            <a:xfrm>
              <a:off x="1219204" y="4876799"/>
              <a:ext cx="5181601" cy="75951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ICANN</a:t>
              </a:r>
            </a:p>
          </p:txBody>
        </p:sp>
      </p:grpSp>
      <p:grpSp>
        <p:nvGrpSpPr>
          <p:cNvPr id="62" name="Group 61"/>
          <p:cNvGrpSpPr/>
          <p:nvPr/>
        </p:nvGrpSpPr>
        <p:grpSpPr>
          <a:xfrm flipH="1">
            <a:off x="997842" y="1606400"/>
            <a:ext cx="1698173" cy="570006"/>
            <a:chOff x="1219200" y="4876799"/>
            <a:chExt cx="5181605" cy="1384995"/>
          </a:xfrm>
        </p:grpSpPr>
        <p:sp>
          <p:nvSpPr>
            <p:cNvPr id="64" name="Rectangular Callout 63"/>
            <p:cNvSpPr/>
            <p:nvPr/>
          </p:nvSpPr>
          <p:spPr>
            <a:xfrm>
              <a:off x="1219200" y="4876799"/>
              <a:ext cx="5181602" cy="1384995"/>
            </a:xfrm>
            <a:prstGeom prst="wedgeRectCallout">
              <a:avLst>
                <a:gd name="adj1" fmla="val -34463"/>
                <a:gd name="adj2" fmla="val 124922"/>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65" name="TextBox 64"/>
            <p:cNvSpPr txBox="1"/>
            <p:nvPr/>
          </p:nvSpPr>
          <p:spPr>
            <a:xfrm>
              <a:off x="1219204" y="4876799"/>
              <a:ext cx="5181601" cy="75951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err="1">
                  <a:ln>
                    <a:noFill/>
                  </a:ln>
                  <a:solidFill>
                    <a:sysClr val="window" lastClr="FFFFFF"/>
                  </a:solidFill>
                  <a:effectLst/>
                  <a:uLnTx/>
                  <a:uFillTx/>
                </a:rPr>
                <a:t>Verisign</a:t>
              </a:r>
              <a:endParaRPr kumimoji="0" lang="en-US" sz="2800" b="0" i="0" u="none" strike="noStrike" kern="0" cap="none" spc="0" normalizeH="0" baseline="0" noProof="0" dirty="0">
                <a:ln>
                  <a:noFill/>
                </a:ln>
                <a:solidFill>
                  <a:sysClr val="window" lastClr="FFFFFF"/>
                </a:solidFill>
                <a:effectLst/>
                <a:uLnTx/>
                <a:uFillTx/>
              </a:endParaRPr>
            </a:p>
          </p:txBody>
        </p:sp>
      </p:grpSp>
    </p:spTree>
    <p:extLst>
      <p:ext uri="{BB962C8B-B14F-4D97-AF65-F5344CB8AC3E}">
        <p14:creationId xmlns:p14="http://schemas.microsoft.com/office/powerpoint/2010/main" val="421714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anim calcmode="lin" valueType="num">
                                      <p:cBhvr>
                                        <p:cTn id="8" dur="500" fill="hold"/>
                                        <p:tgtEl>
                                          <p:spTgt spid="58"/>
                                        </p:tgtEl>
                                        <p:attrNameLst>
                                          <p:attrName>ppt_x</p:attrName>
                                        </p:attrNameLst>
                                      </p:cBhvr>
                                      <p:tavLst>
                                        <p:tav tm="0">
                                          <p:val>
                                            <p:strVal val="#ppt_x"/>
                                          </p:val>
                                        </p:tav>
                                        <p:tav tm="100000">
                                          <p:val>
                                            <p:strVal val="#ppt_x"/>
                                          </p:val>
                                        </p:tav>
                                      </p:tavLst>
                                    </p:anim>
                                    <p:anim calcmode="lin" valueType="num">
                                      <p:cBhvr>
                                        <p:cTn id="9" dur="5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fade">
                                      <p:cBhvr>
                                        <p:cTn id="14" dur="500"/>
                                        <p:tgtEl>
                                          <p:spTgt spid="62"/>
                                        </p:tgtEl>
                                      </p:cBhvr>
                                    </p:animEffect>
                                    <p:anim calcmode="lin" valueType="num">
                                      <p:cBhvr>
                                        <p:cTn id="15" dur="500" fill="hold"/>
                                        <p:tgtEl>
                                          <p:spTgt spid="62"/>
                                        </p:tgtEl>
                                        <p:attrNameLst>
                                          <p:attrName>ppt_x</p:attrName>
                                        </p:attrNameLst>
                                      </p:cBhvr>
                                      <p:tavLst>
                                        <p:tav tm="0">
                                          <p:val>
                                            <p:strVal val="#ppt_x"/>
                                          </p:val>
                                        </p:tav>
                                        <p:tav tm="100000">
                                          <p:val>
                                            <p:strVal val="#ppt_x"/>
                                          </p:val>
                                        </p:tav>
                                      </p:tavLst>
                                    </p:anim>
                                    <p:anim calcmode="lin" valueType="num">
                                      <p:cBhvr>
                                        <p:cTn id="16" dur="5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Hierarchy</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10</a:t>
            </a:fld>
            <a:endParaRPr lang="en-US" dirty="0"/>
          </a:p>
        </p:txBody>
      </p:sp>
      <p:sp>
        <p:nvSpPr>
          <p:cNvPr id="4" name="Content Placeholder 3"/>
          <p:cNvSpPr>
            <a:spLocks noGrp="1"/>
          </p:cNvSpPr>
          <p:nvPr>
            <p:ph sz="quarter" idx="1"/>
          </p:nvPr>
        </p:nvSpPr>
        <p:spPr/>
        <p:txBody>
          <a:bodyPr/>
          <a:lstStyle/>
          <a:p>
            <a:r>
              <a:rPr lang="en-US" dirty="0"/>
              <a:t>Functions of each DNS server:</a:t>
            </a:r>
          </a:p>
          <a:p>
            <a:pPr lvl="1"/>
            <a:r>
              <a:rPr lang="en-US" dirty="0"/>
              <a:t>Authority over a portion of the hierarchy</a:t>
            </a:r>
          </a:p>
          <a:p>
            <a:pPr lvl="2"/>
            <a:r>
              <a:rPr lang="en-US" dirty="0"/>
              <a:t>No need to store all DNS names</a:t>
            </a:r>
          </a:p>
          <a:p>
            <a:pPr lvl="1"/>
            <a:r>
              <a:rPr lang="en-US" dirty="0"/>
              <a:t>Store all the records for hosts/domains in its zone</a:t>
            </a:r>
          </a:p>
          <a:p>
            <a:pPr lvl="2"/>
            <a:r>
              <a:rPr lang="en-US" dirty="0"/>
              <a:t>May be replicated for robustness</a:t>
            </a:r>
          </a:p>
          <a:p>
            <a:pPr lvl="1"/>
            <a:r>
              <a:rPr lang="en-US" dirty="0"/>
              <a:t>Know the addresses of the root servers</a:t>
            </a:r>
          </a:p>
          <a:p>
            <a:pPr lvl="2"/>
            <a:r>
              <a:rPr lang="en-US" dirty="0"/>
              <a:t>Resolve queries for unknown names</a:t>
            </a:r>
          </a:p>
          <a:p>
            <a:r>
              <a:rPr lang="en-US" dirty="0"/>
              <a:t>Root servers know about all TLDs</a:t>
            </a:r>
          </a:p>
          <a:p>
            <a:pPr lvl="1"/>
            <a:r>
              <a:rPr lang="en-US" dirty="0"/>
              <a:t>The buck stops at the root servers</a:t>
            </a:r>
          </a:p>
        </p:txBody>
      </p:sp>
    </p:spTree>
    <p:extLst>
      <p:ext uri="{BB962C8B-B14F-4D97-AF65-F5344CB8AC3E}">
        <p14:creationId xmlns:p14="http://schemas.microsoft.com/office/powerpoint/2010/main" val="136677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anim calcmode="lin" valueType="num">
                                      <p:cBhvr>
                                        <p:cTn id="8"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7" end="7"/>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8" end="8"/>
                                            </p:txEl>
                                          </p:spTgt>
                                        </p:tgtEl>
                                        <p:attrNameLst>
                                          <p:attrName>style.visibility</p:attrName>
                                        </p:attrNameLst>
                                      </p:cBhvr>
                                      <p:to>
                                        <p:strVal val="visible"/>
                                      </p:to>
                                    </p:set>
                                    <p:animEffect transition="in" filter="fade">
                                      <p:cBhvr>
                                        <p:cTn id="12" dur="500"/>
                                        <p:tgtEl>
                                          <p:spTgt spid="4">
                                            <p:txEl>
                                              <p:pRg st="8" end="8"/>
                                            </p:txEl>
                                          </p:spTgt>
                                        </p:tgtEl>
                                      </p:cBhvr>
                                    </p:animEffect>
                                    <p:anim calcmode="lin" valueType="num">
                                      <p:cBhvr>
                                        <p:cTn id="1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 Name Servers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11</a:t>
            </a:fld>
            <a:endParaRPr lang="en-US" dirty="0"/>
          </a:p>
        </p:txBody>
      </p:sp>
      <p:sp>
        <p:nvSpPr>
          <p:cNvPr id="4" name="Content Placeholder 3"/>
          <p:cNvSpPr>
            <a:spLocks noGrp="1"/>
          </p:cNvSpPr>
          <p:nvPr>
            <p:ph sz="quarter" idx="1"/>
          </p:nvPr>
        </p:nvSpPr>
        <p:spPr/>
        <p:txBody>
          <a:bodyPr>
            <a:normAutofit fontScale="92500" lnSpcReduction="10000"/>
          </a:bodyPr>
          <a:lstStyle/>
          <a:p>
            <a:r>
              <a:rPr lang="en-US" sz="2800" dirty="0"/>
              <a:t>Responsible for the Root Zone File</a:t>
            </a:r>
          </a:p>
          <a:p>
            <a:pPr lvl="1"/>
            <a:r>
              <a:rPr lang="en-US" sz="2400" dirty="0"/>
              <a:t>Lists the TLDs and who controls them</a:t>
            </a:r>
          </a:p>
          <a:p>
            <a:pPr lvl="1"/>
            <a:r>
              <a:rPr lang="en-US" sz="2400" dirty="0"/>
              <a:t>~272KB in size</a:t>
            </a:r>
          </a:p>
          <a:p>
            <a:pPr lvl="1"/>
            <a:endParaRPr lang="en-US" sz="1900" dirty="0"/>
          </a:p>
          <a:p>
            <a:pPr marL="45720" indent="0">
              <a:buNone/>
            </a:pPr>
            <a:r>
              <a:rPr lang="en-US" sz="1800" dirty="0"/>
              <a:t>com.			172800	IN	NS	a.gtld-servers.net.</a:t>
            </a:r>
          </a:p>
          <a:p>
            <a:pPr marL="45720" indent="0">
              <a:buNone/>
            </a:pPr>
            <a:r>
              <a:rPr lang="en-US" sz="1800" dirty="0"/>
              <a:t>com.			172800	IN	NS	b.gtld-servers.net.</a:t>
            </a:r>
          </a:p>
          <a:p>
            <a:pPr marL="45720" indent="0">
              <a:buNone/>
            </a:pPr>
            <a:r>
              <a:rPr lang="en-US" sz="1800" dirty="0"/>
              <a:t>com.			172800	IN	NS	c.gtld-servers.net.</a:t>
            </a:r>
          </a:p>
          <a:p>
            <a:pPr marL="45720" indent="0">
              <a:buNone/>
            </a:pPr>
            <a:endParaRPr lang="en-US" sz="1700" dirty="0"/>
          </a:p>
          <a:p>
            <a:r>
              <a:rPr lang="en-US" sz="2800" dirty="0"/>
              <a:t>Administered by ICANN</a:t>
            </a:r>
          </a:p>
          <a:p>
            <a:pPr lvl="1"/>
            <a:r>
              <a:rPr lang="en-US" sz="2400" dirty="0"/>
              <a:t>13 root servers, labeled A</a:t>
            </a:r>
            <a:r>
              <a:rPr lang="en-US" sz="2400" dirty="0">
                <a:sym typeface="Wingdings" pitchFamily="2" charset="2"/>
              </a:rPr>
              <a:t>M</a:t>
            </a:r>
          </a:p>
          <a:p>
            <a:pPr lvl="1"/>
            <a:r>
              <a:rPr lang="en-US" sz="2400" dirty="0"/>
              <a:t>6 are </a:t>
            </a:r>
            <a:r>
              <a:rPr lang="en-US" sz="2400" dirty="0" err="1"/>
              <a:t>anycasted</a:t>
            </a:r>
            <a:r>
              <a:rPr lang="en-US" sz="2400" dirty="0"/>
              <a:t>, i.e. they are globally replicated</a:t>
            </a:r>
          </a:p>
          <a:p>
            <a:r>
              <a:rPr lang="en-US" sz="2800" dirty="0"/>
              <a:t>Contacted when names cannot be resolved</a:t>
            </a:r>
          </a:p>
          <a:p>
            <a:pPr lvl="1"/>
            <a:r>
              <a:rPr lang="en-US" sz="2400" dirty="0"/>
              <a:t>In practice, most systems cache this information</a:t>
            </a:r>
          </a:p>
          <a:p>
            <a:pPr marL="45720" indent="0">
              <a:buNone/>
            </a:pPr>
            <a:endParaRPr lang="en-US" sz="2400" dirty="0"/>
          </a:p>
        </p:txBody>
      </p:sp>
    </p:spTree>
    <p:extLst>
      <p:ext uri="{BB962C8B-B14F-4D97-AF65-F5344CB8AC3E}">
        <p14:creationId xmlns:p14="http://schemas.microsoft.com/office/powerpoint/2010/main" val="3794349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of the Roots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12</a:t>
            </a:fld>
            <a:endParaRPr lang="en-US" dirty="0"/>
          </a:p>
        </p:txBody>
      </p:sp>
      <p:pic>
        <p:nvPicPr>
          <p:cNvPr id="2050" name="Picture 2" descr="D:\Classes\CS 4700\assets\Root-curre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65346"/>
            <a:ext cx="9144000" cy="3911419"/>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13742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loud 4"/>
          <p:cNvSpPr/>
          <p:nvPr/>
        </p:nvSpPr>
        <p:spPr>
          <a:xfrm>
            <a:off x="1981200" y="1915892"/>
            <a:ext cx="4821466" cy="211114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Northeastern</a:t>
            </a:r>
          </a:p>
        </p:txBody>
      </p:sp>
      <p:sp>
        <p:nvSpPr>
          <p:cNvPr id="2" name="Title 1"/>
          <p:cNvSpPr>
            <a:spLocks noGrp="1"/>
          </p:cNvSpPr>
          <p:nvPr>
            <p:ph type="title"/>
          </p:nvPr>
        </p:nvSpPr>
        <p:spPr/>
        <p:txBody>
          <a:bodyPr/>
          <a:lstStyle/>
          <a:p>
            <a:r>
              <a:rPr lang="en-US" dirty="0"/>
              <a:t>Local Name Servers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13</a:t>
            </a:fld>
            <a:endParaRPr lang="en-US" dirty="0"/>
          </a:p>
        </p:txBody>
      </p:sp>
      <p:sp>
        <p:nvSpPr>
          <p:cNvPr id="4" name="Content Placeholder 3"/>
          <p:cNvSpPr>
            <a:spLocks noGrp="1"/>
          </p:cNvSpPr>
          <p:nvPr>
            <p:ph sz="quarter" idx="1"/>
          </p:nvPr>
        </p:nvSpPr>
        <p:spPr>
          <a:xfrm>
            <a:off x="87084" y="4103240"/>
            <a:ext cx="8991600" cy="2754763"/>
          </a:xfrm>
        </p:spPr>
        <p:txBody>
          <a:bodyPr>
            <a:normAutofit/>
          </a:bodyPr>
          <a:lstStyle/>
          <a:p>
            <a:r>
              <a:rPr lang="en-US" dirty="0"/>
              <a:t>Each ISP/company has a local, default name server</a:t>
            </a:r>
          </a:p>
          <a:p>
            <a:r>
              <a:rPr lang="en-US" dirty="0"/>
              <a:t>Often configured via DHCP</a:t>
            </a:r>
          </a:p>
          <a:p>
            <a:r>
              <a:rPr lang="en-US" dirty="0"/>
              <a:t>Hosts begin DNS queries by contacting the local name server</a:t>
            </a:r>
          </a:p>
          <a:p>
            <a:r>
              <a:rPr lang="en-US" dirty="0"/>
              <a:t>Frequently cache query results</a:t>
            </a:r>
          </a:p>
        </p:txBody>
      </p:sp>
      <p:pic>
        <p:nvPicPr>
          <p:cNvPr id="1026"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797" y="1915892"/>
            <a:ext cx="826861" cy="826861"/>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936" y="2405976"/>
            <a:ext cx="826861" cy="82686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797" y="3200179"/>
            <a:ext cx="826861" cy="826861"/>
          </a:xfrm>
          <a:prstGeom prst="rect">
            <a:avLst/>
          </a:prstGeom>
          <a:noFill/>
          <a:extLst>
            <a:ext uri="{909E8E84-426E-40dd-AFC4-6F175D3DCCD1}">
              <a14:hiddenFill xmlns="" xmlns:a14="http://schemas.microsoft.com/office/drawing/2010/main">
                <a:solidFill>
                  <a:srgbClr val="FFFFFF"/>
                </a:solidFill>
              </a14:hiddenFill>
            </a:ext>
          </a:extLst>
        </p:spPr>
      </p:pic>
      <p:pic>
        <p:nvPicPr>
          <p:cNvPr id="1027"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0642" y="2275122"/>
            <a:ext cx="1219200" cy="1219200"/>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Up Arrow 9"/>
          <p:cNvSpPr/>
          <p:nvPr/>
        </p:nvSpPr>
        <p:spPr>
          <a:xfrm rot="4760621">
            <a:off x="4105371" y="2588360"/>
            <a:ext cx="553978" cy="1861157"/>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 name="Group 10"/>
          <p:cNvGrpSpPr/>
          <p:nvPr/>
        </p:nvGrpSpPr>
        <p:grpSpPr>
          <a:xfrm flipH="1">
            <a:off x="3959448" y="1067101"/>
            <a:ext cx="2410731" cy="1005472"/>
            <a:chOff x="1219200" y="4876799"/>
            <a:chExt cx="5181605" cy="1384995"/>
          </a:xfrm>
        </p:grpSpPr>
        <p:sp>
          <p:nvSpPr>
            <p:cNvPr id="12" name="Rectangular Callout 11"/>
            <p:cNvSpPr/>
            <p:nvPr/>
          </p:nvSpPr>
          <p:spPr>
            <a:xfrm>
              <a:off x="1219200" y="4876799"/>
              <a:ext cx="5181603" cy="1384995"/>
            </a:xfrm>
            <a:prstGeom prst="wedgeRectCallout">
              <a:avLst>
                <a:gd name="adj1" fmla="val 25142"/>
                <a:gd name="adj2" fmla="val 159567"/>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13" name="TextBox 12"/>
            <p:cNvSpPr txBox="1"/>
            <p:nvPr/>
          </p:nvSpPr>
          <p:spPr>
            <a:xfrm>
              <a:off x="1219203" y="4876799"/>
              <a:ext cx="5181602"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Where is google.com?</a:t>
              </a:r>
            </a:p>
          </p:txBody>
        </p:sp>
      </p:grpSp>
      <p:sp>
        <p:nvSpPr>
          <p:cNvPr id="14" name="Up Arrow 13"/>
          <p:cNvSpPr/>
          <p:nvPr/>
        </p:nvSpPr>
        <p:spPr>
          <a:xfrm rot="5400000">
            <a:off x="7205450" y="2087271"/>
            <a:ext cx="553978" cy="1594902"/>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578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anim calcmode="lin" valueType="num">
                                      <p:cBhvr>
                                        <p:cTn id="12" dur="500" fill="hold"/>
                                        <p:tgtEl>
                                          <p:spTgt spid="11"/>
                                        </p:tgtEl>
                                        <p:attrNameLst>
                                          <p:attrName>ppt_x</p:attrName>
                                        </p:attrNameLst>
                                      </p:cBhvr>
                                      <p:tavLst>
                                        <p:tav tm="0">
                                          <p:val>
                                            <p:strVal val="#ppt_x"/>
                                          </p:val>
                                        </p:tav>
                                        <p:tav tm="100000">
                                          <p:val>
                                            <p:strVal val="#ppt_x"/>
                                          </p:val>
                                        </p:tav>
                                      </p:tavLst>
                                    </p:anim>
                                    <p:anim calcmode="lin" valueType="num">
                                      <p:cBhvr>
                                        <p:cTn id="1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Authoritative Name Servers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14</a:t>
            </a:fld>
            <a:endParaRPr lang="en-US" dirty="0"/>
          </a:p>
        </p:txBody>
      </p:sp>
      <p:sp>
        <p:nvSpPr>
          <p:cNvPr id="4" name="Content Placeholder 3"/>
          <p:cNvSpPr>
            <a:spLocks noGrp="1"/>
          </p:cNvSpPr>
          <p:nvPr>
            <p:ph sz="quarter" idx="1"/>
          </p:nvPr>
        </p:nvSpPr>
        <p:spPr>
          <a:xfrm>
            <a:off x="152400" y="5900058"/>
            <a:ext cx="8839200" cy="859971"/>
          </a:xfrm>
        </p:spPr>
        <p:txBody>
          <a:bodyPr/>
          <a:lstStyle/>
          <a:p>
            <a:r>
              <a:rPr lang="en-US" dirty="0"/>
              <a:t>Stores the </a:t>
            </a:r>
            <a:r>
              <a:rPr lang="en-US" dirty="0" err="1"/>
              <a:t>name</a:t>
            </a:r>
            <a:r>
              <a:rPr lang="en-US" dirty="0" err="1">
                <a:sym typeface="Wingdings" pitchFamily="2" charset="2"/>
              </a:rPr>
              <a:t>IP</a:t>
            </a:r>
            <a:r>
              <a:rPr lang="en-US" dirty="0">
                <a:sym typeface="Wingdings" pitchFamily="2" charset="2"/>
              </a:rPr>
              <a:t> mapping for a given host</a:t>
            </a:r>
            <a:endParaRPr lang="en-US" dirty="0"/>
          </a:p>
        </p:txBody>
      </p:sp>
      <p:sp>
        <p:nvSpPr>
          <p:cNvPr id="5" name="Cloud 4"/>
          <p:cNvSpPr/>
          <p:nvPr/>
        </p:nvSpPr>
        <p:spPr>
          <a:xfrm>
            <a:off x="5717031" y="2703386"/>
            <a:ext cx="3119218" cy="211114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Northeastern</a:t>
            </a:r>
          </a:p>
        </p:txBody>
      </p:sp>
      <p:pic>
        <p:nvPicPr>
          <p:cNvPr id="6"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9388" y="2436950"/>
            <a:ext cx="826861" cy="82686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9323" y="3073420"/>
            <a:ext cx="838208" cy="838208"/>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flipH="1">
            <a:off x="252162" y="1839990"/>
            <a:ext cx="2632552" cy="1005472"/>
            <a:chOff x="1219200" y="4876799"/>
            <a:chExt cx="5181605" cy="1384995"/>
          </a:xfrm>
        </p:grpSpPr>
        <p:sp>
          <p:nvSpPr>
            <p:cNvPr id="9" name="Rectangular Callout 8"/>
            <p:cNvSpPr/>
            <p:nvPr/>
          </p:nvSpPr>
          <p:spPr>
            <a:xfrm>
              <a:off x="1219200" y="4876799"/>
              <a:ext cx="5181603" cy="1384995"/>
            </a:xfrm>
            <a:prstGeom prst="wedgeRectCallout">
              <a:avLst>
                <a:gd name="adj1" fmla="val 33826"/>
                <a:gd name="adj2" fmla="val 85947"/>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10" name="TextBox 9"/>
            <p:cNvSpPr txBox="1"/>
            <p:nvPr/>
          </p:nvSpPr>
          <p:spPr>
            <a:xfrm>
              <a:off x="1219202" y="4876799"/>
              <a:ext cx="5181603"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Where is www.neu.edu?</a:t>
              </a:r>
            </a:p>
          </p:txBody>
        </p:sp>
      </p:grpSp>
      <p:sp>
        <p:nvSpPr>
          <p:cNvPr id="11" name="Up Arrow 10"/>
          <p:cNvSpPr/>
          <p:nvPr/>
        </p:nvSpPr>
        <p:spPr>
          <a:xfrm rot="5400000">
            <a:off x="633825" y="3059985"/>
            <a:ext cx="553978" cy="84397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7528" y="3062867"/>
            <a:ext cx="838208" cy="838208"/>
          </a:xfrm>
          <a:prstGeom prst="rect">
            <a:avLst/>
          </a:prstGeom>
          <a:noFill/>
          <a:extLst>
            <a:ext uri="{909E8E84-426E-40dd-AFC4-6F175D3DCCD1}">
              <a14:hiddenFill xmlns="" xmlns:a14="http://schemas.microsoft.com/office/drawing/2010/main">
                <a:solidFill>
                  <a:srgbClr val="FFFFFF"/>
                </a:solidFill>
              </a14:hiddenFill>
            </a:ext>
          </a:extLst>
        </p:spPr>
      </p:pic>
      <p:pic>
        <p:nvPicPr>
          <p:cNvPr id="13"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5421" y="3073420"/>
            <a:ext cx="838208" cy="838208"/>
          </a:xfrm>
          <a:prstGeom prst="rect">
            <a:avLst/>
          </a:prstGeom>
          <a:noFill/>
          <a:extLst>
            <a:ext uri="{909E8E84-426E-40dd-AFC4-6F175D3DCCD1}">
              <a14:hiddenFill xmlns="" xmlns:a14="http://schemas.microsoft.com/office/drawing/2010/main">
                <a:solidFill>
                  <a:srgbClr val="FFFFFF"/>
                </a:solidFill>
              </a14:hiddenFill>
            </a:ext>
          </a:extLst>
        </p:spPr>
      </p:pic>
      <p:sp>
        <p:nvSpPr>
          <p:cNvPr id="14" name="Up Arrow 13"/>
          <p:cNvSpPr/>
          <p:nvPr/>
        </p:nvSpPr>
        <p:spPr>
          <a:xfrm rot="5400000">
            <a:off x="2504675" y="3070539"/>
            <a:ext cx="553978" cy="84397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Up Arrow 14"/>
          <p:cNvSpPr/>
          <p:nvPr/>
        </p:nvSpPr>
        <p:spPr>
          <a:xfrm rot="5400000">
            <a:off x="4370348" y="3059985"/>
            <a:ext cx="553978" cy="84397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a:off x="1458889" y="3989527"/>
            <a:ext cx="835485" cy="461665"/>
          </a:xfrm>
          <a:prstGeom prst="rect">
            <a:avLst/>
          </a:prstGeom>
          <a:noFill/>
        </p:spPr>
        <p:txBody>
          <a:bodyPr wrap="none" rtlCol="0">
            <a:spAutoFit/>
          </a:bodyPr>
          <a:lstStyle/>
          <a:p>
            <a:pPr algn="ctr"/>
            <a:r>
              <a:rPr lang="en-US" sz="2400" dirty="0"/>
              <a:t>Root</a:t>
            </a:r>
          </a:p>
        </p:txBody>
      </p:sp>
      <p:sp>
        <p:nvSpPr>
          <p:cNvPr id="17" name="TextBox 16"/>
          <p:cNvSpPr txBox="1"/>
          <p:nvPr/>
        </p:nvSpPr>
        <p:spPr>
          <a:xfrm>
            <a:off x="3364399" y="3989527"/>
            <a:ext cx="699230" cy="461665"/>
          </a:xfrm>
          <a:prstGeom prst="rect">
            <a:avLst/>
          </a:prstGeom>
          <a:noFill/>
        </p:spPr>
        <p:txBody>
          <a:bodyPr wrap="none" rtlCol="0">
            <a:spAutoFit/>
          </a:bodyPr>
          <a:lstStyle/>
          <a:p>
            <a:pPr algn="ctr"/>
            <a:r>
              <a:rPr lang="en-US" sz="2400" dirty="0" err="1"/>
              <a:t>edu</a:t>
            </a:r>
            <a:endParaRPr lang="en-US" sz="2400" dirty="0"/>
          </a:p>
        </p:txBody>
      </p:sp>
      <p:sp>
        <p:nvSpPr>
          <p:cNvPr id="18" name="TextBox 17"/>
          <p:cNvSpPr txBox="1"/>
          <p:nvPr/>
        </p:nvSpPr>
        <p:spPr>
          <a:xfrm>
            <a:off x="5138812" y="3989527"/>
            <a:ext cx="699230" cy="461665"/>
          </a:xfrm>
          <a:prstGeom prst="rect">
            <a:avLst/>
          </a:prstGeom>
          <a:noFill/>
        </p:spPr>
        <p:txBody>
          <a:bodyPr wrap="none" rtlCol="0">
            <a:spAutoFit/>
          </a:bodyPr>
          <a:lstStyle/>
          <a:p>
            <a:pPr algn="ctr"/>
            <a:r>
              <a:rPr lang="en-US" sz="2400" dirty="0" err="1"/>
              <a:t>neu</a:t>
            </a:r>
            <a:endParaRPr lang="en-US" sz="2400" dirty="0"/>
          </a:p>
        </p:txBody>
      </p:sp>
      <p:sp>
        <p:nvSpPr>
          <p:cNvPr id="19" name="TextBox 18"/>
          <p:cNvSpPr txBox="1"/>
          <p:nvPr/>
        </p:nvSpPr>
        <p:spPr>
          <a:xfrm>
            <a:off x="6991801" y="1975285"/>
            <a:ext cx="2035174" cy="461665"/>
          </a:xfrm>
          <a:prstGeom prst="rect">
            <a:avLst/>
          </a:prstGeom>
          <a:noFill/>
        </p:spPr>
        <p:txBody>
          <a:bodyPr wrap="none" rtlCol="0">
            <a:spAutoFit/>
          </a:bodyPr>
          <a:lstStyle/>
          <a:p>
            <a:pPr algn="ctr"/>
            <a:r>
              <a:rPr lang="en-US" sz="2400" dirty="0"/>
              <a:t>www.neu.edu</a:t>
            </a:r>
          </a:p>
        </p:txBody>
      </p:sp>
      <p:cxnSp>
        <p:nvCxnSpPr>
          <p:cNvPr id="22" name="Straight Connector 21"/>
          <p:cNvCxnSpPr/>
          <p:nvPr/>
        </p:nvCxnSpPr>
        <p:spPr>
          <a:xfrm flipV="1">
            <a:off x="6019800" y="2850381"/>
            <a:ext cx="1894114" cy="631590"/>
          </a:xfrm>
          <a:prstGeom prst="line">
            <a:avLst/>
          </a:prstGeom>
          <a:ln w="76200">
            <a:solidFill>
              <a:schemeClr val="accent3"/>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6" name="Up Arrow Callout 25"/>
          <p:cNvSpPr/>
          <p:nvPr/>
        </p:nvSpPr>
        <p:spPr>
          <a:xfrm>
            <a:off x="4680853" y="4440305"/>
            <a:ext cx="1905000" cy="1296469"/>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Authority for ‘neu.edu’</a:t>
            </a:r>
          </a:p>
        </p:txBody>
      </p:sp>
      <p:grpSp>
        <p:nvGrpSpPr>
          <p:cNvPr id="27" name="Group 26"/>
          <p:cNvGrpSpPr/>
          <p:nvPr/>
        </p:nvGrpSpPr>
        <p:grpSpPr>
          <a:xfrm flipH="1">
            <a:off x="3419905" y="1611390"/>
            <a:ext cx="2632552" cy="1005472"/>
            <a:chOff x="1219200" y="4876799"/>
            <a:chExt cx="5181605" cy="1384995"/>
          </a:xfrm>
        </p:grpSpPr>
        <p:sp>
          <p:nvSpPr>
            <p:cNvPr id="28" name="Rectangular Callout 27"/>
            <p:cNvSpPr/>
            <p:nvPr/>
          </p:nvSpPr>
          <p:spPr>
            <a:xfrm>
              <a:off x="1219200" y="4876799"/>
              <a:ext cx="5181603" cy="1384995"/>
            </a:xfrm>
            <a:prstGeom prst="wedgeRectCallout">
              <a:avLst>
                <a:gd name="adj1" fmla="val -32748"/>
                <a:gd name="adj2" fmla="val 93526"/>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29" name="TextBox 28"/>
            <p:cNvSpPr txBox="1"/>
            <p:nvPr/>
          </p:nvSpPr>
          <p:spPr>
            <a:xfrm>
              <a:off x="1219202" y="4876799"/>
              <a:ext cx="5181603"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www.neu.edu = 155.33.17.68</a:t>
              </a:r>
            </a:p>
          </p:txBody>
        </p:sp>
      </p:grpSp>
      <p:sp>
        <p:nvSpPr>
          <p:cNvPr id="25" name="Up Arrow Callout 24"/>
          <p:cNvSpPr/>
          <p:nvPr/>
        </p:nvSpPr>
        <p:spPr>
          <a:xfrm>
            <a:off x="2928257" y="4440305"/>
            <a:ext cx="1535784" cy="1296469"/>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Authority for ‘</a:t>
            </a:r>
            <a:r>
              <a:rPr lang="en-US" sz="2400" dirty="0" err="1"/>
              <a:t>edu</a:t>
            </a:r>
            <a:r>
              <a:rPr lang="en-US" sz="2400" dirty="0"/>
              <a:t>’</a:t>
            </a:r>
          </a:p>
        </p:txBody>
      </p:sp>
    </p:spTree>
    <p:extLst>
      <p:ext uri="{BB962C8B-B14F-4D97-AF65-F5344CB8AC3E}">
        <p14:creationId xmlns:p14="http://schemas.microsoft.com/office/powerpoint/2010/main" val="333509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anim calcmode="lin" valueType="num">
                                      <p:cBhvr>
                                        <p:cTn id="8" dur="500" fill="hold"/>
                                        <p:tgtEl>
                                          <p:spTgt spid="25"/>
                                        </p:tgtEl>
                                        <p:attrNameLst>
                                          <p:attrName>ppt_x</p:attrName>
                                        </p:attrNameLst>
                                      </p:cBhvr>
                                      <p:tavLst>
                                        <p:tav tm="0">
                                          <p:val>
                                            <p:strVal val="#ppt_x"/>
                                          </p:val>
                                        </p:tav>
                                        <p:tav tm="100000">
                                          <p:val>
                                            <p:strVal val="#ppt_x"/>
                                          </p:val>
                                        </p:tav>
                                      </p:tavLst>
                                    </p:anim>
                                    <p:anim calcmode="lin" valueType="num">
                                      <p:cBhvr>
                                        <p:cTn id="9" dur="5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anim calcmode="lin" valueType="num">
                                      <p:cBhvr>
                                        <p:cTn id="14" dur="500" fill="hold"/>
                                        <p:tgtEl>
                                          <p:spTgt spid="26"/>
                                        </p:tgtEl>
                                        <p:attrNameLst>
                                          <p:attrName>ppt_x</p:attrName>
                                        </p:attrNameLst>
                                      </p:cBhvr>
                                      <p:tavLst>
                                        <p:tav tm="0">
                                          <p:val>
                                            <p:strVal val="#ppt_x"/>
                                          </p:val>
                                        </p:tav>
                                        <p:tav tm="100000">
                                          <p:val>
                                            <p:strVal val="#ppt_x"/>
                                          </p:val>
                                        </p:tav>
                                      </p:tavLst>
                                    </p:anim>
                                    <p:anim calcmode="lin" valueType="num">
                                      <p:cBhvr>
                                        <p:cTn id="15"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par>
                          <p:cTn id="21" fill="hold">
                            <p:stCondLst>
                              <p:cond delay="500"/>
                            </p:stCondLst>
                            <p:childTnLst>
                              <p:par>
                                <p:cTn id="22" presetID="42"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anim calcmode="lin" valueType="num">
                                      <p:cBhvr>
                                        <p:cTn id="25" dur="500" fill="hold"/>
                                        <p:tgtEl>
                                          <p:spTgt spid="8"/>
                                        </p:tgtEl>
                                        <p:attrNameLst>
                                          <p:attrName>ppt_x</p:attrName>
                                        </p:attrNameLst>
                                      </p:cBhvr>
                                      <p:tavLst>
                                        <p:tav tm="0">
                                          <p:val>
                                            <p:strVal val="#ppt_x"/>
                                          </p:val>
                                        </p:tav>
                                        <p:tav tm="100000">
                                          <p:val>
                                            <p:strVal val="#ppt_x"/>
                                          </p:val>
                                        </p:tav>
                                      </p:tavLst>
                                    </p:anim>
                                    <p:anim calcmode="lin" valueType="num">
                                      <p:cBhvr>
                                        <p:cTn id="26"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childTnLst>
                          </p:cTn>
                        </p:par>
                        <p:par>
                          <p:cTn id="37" fill="hold">
                            <p:stCondLst>
                              <p:cond delay="500"/>
                            </p:stCondLst>
                            <p:childTnLst>
                              <p:par>
                                <p:cTn id="38" presetID="42" presetClass="entr" presetSubtype="0"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anim calcmode="lin" valueType="num">
                                      <p:cBhvr>
                                        <p:cTn id="41" dur="500" fill="hold"/>
                                        <p:tgtEl>
                                          <p:spTgt spid="27"/>
                                        </p:tgtEl>
                                        <p:attrNameLst>
                                          <p:attrName>ppt_x</p:attrName>
                                        </p:attrNameLst>
                                      </p:cBhvr>
                                      <p:tavLst>
                                        <p:tav tm="0">
                                          <p:val>
                                            <p:strVal val="#ppt_x"/>
                                          </p:val>
                                        </p:tav>
                                        <p:tav tm="100000">
                                          <p:val>
                                            <p:strVal val="#ppt_x"/>
                                          </p:val>
                                        </p:tav>
                                      </p:tavLst>
                                    </p:anim>
                                    <p:anim calcmode="lin" valueType="num">
                                      <p:cBhvr>
                                        <p:cTn id="42" dur="5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26"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Domain Name Resolution</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15</a:t>
            </a:fld>
            <a:endParaRPr lang="en-US" dirty="0"/>
          </a:p>
        </p:txBody>
      </p:sp>
      <p:sp>
        <p:nvSpPr>
          <p:cNvPr id="4" name="Content Placeholder 3"/>
          <p:cNvSpPr>
            <a:spLocks noGrp="1"/>
          </p:cNvSpPr>
          <p:nvPr>
            <p:ph sz="quarter" idx="1"/>
          </p:nvPr>
        </p:nvSpPr>
        <p:spPr>
          <a:xfrm>
            <a:off x="97970" y="1600200"/>
            <a:ext cx="8991600" cy="5105400"/>
          </a:xfrm>
        </p:spPr>
        <p:txBody>
          <a:bodyPr>
            <a:normAutofit/>
          </a:bodyPr>
          <a:lstStyle/>
          <a:p>
            <a:r>
              <a:rPr lang="en-US" dirty="0"/>
              <a:t>Every host knows a local DNS server</a:t>
            </a:r>
          </a:p>
          <a:p>
            <a:pPr lvl="1"/>
            <a:r>
              <a:rPr lang="en-US" dirty="0"/>
              <a:t>Sends all queries to the local DNS server</a:t>
            </a:r>
          </a:p>
          <a:p>
            <a:r>
              <a:rPr lang="en-US" dirty="0"/>
              <a:t>If the local DNS can answer the query, then you’re done</a:t>
            </a:r>
          </a:p>
          <a:p>
            <a:pPr marL="880110" lvl="1" indent="-514350">
              <a:buFont typeface="+mj-lt"/>
              <a:buAutoNum type="arabicPeriod"/>
            </a:pPr>
            <a:r>
              <a:rPr lang="en-US" dirty="0"/>
              <a:t>Local server is also the authoritative server for that name</a:t>
            </a:r>
          </a:p>
          <a:p>
            <a:pPr marL="880110" lvl="1" indent="-514350">
              <a:buFont typeface="+mj-lt"/>
              <a:buAutoNum type="arabicPeriod"/>
            </a:pPr>
            <a:r>
              <a:rPr lang="en-US" dirty="0"/>
              <a:t>Local server has cached the record for that name</a:t>
            </a:r>
          </a:p>
          <a:p>
            <a:r>
              <a:rPr lang="en-US" dirty="0"/>
              <a:t>Otherwise, go down the hierarchy and search for the authoritative name server</a:t>
            </a:r>
          </a:p>
          <a:p>
            <a:pPr lvl="1"/>
            <a:r>
              <a:rPr lang="en-US" dirty="0"/>
              <a:t>Every local DNS server knows the root servers</a:t>
            </a:r>
          </a:p>
          <a:p>
            <a:pPr lvl="1"/>
            <a:r>
              <a:rPr lang="en-US" dirty="0"/>
              <a:t>Use cache to skip steps if possible</a:t>
            </a:r>
          </a:p>
          <a:p>
            <a:pPr lvl="2"/>
            <a:r>
              <a:rPr lang="en-US" dirty="0"/>
              <a:t>e.g. skip the root and go directly to .</a:t>
            </a:r>
            <a:r>
              <a:rPr lang="en-US" dirty="0" err="1"/>
              <a:t>edu</a:t>
            </a:r>
            <a:r>
              <a:rPr lang="en-US" dirty="0"/>
              <a:t> if the root file is cached </a:t>
            </a:r>
          </a:p>
        </p:txBody>
      </p:sp>
    </p:spTree>
    <p:extLst>
      <p:ext uri="{BB962C8B-B14F-4D97-AF65-F5344CB8AC3E}">
        <p14:creationId xmlns:p14="http://schemas.microsoft.com/office/powerpoint/2010/main" val="174486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anim calcmode="lin" valueType="num">
                                      <p:cBhvr>
                                        <p:cTn id="8"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anim calcmode="lin" valueType="num">
                                      <p:cBhvr>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anim calcmode="lin" valueType="num">
                                      <p:cBhvr>
                                        <p:cTn id="1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anim calcmode="lin" valueType="num">
                                      <p:cBhvr>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6" dur="500" fill="hold"/>
                                        <p:tgtEl>
                                          <p:spTgt spid="4">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anim calcmode="lin" valueType="num">
                                      <p:cBhvr>
                                        <p:cTn id="30"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1" dur="500" fill="hold"/>
                                        <p:tgtEl>
                                          <p:spTgt spid="4">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anim calcmode="lin" valueType="num">
                                      <p:cBhvr>
                                        <p:cTn id="3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6" dur="500" fill="hold"/>
                                        <p:tgtEl>
                                          <p:spTgt spid="4">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anim calcmode="lin" valueType="num">
                                      <p:cBhvr>
                                        <p:cTn id="40"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1" dur="5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DNS Query</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16</a:t>
            </a:fld>
            <a:endParaRPr lang="en-US" dirty="0"/>
          </a:p>
        </p:txBody>
      </p:sp>
      <p:sp>
        <p:nvSpPr>
          <p:cNvPr id="4" name="Content Placeholder 3"/>
          <p:cNvSpPr>
            <a:spLocks noGrp="1"/>
          </p:cNvSpPr>
          <p:nvPr>
            <p:ph sz="quarter" idx="1"/>
          </p:nvPr>
        </p:nvSpPr>
        <p:spPr>
          <a:xfrm>
            <a:off x="0" y="2542492"/>
            <a:ext cx="4354286" cy="3842657"/>
          </a:xfrm>
        </p:spPr>
        <p:txBody>
          <a:bodyPr>
            <a:normAutofit/>
          </a:bodyPr>
          <a:lstStyle/>
          <a:p>
            <a:r>
              <a:rPr lang="en-US" sz="2400" dirty="0"/>
              <a:t>Puts the burden of resolution on the contacted name server</a:t>
            </a:r>
          </a:p>
          <a:p>
            <a:r>
              <a:rPr lang="en-US" sz="2400" dirty="0"/>
              <a:t>How does </a:t>
            </a:r>
            <a:r>
              <a:rPr lang="en-US" sz="2400" dirty="0" err="1"/>
              <a:t>asgard</a:t>
            </a:r>
            <a:r>
              <a:rPr lang="en-US" sz="2400" dirty="0"/>
              <a:t> know who to forward responses too?</a:t>
            </a:r>
          </a:p>
          <a:p>
            <a:pPr lvl="1"/>
            <a:r>
              <a:rPr lang="en-US" sz="2100" dirty="0"/>
              <a:t>Random IDs embedded in DNS queries</a:t>
            </a:r>
          </a:p>
          <a:p>
            <a:r>
              <a:rPr lang="en-US" sz="2400" dirty="0"/>
              <a:t>What have we said about keeping state in the network?</a:t>
            </a:r>
          </a:p>
        </p:txBody>
      </p:sp>
      <p:pic>
        <p:nvPicPr>
          <p:cNvPr id="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8190" y="1850216"/>
            <a:ext cx="687992" cy="687992"/>
          </a:xfrm>
          <a:prstGeom prst="rect">
            <a:avLst/>
          </a:prstGeom>
          <a:noFill/>
          <a:extLst>
            <a:ext uri="{909E8E84-426E-40dd-AFC4-6F175D3DCCD1}">
              <a14:hiddenFill xmlns="" xmlns:a14="http://schemas.microsoft.com/office/drawing/2010/main">
                <a:solidFill>
                  <a:srgbClr val="FFFFFF"/>
                </a:solidFill>
              </a14:hiddenFill>
            </a:ext>
          </a:extLst>
        </p:spPr>
      </p:pic>
      <p:sp>
        <p:nvSpPr>
          <p:cNvPr id="7" name="Up Arrow 6"/>
          <p:cNvSpPr/>
          <p:nvPr/>
        </p:nvSpPr>
        <p:spPr>
          <a:xfrm rot="10800000">
            <a:off x="5004078" y="2656113"/>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3985" y="1850216"/>
            <a:ext cx="687992" cy="687992"/>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189" y="3419974"/>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6860" y="5789650"/>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62" y="5141711"/>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2"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61" y="3419974"/>
            <a:ext cx="697433" cy="697433"/>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TextBox 12"/>
          <p:cNvSpPr txBox="1"/>
          <p:nvPr/>
        </p:nvSpPr>
        <p:spPr>
          <a:xfrm>
            <a:off x="6072337" y="6439879"/>
            <a:ext cx="726481" cy="400110"/>
          </a:xfrm>
          <a:prstGeom prst="rect">
            <a:avLst/>
          </a:prstGeom>
          <a:noFill/>
        </p:spPr>
        <p:txBody>
          <a:bodyPr wrap="none" rtlCol="0">
            <a:spAutoFit/>
          </a:bodyPr>
          <a:lstStyle/>
          <a:p>
            <a:pPr algn="ctr"/>
            <a:r>
              <a:rPr lang="en-US" sz="2000" dirty="0"/>
              <a:t>Root</a:t>
            </a:r>
          </a:p>
        </p:txBody>
      </p:sp>
      <p:sp>
        <p:nvSpPr>
          <p:cNvPr id="14" name="TextBox 13"/>
          <p:cNvSpPr txBox="1"/>
          <p:nvPr/>
        </p:nvSpPr>
        <p:spPr>
          <a:xfrm>
            <a:off x="7688194" y="5762205"/>
            <a:ext cx="668773" cy="400110"/>
          </a:xfrm>
          <a:prstGeom prst="rect">
            <a:avLst/>
          </a:prstGeom>
          <a:noFill/>
        </p:spPr>
        <p:txBody>
          <a:bodyPr wrap="none" rtlCol="0">
            <a:spAutoFit/>
          </a:bodyPr>
          <a:lstStyle/>
          <a:p>
            <a:pPr algn="ctr"/>
            <a:r>
              <a:rPr lang="en-US" sz="2000" dirty="0"/>
              <a:t>com</a:t>
            </a:r>
          </a:p>
        </p:txBody>
      </p:sp>
      <p:sp>
        <p:nvSpPr>
          <p:cNvPr id="15" name="TextBox 14"/>
          <p:cNvSpPr txBox="1"/>
          <p:nvPr/>
        </p:nvSpPr>
        <p:spPr>
          <a:xfrm>
            <a:off x="7025351" y="4039403"/>
            <a:ext cx="1994456" cy="400110"/>
          </a:xfrm>
          <a:prstGeom prst="rect">
            <a:avLst/>
          </a:prstGeom>
          <a:noFill/>
        </p:spPr>
        <p:txBody>
          <a:bodyPr wrap="none" rtlCol="0">
            <a:spAutoFit/>
          </a:bodyPr>
          <a:lstStyle/>
          <a:p>
            <a:pPr algn="ctr"/>
            <a:r>
              <a:rPr lang="en-US" sz="2000" dirty="0"/>
              <a:t>ns1.google.com</a:t>
            </a:r>
          </a:p>
        </p:txBody>
      </p:sp>
      <p:sp>
        <p:nvSpPr>
          <p:cNvPr id="16" name="TextBox 15"/>
          <p:cNvSpPr txBox="1"/>
          <p:nvPr/>
        </p:nvSpPr>
        <p:spPr>
          <a:xfrm>
            <a:off x="6960298" y="1454670"/>
            <a:ext cx="2124556" cy="400110"/>
          </a:xfrm>
          <a:prstGeom prst="rect">
            <a:avLst/>
          </a:prstGeom>
          <a:noFill/>
        </p:spPr>
        <p:txBody>
          <a:bodyPr wrap="none" rtlCol="0">
            <a:spAutoFit/>
          </a:bodyPr>
          <a:lstStyle/>
          <a:p>
            <a:pPr algn="ctr"/>
            <a:r>
              <a:rPr lang="en-US" sz="2000" dirty="0"/>
              <a:t>www.google.com</a:t>
            </a:r>
          </a:p>
        </p:txBody>
      </p:sp>
      <p:sp>
        <p:nvSpPr>
          <p:cNvPr id="17" name="TextBox 16"/>
          <p:cNvSpPr txBox="1"/>
          <p:nvPr/>
        </p:nvSpPr>
        <p:spPr>
          <a:xfrm>
            <a:off x="3969389" y="4072511"/>
            <a:ext cx="2420855" cy="400110"/>
          </a:xfrm>
          <a:prstGeom prst="rect">
            <a:avLst/>
          </a:prstGeom>
          <a:noFill/>
        </p:spPr>
        <p:txBody>
          <a:bodyPr wrap="none" rtlCol="0">
            <a:spAutoFit/>
          </a:bodyPr>
          <a:lstStyle/>
          <a:p>
            <a:pPr algn="ctr"/>
            <a:r>
              <a:rPr lang="en-US" sz="2000" dirty="0"/>
              <a:t>asgard.ccs.neu.edu</a:t>
            </a:r>
          </a:p>
        </p:txBody>
      </p:sp>
      <p:cxnSp>
        <p:nvCxnSpPr>
          <p:cNvPr id="18" name="Straight Connector 17"/>
          <p:cNvCxnSpPr/>
          <p:nvPr/>
        </p:nvCxnSpPr>
        <p:spPr>
          <a:xfrm flipV="1">
            <a:off x="8037981" y="2656113"/>
            <a:ext cx="0" cy="609600"/>
          </a:xfrm>
          <a:prstGeom prst="line">
            <a:avLst/>
          </a:prstGeom>
          <a:ln w="76200">
            <a:solidFill>
              <a:schemeClr val="accent3"/>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Up Arrow 20"/>
          <p:cNvSpPr/>
          <p:nvPr/>
        </p:nvSpPr>
        <p:spPr>
          <a:xfrm rot="8796339">
            <a:off x="5362201" y="4418209"/>
            <a:ext cx="553978" cy="160814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p:cNvSpPr/>
          <p:nvPr/>
        </p:nvSpPr>
        <p:spPr>
          <a:xfrm rot="3753653">
            <a:off x="7000294" y="5513438"/>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p:cNvSpPr/>
          <p:nvPr/>
        </p:nvSpPr>
        <p:spPr>
          <a:xfrm>
            <a:off x="7802989" y="4419411"/>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p:cNvSpPr/>
          <p:nvPr/>
        </p:nvSpPr>
        <p:spPr>
          <a:xfrm rot="10800000">
            <a:off x="7802989" y="4419410"/>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 Arrow 24"/>
          <p:cNvSpPr/>
          <p:nvPr/>
        </p:nvSpPr>
        <p:spPr>
          <a:xfrm rot="14400000">
            <a:off x="6976309" y="5550083"/>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 Arrow 25"/>
          <p:cNvSpPr/>
          <p:nvPr/>
        </p:nvSpPr>
        <p:spPr>
          <a:xfrm rot="19800000">
            <a:off x="5331388" y="4384863"/>
            <a:ext cx="553978" cy="160814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p:cNvSpPr/>
          <p:nvPr/>
        </p:nvSpPr>
        <p:spPr>
          <a:xfrm>
            <a:off x="5004078" y="2656113"/>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Left-Right Arrow 27"/>
          <p:cNvSpPr/>
          <p:nvPr/>
        </p:nvSpPr>
        <p:spPr>
          <a:xfrm>
            <a:off x="5714999" y="1948365"/>
            <a:ext cx="1919635" cy="4916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p:cNvGrpSpPr/>
          <p:nvPr/>
        </p:nvGrpSpPr>
        <p:grpSpPr>
          <a:xfrm flipH="1">
            <a:off x="424543" y="1737729"/>
            <a:ext cx="4142748" cy="543571"/>
            <a:chOff x="1219200" y="4876799"/>
            <a:chExt cx="5181605" cy="1384995"/>
          </a:xfrm>
        </p:grpSpPr>
        <p:sp>
          <p:nvSpPr>
            <p:cNvPr id="30" name="Rectangular Callout 29"/>
            <p:cNvSpPr/>
            <p:nvPr/>
          </p:nvSpPr>
          <p:spPr>
            <a:xfrm>
              <a:off x="1219200" y="4876799"/>
              <a:ext cx="5181603" cy="1384995"/>
            </a:xfrm>
            <a:prstGeom prst="wedgeRectCallout">
              <a:avLst>
                <a:gd name="adj1" fmla="val -61220"/>
                <a:gd name="adj2" fmla="val -2830"/>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31" name="TextBox 30"/>
            <p:cNvSpPr txBox="1"/>
            <p:nvPr/>
          </p:nvSpPr>
          <p:spPr>
            <a:xfrm>
              <a:off x="1219203" y="5015484"/>
              <a:ext cx="5181602" cy="114466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 lastClr="FFFFFF"/>
                  </a:solidFill>
                  <a:effectLst/>
                  <a:uLnTx/>
                  <a:uFillTx/>
                </a:rPr>
                <a:t>Where is www.google.com?</a:t>
              </a:r>
            </a:p>
          </p:txBody>
        </p:sp>
      </p:grpSp>
    </p:spTree>
    <p:extLst>
      <p:ext uri="{BB962C8B-B14F-4D97-AF65-F5344CB8AC3E}">
        <p14:creationId xmlns:p14="http://schemas.microsoft.com/office/powerpoint/2010/main" val="4039219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anim calcmode="lin" valueType="num">
                                      <p:cBhvr>
                                        <p:cTn id="8" dur="500" fill="hold"/>
                                        <p:tgtEl>
                                          <p:spTgt spid="29"/>
                                        </p:tgtEl>
                                        <p:attrNameLst>
                                          <p:attrName>ppt_x</p:attrName>
                                        </p:attrNameLst>
                                      </p:cBhvr>
                                      <p:tavLst>
                                        <p:tav tm="0">
                                          <p:val>
                                            <p:strVal val="#ppt_x"/>
                                          </p:val>
                                        </p:tav>
                                        <p:tav tm="100000">
                                          <p:val>
                                            <p:strVal val="#ppt_x"/>
                                          </p:val>
                                        </p:tav>
                                      </p:tavLst>
                                    </p:anim>
                                    <p:anim calcmode="lin" valueType="num">
                                      <p:cBhvr>
                                        <p:cTn id="9" dur="500" fill="hold"/>
                                        <p:tgtEl>
                                          <p:spTgt spid="2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up)">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up)">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up)">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500"/>
                                        <p:tgtEl>
                                          <p:spTgt spid="7"/>
                                        </p:tgtEl>
                                      </p:cBhvr>
                                    </p:animEffect>
                                    <p:set>
                                      <p:cBhvr>
                                        <p:cTn id="33" dur="1" fill="hold">
                                          <p:stCondLst>
                                            <p:cond delay="499"/>
                                          </p:stCondLst>
                                        </p:cTn>
                                        <p:tgtEl>
                                          <p:spTgt spid="7"/>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500"/>
                                        <p:tgtEl>
                                          <p:spTgt spid="21"/>
                                        </p:tgtEl>
                                      </p:cBhvr>
                                    </p:animEffect>
                                    <p:set>
                                      <p:cBhvr>
                                        <p:cTn id="36" dur="1" fill="hold">
                                          <p:stCondLst>
                                            <p:cond delay="499"/>
                                          </p:stCondLst>
                                        </p:cTn>
                                        <p:tgtEl>
                                          <p:spTgt spid="21"/>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22"/>
                                        </p:tgtEl>
                                      </p:cBhvr>
                                    </p:animEffect>
                                    <p:set>
                                      <p:cBhvr>
                                        <p:cTn id="39" dur="1" fill="hold">
                                          <p:stCondLst>
                                            <p:cond delay="499"/>
                                          </p:stCondLst>
                                        </p:cTn>
                                        <p:tgtEl>
                                          <p:spTgt spid="22"/>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500"/>
                                        <p:tgtEl>
                                          <p:spTgt spid="23"/>
                                        </p:tgtEl>
                                      </p:cBhvr>
                                    </p:animEffect>
                                    <p:set>
                                      <p:cBhvr>
                                        <p:cTn id="42" dur="1" fill="hold">
                                          <p:stCondLst>
                                            <p:cond delay="499"/>
                                          </p:stCondLst>
                                        </p:cTn>
                                        <p:tgtEl>
                                          <p:spTgt spid="23"/>
                                        </p:tgtEl>
                                        <p:attrNameLst>
                                          <p:attrName>style.visibility</p:attrName>
                                        </p:attrNameLst>
                                      </p:cBhvr>
                                      <p:to>
                                        <p:strVal val="hidden"/>
                                      </p:to>
                                    </p:se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up)">
                                      <p:cBhvr>
                                        <p:cTn id="46" dur="500"/>
                                        <p:tgtEl>
                                          <p:spTgt spid="24"/>
                                        </p:tgtEl>
                                      </p:cBhvr>
                                    </p:animEffect>
                                  </p:childTnLst>
                                </p:cTn>
                              </p:par>
                            </p:childTnLst>
                          </p:cTn>
                        </p:par>
                        <p:par>
                          <p:cTn id="47" fill="hold">
                            <p:stCondLst>
                              <p:cond delay="1000"/>
                            </p:stCondLst>
                            <p:childTnLst>
                              <p:par>
                                <p:cTn id="48" presetID="22" presetClass="entr" presetSubtype="2"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right)">
                                      <p:cBhvr>
                                        <p:cTn id="50" dur="500"/>
                                        <p:tgtEl>
                                          <p:spTgt spid="25"/>
                                        </p:tgtEl>
                                      </p:cBhvr>
                                    </p:animEffect>
                                  </p:childTnLst>
                                </p:cTn>
                              </p:par>
                            </p:childTnLst>
                          </p:cTn>
                        </p:par>
                        <p:par>
                          <p:cTn id="51" fill="hold">
                            <p:stCondLst>
                              <p:cond delay="1500"/>
                            </p:stCondLst>
                            <p:childTnLst>
                              <p:par>
                                <p:cTn id="52" presetID="22" presetClass="entr" presetSubtype="4" fill="hold" grpId="0" nodeType="after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wipe(down)">
                                      <p:cBhvr>
                                        <p:cTn id="54" dur="500"/>
                                        <p:tgtEl>
                                          <p:spTgt spid="26"/>
                                        </p:tgtEl>
                                      </p:cBhvr>
                                    </p:animEffect>
                                  </p:childTnLst>
                                </p:cTn>
                              </p:par>
                            </p:childTnLst>
                          </p:cTn>
                        </p:par>
                        <p:par>
                          <p:cTn id="55" fill="hold">
                            <p:stCondLst>
                              <p:cond delay="2000"/>
                            </p:stCondLst>
                            <p:childTnLst>
                              <p:par>
                                <p:cTn id="56" presetID="22" presetClass="entr" presetSubtype="4" fill="hold" grpId="0" nodeType="after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wipe(down)">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1" nodeType="clickEffect">
                                  <p:stCondLst>
                                    <p:cond delay="0"/>
                                  </p:stCondLst>
                                  <p:childTnLst>
                                    <p:animEffect transition="out" filter="fade">
                                      <p:cBhvr>
                                        <p:cTn id="62" dur="500"/>
                                        <p:tgtEl>
                                          <p:spTgt spid="26"/>
                                        </p:tgtEl>
                                      </p:cBhvr>
                                    </p:animEffect>
                                    <p:set>
                                      <p:cBhvr>
                                        <p:cTn id="63" dur="1" fill="hold">
                                          <p:stCondLst>
                                            <p:cond delay="499"/>
                                          </p:stCondLst>
                                        </p:cTn>
                                        <p:tgtEl>
                                          <p:spTgt spid="26"/>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25"/>
                                        </p:tgtEl>
                                      </p:cBhvr>
                                    </p:animEffect>
                                    <p:set>
                                      <p:cBhvr>
                                        <p:cTn id="66" dur="1" fill="hold">
                                          <p:stCondLst>
                                            <p:cond delay="499"/>
                                          </p:stCondLst>
                                        </p:cTn>
                                        <p:tgtEl>
                                          <p:spTgt spid="25"/>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500"/>
                                        <p:tgtEl>
                                          <p:spTgt spid="27"/>
                                        </p:tgtEl>
                                      </p:cBhvr>
                                    </p:animEffect>
                                    <p:set>
                                      <p:cBhvr>
                                        <p:cTn id="69" dur="1" fill="hold">
                                          <p:stCondLst>
                                            <p:cond delay="499"/>
                                          </p:stCondLst>
                                        </p:cTn>
                                        <p:tgtEl>
                                          <p:spTgt spid="27"/>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24"/>
                                        </p:tgtEl>
                                      </p:cBhvr>
                                    </p:animEffect>
                                    <p:set>
                                      <p:cBhvr>
                                        <p:cTn id="72" dur="1" fill="hold">
                                          <p:stCondLst>
                                            <p:cond delay="499"/>
                                          </p:stCondLst>
                                        </p:cTn>
                                        <p:tgtEl>
                                          <p:spTgt spid="24"/>
                                        </p:tgtEl>
                                        <p:attrNameLst>
                                          <p:attrName>style.visibility</p:attrName>
                                        </p:attrNameLst>
                                      </p:cBhvr>
                                      <p:to>
                                        <p:strVal val="hidden"/>
                                      </p:to>
                                    </p:set>
                                  </p:childTnLst>
                                </p:cTn>
                              </p:par>
                            </p:childTnLst>
                          </p:cTn>
                        </p:par>
                        <p:par>
                          <p:cTn id="73" fill="hold">
                            <p:stCondLst>
                              <p:cond delay="500"/>
                            </p:stCondLst>
                            <p:childTnLst>
                              <p:par>
                                <p:cTn id="74" presetID="16" presetClass="entr" presetSubtype="21" fill="hold" grpId="0" nodeType="after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barn(inVertical)">
                                      <p:cBhvr>
                                        <p:cTn id="76" dur="500"/>
                                        <p:tgtEl>
                                          <p:spTgt spid="28"/>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4">
                                            <p:txEl>
                                              <p:pRg st="0" end="0"/>
                                            </p:txEl>
                                          </p:spTgt>
                                        </p:tgtEl>
                                        <p:attrNameLst>
                                          <p:attrName>style.visibility</p:attrName>
                                        </p:attrNameLst>
                                      </p:cBhvr>
                                      <p:to>
                                        <p:strVal val="visible"/>
                                      </p:to>
                                    </p:set>
                                    <p:animEffect transition="in" filter="fade">
                                      <p:cBhvr>
                                        <p:cTn id="81" dur="500"/>
                                        <p:tgtEl>
                                          <p:spTgt spid="4">
                                            <p:txEl>
                                              <p:pRg st="0" end="0"/>
                                            </p:txEl>
                                          </p:spTgt>
                                        </p:tgtEl>
                                      </p:cBhvr>
                                    </p:animEffect>
                                    <p:anim calcmode="lin" valueType="num">
                                      <p:cBhvr>
                                        <p:cTn id="8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83"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4">
                                            <p:txEl>
                                              <p:pRg st="1" end="1"/>
                                            </p:txEl>
                                          </p:spTgt>
                                        </p:tgtEl>
                                        <p:attrNameLst>
                                          <p:attrName>style.visibility</p:attrName>
                                        </p:attrNameLst>
                                      </p:cBhvr>
                                      <p:to>
                                        <p:strVal val="visible"/>
                                      </p:to>
                                    </p:set>
                                    <p:animEffect transition="in" filter="fade">
                                      <p:cBhvr>
                                        <p:cTn id="88" dur="500"/>
                                        <p:tgtEl>
                                          <p:spTgt spid="4">
                                            <p:txEl>
                                              <p:pRg st="1" end="1"/>
                                            </p:txEl>
                                          </p:spTgt>
                                        </p:tgtEl>
                                      </p:cBhvr>
                                    </p:animEffect>
                                    <p:anim calcmode="lin" valueType="num">
                                      <p:cBhvr>
                                        <p:cTn id="8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0"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4">
                                            <p:txEl>
                                              <p:pRg st="2" end="2"/>
                                            </p:txEl>
                                          </p:spTgt>
                                        </p:tgtEl>
                                        <p:attrNameLst>
                                          <p:attrName>style.visibility</p:attrName>
                                        </p:attrNameLst>
                                      </p:cBhvr>
                                      <p:to>
                                        <p:strVal val="visible"/>
                                      </p:to>
                                    </p:set>
                                    <p:animEffect transition="in" filter="fade">
                                      <p:cBhvr>
                                        <p:cTn id="95" dur="500"/>
                                        <p:tgtEl>
                                          <p:spTgt spid="4">
                                            <p:txEl>
                                              <p:pRg st="2" end="2"/>
                                            </p:txEl>
                                          </p:spTgt>
                                        </p:tgtEl>
                                      </p:cBhvr>
                                    </p:animEffect>
                                    <p:anim calcmode="lin" valueType="num">
                                      <p:cBhvr>
                                        <p:cTn id="9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7"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4">
                                            <p:txEl>
                                              <p:pRg st="3" end="3"/>
                                            </p:txEl>
                                          </p:spTgt>
                                        </p:tgtEl>
                                        <p:attrNameLst>
                                          <p:attrName>style.visibility</p:attrName>
                                        </p:attrNameLst>
                                      </p:cBhvr>
                                      <p:to>
                                        <p:strVal val="visible"/>
                                      </p:to>
                                    </p:set>
                                    <p:animEffect transition="in" filter="fade">
                                      <p:cBhvr>
                                        <p:cTn id="102" dur="500"/>
                                        <p:tgtEl>
                                          <p:spTgt spid="4">
                                            <p:txEl>
                                              <p:pRg st="3" end="3"/>
                                            </p:txEl>
                                          </p:spTgt>
                                        </p:tgtEl>
                                      </p:cBhvr>
                                    </p:animEffect>
                                    <p:anim calcmode="lin" valueType="num">
                                      <p:cBhvr>
                                        <p:cTn id="10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04"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Iterated DNS query</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17</a:t>
            </a:fld>
            <a:endParaRPr lang="en-US" dirty="0"/>
          </a:p>
        </p:txBody>
      </p:sp>
      <p:sp>
        <p:nvSpPr>
          <p:cNvPr id="4" name="Content Placeholder 3"/>
          <p:cNvSpPr>
            <a:spLocks noGrp="1"/>
          </p:cNvSpPr>
          <p:nvPr>
            <p:ph sz="quarter" idx="1"/>
          </p:nvPr>
        </p:nvSpPr>
        <p:spPr>
          <a:xfrm>
            <a:off x="10882" y="2786745"/>
            <a:ext cx="4556407" cy="4049487"/>
          </a:xfrm>
        </p:spPr>
        <p:txBody>
          <a:bodyPr>
            <a:normAutofit/>
          </a:bodyPr>
          <a:lstStyle/>
          <a:p>
            <a:r>
              <a:rPr lang="en-US" dirty="0"/>
              <a:t>Contact server replies with the name of the next authority in the hierarchy</a:t>
            </a:r>
          </a:p>
          <a:p>
            <a:r>
              <a:rPr lang="en-US" dirty="0"/>
              <a:t>“I don’t know this name, but this other server might”</a:t>
            </a:r>
          </a:p>
          <a:p>
            <a:r>
              <a:rPr lang="en-US" dirty="0"/>
              <a:t>This is how DNS works today</a:t>
            </a:r>
          </a:p>
        </p:txBody>
      </p:sp>
      <p:pic>
        <p:nvPicPr>
          <p:cNvPr id="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8190" y="1850216"/>
            <a:ext cx="687992" cy="68799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Up Arrow 5"/>
          <p:cNvSpPr/>
          <p:nvPr/>
        </p:nvSpPr>
        <p:spPr>
          <a:xfrm rot="10800000">
            <a:off x="5004078" y="2656113"/>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3985" y="1850216"/>
            <a:ext cx="687992" cy="687992"/>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189" y="3419974"/>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6860" y="5789650"/>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62" y="5141711"/>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61" y="3419974"/>
            <a:ext cx="697433" cy="697433"/>
          </a:xfrm>
          <a:prstGeom prst="rect">
            <a:avLst/>
          </a:prstGeom>
          <a:noFill/>
          <a:extLst>
            <a:ext uri="{909E8E84-426E-40dd-AFC4-6F175D3DCCD1}">
              <a14:hiddenFill xmlns="" xmlns:a14="http://schemas.microsoft.com/office/drawing/2010/main">
                <a:solidFill>
                  <a:srgbClr val="FFFFFF"/>
                </a:solidFill>
              </a14:hiddenFill>
            </a:ext>
          </a:extLst>
        </p:spPr>
      </p:pic>
      <p:sp>
        <p:nvSpPr>
          <p:cNvPr id="12" name="TextBox 11"/>
          <p:cNvSpPr txBox="1"/>
          <p:nvPr/>
        </p:nvSpPr>
        <p:spPr>
          <a:xfrm>
            <a:off x="6072337" y="6439879"/>
            <a:ext cx="726481" cy="400110"/>
          </a:xfrm>
          <a:prstGeom prst="rect">
            <a:avLst/>
          </a:prstGeom>
          <a:noFill/>
        </p:spPr>
        <p:txBody>
          <a:bodyPr wrap="none" rtlCol="0">
            <a:spAutoFit/>
          </a:bodyPr>
          <a:lstStyle/>
          <a:p>
            <a:pPr algn="ctr"/>
            <a:r>
              <a:rPr lang="en-US" sz="2000" dirty="0"/>
              <a:t>Root</a:t>
            </a:r>
          </a:p>
        </p:txBody>
      </p:sp>
      <p:sp>
        <p:nvSpPr>
          <p:cNvPr id="13" name="TextBox 12"/>
          <p:cNvSpPr txBox="1"/>
          <p:nvPr/>
        </p:nvSpPr>
        <p:spPr>
          <a:xfrm>
            <a:off x="7688194" y="5762205"/>
            <a:ext cx="668773" cy="400110"/>
          </a:xfrm>
          <a:prstGeom prst="rect">
            <a:avLst/>
          </a:prstGeom>
          <a:noFill/>
        </p:spPr>
        <p:txBody>
          <a:bodyPr wrap="none" rtlCol="0">
            <a:spAutoFit/>
          </a:bodyPr>
          <a:lstStyle/>
          <a:p>
            <a:pPr algn="ctr"/>
            <a:r>
              <a:rPr lang="en-US" sz="2000" dirty="0"/>
              <a:t>com</a:t>
            </a:r>
          </a:p>
        </p:txBody>
      </p:sp>
      <p:sp>
        <p:nvSpPr>
          <p:cNvPr id="14" name="TextBox 13"/>
          <p:cNvSpPr txBox="1"/>
          <p:nvPr/>
        </p:nvSpPr>
        <p:spPr>
          <a:xfrm>
            <a:off x="7025351" y="4039403"/>
            <a:ext cx="1994456" cy="400110"/>
          </a:xfrm>
          <a:prstGeom prst="rect">
            <a:avLst/>
          </a:prstGeom>
          <a:noFill/>
        </p:spPr>
        <p:txBody>
          <a:bodyPr wrap="none" rtlCol="0">
            <a:spAutoFit/>
          </a:bodyPr>
          <a:lstStyle/>
          <a:p>
            <a:pPr algn="ctr"/>
            <a:r>
              <a:rPr lang="en-US" sz="2000" dirty="0"/>
              <a:t>ns1.google.com</a:t>
            </a:r>
          </a:p>
        </p:txBody>
      </p:sp>
      <p:sp>
        <p:nvSpPr>
          <p:cNvPr id="15" name="TextBox 14"/>
          <p:cNvSpPr txBox="1"/>
          <p:nvPr/>
        </p:nvSpPr>
        <p:spPr>
          <a:xfrm>
            <a:off x="6960298" y="1454670"/>
            <a:ext cx="2124556" cy="400110"/>
          </a:xfrm>
          <a:prstGeom prst="rect">
            <a:avLst/>
          </a:prstGeom>
          <a:noFill/>
        </p:spPr>
        <p:txBody>
          <a:bodyPr wrap="none" rtlCol="0">
            <a:spAutoFit/>
          </a:bodyPr>
          <a:lstStyle/>
          <a:p>
            <a:pPr algn="ctr"/>
            <a:r>
              <a:rPr lang="en-US" sz="2000" dirty="0"/>
              <a:t>www.google.com</a:t>
            </a:r>
          </a:p>
        </p:txBody>
      </p:sp>
      <p:sp>
        <p:nvSpPr>
          <p:cNvPr id="16" name="TextBox 15"/>
          <p:cNvSpPr txBox="1"/>
          <p:nvPr/>
        </p:nvSpPr>
        <p:spPr>
          <a:xfrm>
            <a:off x="3969389" y="4072511"/>
            <a:ext cx="2420855" cy="400110"/>
          </a:xfrm>
          <a:prstGeom prst="rect">
            <a:avLst/>
          </a:prstGeom>
          <a:noFill/>
        </p:spPr>
        <p:txBody>
          <a:bodyPr wrap="none" rtlCol="0">
            <a:spAutoFit/>
          </a:bodyPr>
          <a:lstStyle/>
          <a:p>
            <a:pPr algn="ctr"/>
            <a:r>
              <a:rPr lang="en-US" sz="2000" dirty="0"/>
              <a:t>asgard.ccs.neu.edu</a:t>
            </a:r>
          </a:p>
        </p:txBody>
      </p:sp>
      <p:cxnSp>
        <p:nvCxnSpPr>
          <p:cNvPr id="17" name="Straight Connector 16"/>
          <p:cNvCxnSpPr/>
          <p:nvPr/>
        </p:nvCxnSpPr>
        <p:spPr>
          <a:xfrm flipV="1">
            <a:off x="8037981" y="2656113"/>
            <a:ext cx="0" cy="609600"/>
          </a:xfrm>
          <a:prstGeom prst="line">
            <a:avLst/>
          </a:prstGeom>
          <a:ln w="76200">
            <a:solidFill>
              <a:schemeClr val="accent3"/>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8" name="Up Arrow 17"/>
          <p:cNvSpPr/>
          <p:nvPr/>
        </p:nvSpPr>
        <p:spPr>
          <a:xfrm rot="8796339">
            <a:off x="5362201" y="4418209"/>
            <a:ext cx="553978" cy="160814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Up Arrow 18"/>
          <p:cNvSpPr/>
          <p:nvPr/>
        </p:nvSpPr>
        <p:spPr>
          <a:xfrm rot="7700886">
            <a:off x="6430415" y="3477084"/>
            <a:ext cx="553978" cy="2309195"/>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p Arrow 19"/>
          <p:cNvSpPr/>
          <p:nvPr/>
        </p:nvSpPr>
        <p:spPr>
          <a:xfrm rot="5400000">
            <a:off x="6380931" y="2870058"/>
            <a:ext cx="553978" cy="179353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 Arrow 20"/>
          <p:cNvSpPr/>
          <p:nvPr/>
        </p:nvSpPr>
        <p:spPr>
          <a:xfrm rot="16200000">
            <a:off x="6361841" y="2866605"/>
            <a:ext cx="553978" cy="1800435"/>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p:cNvSpPr/>
          <p:nvPr/>
        </p:nvSpPr>
        <p:spPr>
          <a:xfrm rot="18457775">
            <a:off x="6371435" y="3464446"/>
            <a:ext cx="553978" cy="2326468"/>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p:cNvSpPr/>
          <p:nvPr/>
        </p:nvSpPr>
        <p:spPr>
          <a:xfrm rot="19800000">
            <a:off x="5329194" y="4338262"/>
            <a:ext cx="553978" cy="1608141"/>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p:cNvSpPr/>
          <p:nvPr/>
        </p:nvSpPr>
        <p:spPr>
          <a:xfrm>
            <a:off x="5004078" y="2656114"/>
            <a:ext cx="553978" cy="651409"/>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Left-Right Arrow 24"/>
          <p:cNvSpPr/>
          <p:nvPr/>
        </p:nvSpPr>
        <p:spPr>
          <a:xfrm>
            <a:off x="5714999" y="1948365"/>
            <a:ext cx="1919635" cy="4916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p:cNvGrpSpPr/>
          <p:nvPr/>
        </p:nvGrpSpPr>
        <p:grpSpPr>
          <a:xfrm flipH="1">
            <a:off x="424543" y="1737729"/>
            <a:ext cx="4142748" cy="543571"/>
            <a:chOff x="1219200" y="4876799"/>
            <a:chExt cx="5181605" cy="1384995"/>
          </a:xfrm>
        </p:grpSpPr>
        <p:sp>
          <p:nvSpPr>
            <p:cNvPr id="27" name="Rectangular Callout 26"/>
            <p:cNvSpPr/>
            <p:nvPr/>
          </p:nvSpPr>
          <p:spPr>
            <a:xfrm>
              <a:off x="1219200" y="4876799"/>
              <a:ext cx="5181603" cy="1384995"/>
            </a:xfrm>
            <a:prstGeom prst="wedgeRectCallout">
              <a:avLst>
                <a:gd name="adj1" fmla="val -61220"/>
                <a:gd name="adj2" fmla="val -2830"/>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28" name="TextBox 27"/>
            <p:cNvSpPr txBox="1"/>
            <p:nvPr/>
          </p:nvSpPr>
          <p:spPr>
            <a:xfrm>
              <a:off x="1219203" y="5015484"/>
              <a:ext cx="5181602" cy="114466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 lastClr="FFFFFF"/>
                  </a:solidFill>
                  <a:effectLst/>
                  <a:uLnTx/>
                  <a:uFillTx/>
                </a:rPr>
                <a:t>Where is www.google.com?</a:t>
              </a:r>
            </a:p>
          </p:txBody>
        </p:sp>
      </p:grpSp>
    </p:spTree>
    <p:extLst>
      <p:ext uri="{BB962C8B-B14F-4D97-AF65-F5344CB8AC3E}">
        <p14:creationId xmlns:p14="http://schemas.microsoft.com/office/powerpoint/2010/main" val="371996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anim calcmode="lin" valueType="num">
                                      <p:cBhvr>
                                        <p:cTn id="8" dur="500" fill="hold"/>
                                        <p:tgtEl>
                                          <p:spTgt spid="26"/>
                                        </p:tgtEl>
                                        <p:attrNameLst>
                                          <p:attrName>ppt_x</p:attrName>
                                        </p:attrNameLst>
                                      </p:cBhvr>
                                      <p:tavLst>
                                        <p:tav tm="0">
                                          <p:val>
                                            <p:strVal val="#ppt_x"/>
                                          </p:val>
                                        </p:tav>
                                        <p:tav tm="100000">
                                          <p:val>
                                            <p:strVal val="#ppt_x"/>
                                          </p:val>
                                        </p:tav>
                                      </p:tavLst>
                                    </p:anim>
                                    <p:anim calcmode="lin" valueType="num">
                                      <p:cBhvr>
                                        <p:cTn id="9" dur="500" fill="hold"/>
                                        <p:tgtEl>
                                          <p:spTgt spid="2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1" fill="hold" grpId="1" nodeType="clickEffect">
                                  <p:stCondLst>
                                    <p:cond delay="0"/>
                                  </p:stCondLst>
                                  <p:childTnLst>
                                    <p:animEffect transition="out" filter="wipe(up)">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up)">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1" fill="hold" grpId="1" nodeType="clickEffect">
                                  <p:stCondLst>
                                    <p:cond delay="0"/>
                                  </p:stCondLst>
                                  <p:childTnLst>
                                    <p:animEffect transition="out" filter="wipe(up)">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down)">
                                      <p:cBhvr>
                                        <p:cTn id="31" dur="500"/>
                                        <p:tgtEl>
                                          <p:spTgt spid="23"/>
                                        </p:tgtEl>
                                      </p:cBhvr>
                                    </p:animEffect>
                                  </p:childTnLst>
                                </p:cTn>
                              </p:par>
                            </p:childTnLst>
                          </p:cTn>
                        </p:par>
                        <p:par>
                          <p:cTn id="32" fill="hold">
                            <p:stCondLst>
                              <p:cond delay="1000"/>
                            </p:stCondLst>
                            <p:childTnLst>
                              <p:par>
                                <p:cTn id="33" presetID="42" presetClass="entr" presetSubtype="0" fill="hold" nodeType="after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Effect transition="in" filter="fade">
                                      <p:cBhvr>
                                        <p:cTn id="35" dur="500"/>
                                        <p:tgtEl>
                                          <p:spTgt spid="4">
                                            <p:txEl>
                                              <p:pRg st="0" end="0"/>
                                            </p:txEl>
                                          </p:spTgt>
                                        </p:tgtEl>
                                      </p:cBhvr>
                                    </p:animEffect>
                                    <p:anim calcmode="lin" valueType="num">
                                      <p:cBhvr>
                                        <p:cTn id="36"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0" end="0"/>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
                                            <p:txEl>
                                              <p:pRg st="1" end="1"/>
                                            </p:txEl>
                                          </p:spTgt>
                                        </p:tgtEl>
                                        <p:attrNameLst>
                                          <p:attrName>style.visibility</p:attrName>
                                        </p:attrNameLst>
                                      </p:cBhvr>
                                      <p:to>
                                        <p:strVal val="visible"/>
                                      </p:to>
                                    </p:set>
                                    <p:animEffect transition="in" filter="fade">
                                      <p:cBhvr>
                                        <p:cTn id="40" dur="500"/>
                                        <p:tgtEl>
                                          <p:spTgt spid="4">
                                            <p:txEl>
                                              <p:pRg st="1" end="1"/>
                                            </p:txEl>
                                          </p:spTgt>
                                        </p:tgtEl>
                                      </p:cBhvr>
                                    </p:animEffect>
                                    <p:anim calcmode="lin" valueType="num">
                                      <p:cBhvr>
                                        <p:cTn id="4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2"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1" nodeType="clickEffect">
                                  <p:stCondLst>
                                    <p:cond delay="0"/>
                                  </p:stCondLst>
                                  <p:childTnLst>
                                    <p:animEffect transition="out" filter="wipe(down)">
                                      <p:cBhvr>
                                        <p:cTn id="46" dur="500"/>
                                        <p:tgtEl>
                                          <p:spTgt spid="23"/>
                                        </p:tgtEl>
                                      </p:cBhvr>
                                    </p:animEffect>
                                    <p:set>
                                      <p:cBhvr>
                                        <p:cTn id="47" dur="1" fill="hold">
                                          <p:stCondLst>
                                            <p:cond delay="499"/>
                                          </p:stCondLst>
                                        </p:cTn>
                                        <p:tgtEl>
                                          <p:spTgt spid="23"/>
                                        </p:tgtEl>
                                        <p:attrNameLst>
                                          <p:attrName>style.visibility</p:attrName>
                                        </p:attrNameLst>
                                      </p:cBhvr>
                                      <p:to>
                                        <p:strVal val="hidden"/>
                                      </p:to>
                                    </p:set>
                                  </p:childTnLst>
                                </p:cTn>
                              </p:par>
                            </p:childTnLst>
                          </p:cTn>
                        </p:par>
                        <p:par>
                          <p:cTn id="48" fill="hold">
                            <p:stCondLst>
                              <p:cond delay="500"/>
                            </p:stCondLst>
                            <p:childTnLst>
                              <p:par>
                                <p:cTn id="49" presetID="22" presetClass="entr" presetSubtype="1"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1" fill="hold" grpId="1" nodeType="clickEffect">
                                  <p:stCondLst>
                                    <p:cond delay="0"/>
                                  </p:stCondLst>
                                  <p:childTnLst>
                                    <p:animEffect transition="out" filter="wipe(up)">
                                      <p:cBhvr>
                                        <p:cTn id="55" dur="500"/>
                                        <p:tgtEl>
                                          <p:spTgt spid="19"/>
                                        </p:tgtEl>
                                      </p:cBhvr>
                                    </p:animEffect>
                                    <p:set>
                                      <p:cBhvr>
                                        <p:cTn id="56" dur="1" fill="hold">
                                          <p:stCondLst>
                                            <p:cond delay="499"/>
                                          </p:stCondLst>
                                        </p:cTn>
                                        <p:tgtEl>
                                          <p:spTgt spid="19"/>
                                        </p:tgtEl>
                                        <p:attrNameLst>
                                          <p:attrName>style.visibility</p:attrName>
                                        </p:attrNameLst>
                                      </p:cBhvr>
                                      <p:to>
                                        <p:strVal val="hidden"/>
                                      </p:to>
                                    </p:set>
                                  </p:childTnLst>
                                </p:cTn>
                              </p:par>
                            </p:childTnLst>
                          </p:cTn>
                        </p:par>
                        <p:par>
                          <p:cTn id="57" fill="hold">
                            <p:stCondLst>
                              <p:cond delay="500"/>
                            </p:stCondLst>
                            <p:childTnLst>
                              <p:par>
                                <p:cTn id="58" presetID="22" presetClass="entr" presetSubtype="4"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down)">
                                      <p:cBhvr>
                                        <p:cTn id="60" dur="500"/>
                                        <p:tgtEl>
                                          <p:spTgt spid="2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xit" presetSubtype="4" fill="hold" grpId="1" nodeType="clickEffect">
                                  <p:stCondLst>
                                    <p:cond delay="0"/>
                                  </p:stCondLst>
                                  <p:childTnLst>
                                    <p:animEffect transition="out" filter="wipe(down)">
                                      <p:cBhvr>
                                        <p:cTn id="64" dur="500"/>
                                        <p:tgtEl>
                                          <p:spTgt spid="22"/>
                                        </p:tgtEl>
                                      </p:cBhvr>
                                    </p:animEffect>
                                    <p:set>
                                      <p:cBhvr>
                                        <p:cTn id="65" dur="1" fill="hold">
                                          <p:stCondLst>
                                            <p:cond delay="499"/>
                                          </p:stCondLst>
                                        </p:cTn>
                                        <p:tgtEl>
                                          <p:spTgt spid="22"/>
                                        </p:tgtEl>
                                        <p:attrNameLst>
                                          <p:attrName>style.visibility</p:attrName>
                                        </p:attrNameLst>
                                      </p:cBhvr>
                                      <p:to>
                                        <p:strVal val="hidden"/>
                                      </p:to>
                                    </p:se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500"/>
                                        <p:tgtEl>
                                          <p:spTgt spid="2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xit" presetSubtype="8" fill="hold" grpId="1" nodeType="clickEffect">
                                  <p:stCondLst>
                                    <p:cond delay="0"/>
                                  </p:stCondLst>
                                  <p:childTnLst>
                                    <p:animEffect transition="out" filter="wipe(left)">
                                      <p:cBhvr>
                                        <p:cTn id="73" dur="500"/>
                                        <p:tgtEl>
                                          <p:spTgt spid="20"/>
                                        </p:tgtEl>
                                      </p:cBhvr>
                                    </p:animEffect>
                                    <p:set>
                                      <p:cBhvr>
                                        <p:cTn id="74" dur="1" fill="hold">
                                          <p:stCondLst>
                                            <p:cond delay="499"/>
                                          </p:stCondLst>
                                        </p:cTn>
                                        <p:tgtEl>
                                          <p:spTgt spid="20"/>
                                        </p:tgtEl>
                                        <p:attrNameLst>
                                          <p:attrName>style.visibility</p:attrName>
                                        </p:attrNameLst>
                                      </p:cBhvr>
                                      <p:to>
                                        <p:strVal val="hidden"/>
                                      </p:to>
                                    </p:set>
                                  </p:childTnLst>
                                </p:cTn>
                              </p:par>
                            </p:childTnLst>
                          </p:cTn>
                        </p:par>
                        <p:par>
                          <p:cTn id="75" fill="hold">
                            <p:stCondLst>
                              <p:cond delay="500"/>
                            </p:stCondLst>
                            <p:childTnLst>
                              <p:par>
                                <p:cTn id="76" presetID="22" presetClass="entr" presetSubtype="2"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right)">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xit" presetSubtype="2" fill="hold" grpId="1" nodeType="clickEffect">
                                  <p:stCondLst>
                                    <p:cond delay="0"/>
                                  </p:stCondLst>
                                  <p:childTnLst>
                                    <p:animEffect transition="out" filter="wipe(right)">
                                      <p:cBhvr>
                                        <p:cTn id="82" dur="500"/>
                                        <p:tgtEl>
                                          <p:spTgt spid="21"/>
                                        </p:tgtEl>
                                      </p:cBhvr>
                                    </p:animEffect>
                                    <p:set>
                                      <p:cBhvr>
                                        <p:cTn id="83" dur="1" fill="hold">
                                          <p:stCondLst>
                                            <p:cond delay="499"/>
                                          </p:stCondLst>
                                        </p:cTn>
                                        <p:tgtEl>
                                          <p:spTgt spid="21"/>
                                        </p:tgtEl>
                                        <p:attrNameLst>
                                          <p:attrName>style.visibility</p:attrName>
                                        </p:attrNameLst>
                                      </p:cBhvr>
                                      <p:to>
                                        <p:strVal val="hidden"/>
                                      </p:to>
                                    </p:set>
                                  </p:childTnLst>
                                </p:cTn>
                              </p:par>
                            </p:childTnLst>
                          </p:cTn>
                        </p:par>
                        <p:par>
                          <p:cTn id="84" fill="hold">
                            <p:stCondLst>
                              <p:cond delay="500"/>
                            </p:stCondLst>
                            <p:childTnLst>
                              <p:par>
                                <p:cTn id="85" presetID="22" presetClass="entr" presetSubtype="4" fill="hold" grpId="0" nodeType="after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wipe(down)">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xit" presetSubtype="4" fill="hold" grpId="1" nodeType="clickEffect">
                                  <p:stCondLst>
                                    <p:cond delay="0"/>
                                  </p:stCondLst>
                                  <p:childTnLst>
                                    <p:animEffect transition="out" filter="wipe(down)">
                                      <p:cBhvr>
                                        <p:cTn id="91" dur="500"/>
                                        <p:tgtEl>
                                          <p:spTgt spid="24"/>
                                        </p:tgtEl>
                                      </p:cBhvr>
                                    </p:animEffect>
                                    <p:set>
                                      <p:cBhvr>
                                        <p:cTn id="92" dur="1" fill="hold">
                                          <p:stCondLst>
                                            <p:cond delay="499"/>
                                          </p:stCondLst>
                                        </p:cTn>
                                        <p:tgtEl>
                                          <p:spTgt spid="24"/>
                                        </p:tgtEl>
                                        <p:attrNameLst>
                                          <p:attrName>style.visibility</p:attrName>
                                        </p:attrNameLst>
                                      </p:cBhvr>
                                      <p:to>
                                        <p:strVal val="hidden"/>
                                      </p:to>
                                    </p:set>
                                  </p:childTnLst>
                                </p:cTn>
                              </p:par>
                            </p:childTnLst>
                          </p:cTn>
                        </p:par>
                        <p:par>
                          <p:cTn id="93" fill="hold">
                            <p:stCondLst>
                              <p:cond delay="500"/>
                            </p:stCondLst>
                            <p:childTnLst>
                              <p:par>
                                <p:cTn id="94" presetID="16" presetClass="entr" presetSubtype="21" fill="hold" grpId="0" nodeType="after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barn(inVertical)">
                                      <p:cBhvr>
                                        <p:cTn id="96" dur="500"/>
                                        <p:tgtEl>
                                          <p:spTgt spid="25"/>
                                        </p:tgtEl>
                                      </p:cBhvr>
                                    </p:animEffect>
                                  </p:childTnLst>
                                </p:cTn>
                              </p:par>
                            </p:childTnLst>
                          </p:cTn>
                        </p:par>
                        <p:par>
                          <p:cTn id="97" fill="hold">
                            <p:stCondLst>
                              <p:cond delay="1000"/>
                            </p:stCondLst>
                            <p:childTnLst>
                              <p:par>
                                <p:cTn id="98" presetID="42" presetClass="entr" presetSubtype="0" fill="hold" nodeType="afterEffect">
                                  <p:stCondLst>
                                    <p:cond delay="0"/>
                                  </p:stCondLst>
                                  <p:childTnLst>
                                    <p:set>
                                      <p:cBhvr>
                                        <p:cTn id="99" dur="1" fill="hold">
                                          <p:stCondLst>
                                            <p:cond delay="0"/>
                                          </p:stCondLst>
                                        </p:cTn>
                                        <p:tgtEl>
                                          <p:spTgt spid="4">
                                            <p:txEl>
                                              <p:pRg st="2" end="2"/>
                                            </p:txEl>
                                          </p:spTgt>
                                        </p:tgtEl>
                                        <p:attrNameLst>
                                          <p:attrName>style.visibility</p:attrName>
                                        </p:attrNameLst>
                                      </p:cBhvr>
                                      <p:to>
                                        <p:strVal val="visible"/>
                                      </p:to>
                                    </p:set>
                                    <p:animEffect transition="in" filter="fade">
                                      <p:cBhvr>
                                        <p:cTn id="100" dur="500"/>
                                        <p:tgtEl>
                                          <p:spTgt spid="4">
                                            <p:txEl>
                                              <p:pRg st="2" end="2"/>
                                            </p:txEl>
                                          </p:spTgt>
                                        </p:tgtEl>
                                      </p:cBhvr>
                                    </p:animEffect>
                                    <p:anim calcmode="lin" valueType="num">
                                      <p:cBhvr>
                                        <p:cTn id="10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02"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 Propagation</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18</a:t>
            </a:fld>
            <a:endParaRPr lang="en-US" dirty="0"/>
          </a:p>
        </p:txBody>
      </p:sp>
      <p:sp>
        <p:nvSpPr>
          <p:cNvPr id="4" name="Content Placeholder 3"/>
          <p:cNvSpPr>
            <a:spLocks noGrp="1"/>
          </p:cNvSpPr>
          <p:nvPr>
            <p:ph sz="quarter" idx="1"/>
          </p:nvPr>
        </p:nvSpPr>
        <p:spPr>
          <a:xfrm>
            <a:off x="152400" y="1600200"/>
            <a:ext cx="8991600" cy="1992086"/>
          </a:xfrm>
        </p:spPr>
        <p:txBody>
          <a:bodyPr/>
          <a:lstStyle/>
          <a:p>
            <a:r>
              <a:rPr lang="en-US" dirty="0"/>
              <a:t>How many of you have purchased a domain name?</a:t>
            </a:r>
          </a:p>
          <a:p>
            <a:pPr lvl="1"/>
            <a:r>
              <a:rPr lang="en-US" dirty="0"/>
              <a:t>Did you notice that it took ~72 hours for your name to become accessible?</a:t>
            </a:r>
          </a:p>
          <a:p>
            <a:pPr lvl="1"/>
            <a:r>
              <a:rPr lang="en-US" dirty="0"/>
              <a:t>This delay is called DNS Propagation</a:t>
            </a:r>
          </a:p>
        </p:txBody>
      </p:sp>
      <p:pic>
        <p:nvPicPr>
          <p:cNvPr id="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13" y="3934350"/>
            <a:ext cx="687992" cy="687992"/>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5055" y="3939070"/>
            <a:ext cx="687992" cy="687992"/>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9459" y="4424220"/>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037" y="3934350"/>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530" y="3934350"/>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3213" y="4424220"/>
            <a:ext cx="697433" cy="697433"/>
          </a:xfrm>
          <a:prstGeom prst="rect">
            <a:avLst/>
          </a:prstGeom>
          <a:noFill/>
          <a:extLst>
            <a:ext uri="{909E8E84-426E-40dd-AFC4-6F175D3DCCD1}">
              <a14:hiddenFill xmlns="" xmlns:a14="http://schemas.microsoft.com/office/drawing/2010/main">
                <a:solidFill>
                  <a:srgbClr val="FFFFFF"/>
                </a:solidFill>
              </a14:hiddenFill>
            </a:ext>
          </a:extLst>
        </p:spPr>
      </p:pic>
      <p:sp>
        <p:nvSpPr>
          <p:cNvPr id="12" name="TextBox 11"/>
          <p:cNvSpPr txBox="1"/>
          <p:nvPr/>
        </p:nvSpPr>
        <p:spPr>
          <a:xfrm>
            <a:off x="3001514" y="4584579"/>
            <a:ext cx="726481" cy="400110"/>
          </a:xfrm>
          <a:prstGeom prst="rect">
            <a:avLst/>
          </a:prstGeom>
          <a:noFill/>
        </p:spPr>
        <p:txBody>
          <a:bodyPr wrap="none" rtlCol="0">
            <a:spAutoFit/>
          </a:bodyPr>
          <a:lstStyle/>
          <a:p>
            <a:pPr algn="ctr"/>
            <a:r>
              <a:rPr lang="en-US" sz="2000" dirty="0"/>
              <a:t>Root</a:t>
            </a:r>
          </a:p>
        </p:txBody>
      </p:sp>
      <p:sp>
        <p:nvSpPr>
          <p:cNvPr id="13" name="TextBox 12"/>
          <p:cNvSpPr txBox="1"/>
          <p:nvPr/>
        </p:nvSpPr>
        <p:spPr>
          <a:xfrm>
            <a:off x="4475862" y="4554844"/>
            <a:ext cx="668773" cy="400110"/>
          </a:xfrm>
          <a:prstGeom prst="rect">
            <a:avLst/>
          </a:prstGeom>
          <a:noFill/>
        </p:spPr>
        <p:txBody>
          <a:bodyPr wrap="none" rtlCol="0">
            <a:spAutoFit/>
          </a:bodyPr>
          <a:lstStyle/>
          <a:p>
            <a:pPr algn="ctr"/>
            <a:r>
              <a:rPr lang="en-US" sz="2000" dirty="0"/>
              <a:t>com</a:t>
            </a:r>
          </a:p>
        </p:txBody>
      </p:sp>
      <p:sp>
        <p:nvSpPr>
          <p:cNvPr id="14" name="TextBox 13"/>
          <p:cNvSpPr txBox="1"/>
          <p:nvPr/>
        </p:nvSpPr>
        <p:spPr>
          <a:xfrm>
            <a:off x="5158963" y="5043649"/>
            <a:ext cx="2045945" cy="400110"/>
          </a:xfrm>
          <a:prstGeom prst="rect">
            <a:avLst/>
          </a:prstGeom>
          <a:noFill/>
        </p:spPr>
        <p:txBody>
          <a:bodyPr wrap="none" rtlCol="0">
            <a:spAutoFit/>
          </a:bodyPr>
          <a:lstStyle/>
          <a:p>
            <a:pPr algn="ctr"/>
            <a:r>
              <a:rPr lang="en-US" sz="2000" dirty="0"/>
              <a:t>ns.godaddy.com</a:t>
            </a:r>
          </a:p>
        </p:txBody>
      </p:sp>
      <p:sp>
        <p:nvSpPr>
          <p:cNvPr id="15" name="TextBox 14"/>
          <p:cNvSpPr txBox="1"/>
          <p:nvPr/>
        </p:nvSpPr>
        <p:spPr>
          <a:xfrm>
            <a:off x="6351400" y="3555051"/>
            <a:ext cx="2735301" cy="400110"/>
          </a:xfrm>
          <a:prstGeom prst="rect">
            <a:avLst/>
          </a:prstGeom>
          <a:noFill/>
        </p:spPr>
        <p:txBody>
          <a:bodyPr wrap="none" rtlCol="0">
            <a:spAutoFit/>
          </a:bodyPr>
          <a:lstStyle/>
          <a:p>
            <a:pPr algn="ctr"/>
            <a:r>
              <a:rPr lang="en-US" sz="2000" dirty="0"/>
              <a:t>www.my-new-site.com</a:t>
            </a:r>
          </a:p>
        </p:txBody>
      </p:sp>
      <p:sp>
        <p:nvSpPr>
          <p:cNvPr id="16" name="TextBox 15"/>
          <p:cNvSpPr txBox="1"/>
          <p:nvPr/>
        </p:nvSpPr>
        <p:spPr>
          <a:xfrm>
            <a:off x="580659" y="5076757"/>
            <a:ext cx="2420855" cy="400110"/>
          </a:xfrm>
          <a:prstGeom prst="rect">
            <a:avLst/>
          </a:prstGeom>
          <a:noFill/>
        </p:spPr>
        <p:txBody>
          <a:bodyPr wrap="none" rtlCol="0">
            <a:spAutoFit/>
          </a:bodyPr>
          <a:lstStyle/>
          <a:p>
            <a:pPr algn="ctr"/>
            <a:r>
              <a:rPr lang="en-US" sz="2000" dirty="0"/>
              <a:t>asgard.ccs.neu.edu</a:t>
            </a:r>
          </a:p>
        </p:txBody>
      </p:sp>
      <p:cxnSp>
        <p:nvCxnSpPr>
          <p:cNvPr id="17" name="Straight Connector 16"/>
          <p:cNvCxnSpPr/>
          <p:nvPr/>
        </p:nvCxnSpPr>
        <p:spPr>
          <a:xfrm flipV="1">
            <a:off x="6695795" y="4424220"/>
            <a:ext cx="679260" cy="304800"/>
          </a:xfrm>
          <a:prstGeom prst="line">
            <a:avLst/>
          </a:prstGeom>
          <a:ln w="76200">
            <a:solidFill>
              <a:schemeClr val="accent3"/>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3" name="Up Arrow 22"/>
          <p:cNvSpPr/>
          <p:nvPr/>
        </p:nvSpPr>
        <p:spPr>
          <a:xfrm rot="17569223" flipV="1">
            <a:off x="929094" y="4287573"/>
            <a:ext cx="553978" cy="594010"/>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p:cNvSpPr/>
          <p:nvPr/>
        </p:nvSpPr>
        <p:spPr>
          <a:xfrm rot="17569223" flipV="1">
            <a:off x="5275254" y="4257839"/>
            <a:ext cx="553978" cy="594010"/>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 Arrow 27"/>
          <p:cNvSpPr/>
          <p:nvPr/>
        </p:nvSpPr>
        <p:spPr>
          <a:xfrm rot="14655993" flipV="1">
            <a:off x="2359912" y="4249866"/>
            <a:ext cx="553978" cy="594010"/>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p:cNvSpPr/>
          <p:nvPr/>
        </p:nvSpPr>
        <p:spPr>
          <a:xfrm rot="16200000" flipV="1">
            <a:off x="3843832" y="3972877"/>
            <a:ext cx="553978" cy="594010"/>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Content Placeholder 3"/>
          <p:cNvSpPr txBox="1">
            <a:spLocks/>
          </p:cNvSpPr>
          <p:nvPr/>
        </p:nvSpPr>
        <p:spPr>
          <a:xfrm>
            <a:off x="152396" y="5638788"/>
            <a:ext cx="8991600" cy="642336"/>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Why would this process fail for a new DNS name?</a:t>
            </a:r>
          </a:p>
        </p:txBody>
      </p:sp>
    </p:spTree>
    <p:extLst>
      <p:ext uri="{BB962C8B-B14F-4D97-AF65-F5344CB8AC3E}">
        <p14:creationId xmlns:p14="http://schemas.microsoft.com/office/powerpoint/2010/main" val="70440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anim calcmode="lin" valueType="num">
                                      <p:cBhvr>
                                        <p:cTn id="13" dur="500" fill="hold"/>
                                        <p:tgtEl>
                                          <p:spTgt spid="15"/>
                                        </p:tgtEl>
                                        <p:attrNameLst>
                                          <p:attrName>ppt_x</p:attrName>
                                        </p:attrNameLst>
                                      </p:cBhvr>
                                      <p:tavLst>
                                        <p:tav tm="0">
                                          <p:val>
                                            <p:strVal val="#ppt_x"/>
                                          </p:val>
                                        </p:tav>
                                        <p:tav tm="100000">
                                          <p:val>
                                            <p:strVal val="#ppt_x"/>
                                          </p:val>
                                        </p:tav>
                                      </p:tavLst>
                                    </p:anim>
                                    <p:anim calcmode="lin" valueType="num">
                                      <p:cBhvr>
                                        <p:cTn id="1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arn(inVertical)">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500"/>
                                        <p:tgtEl>
                                          <p:spTgt spid="23"/>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500"/>
                                        <p:tgtEl>
                                          <p:spTgt spid="28"/>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left)">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anim calcmode="lin" valueType="num">
                                      <p:cBhvr>
                                        <p:cTn id="42" dur="500" fill="hold"/>
                                        <p:tgtEl>
                                          <p:spTgt spid="30"/>
                                        </p:tgtEl>
                                        <p:attrNameLst>
                                          <p:attrName>ppt_x</p:attrName>
                                        </p:attrNameLst>
                                      </p:cBhvr>
                                      <p:tavLst>
                                        <p:tav tm="0">
                                          <p:val>
                                            <p:strVal val="#ppt_x"/>
                                          </p:val>
                                        </p:tav>
                                        <p:tav tm="100000">
                                          <p:val>
                                            <p:strVal val="#ppt_x"/>
                                          </p:val>
                                        </p:tav>
                                      </p:tavLst>
                                    </p:anim>
                                    <p:anim calcmode="lin" valueType="num">
                                      <p:cBhvr>
                                        <p:cTn id="43"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animBg="1"/>
      <p:bldP spid="27" grpId="0" animBg="1"/>
      <p:bldP spid="28" grpId="0" animBg="1"/>
      <p:bldP spid="29" grpId="0" animBg="1"/>
      <p:bldP spid="30"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Caching vs. Freshness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19</a:t>
            </a:fld>
            <a:endParaRPr lang="en-US" dirty="0"/>
          </a:p>
        </p:txBody>
      </p:sp>
      <p:sp>
        <p:nvSpPr>
          <p:cNvPr id="4" name="Content Placeholder 3"/>
          <p:cNvSpPr>
            <a:spLocks noGrp="1"/>
          </p:cNvSpPr>
          <p:nvPr>
            <p:ph sz="quarter" idx="1"/>
          </p:nvPr>
        </p:nvSpPr>
        <p:spPr>
          <a:xfrm>
            <a:off x="152400" y="1600200"/>
            <a:ext cx="8839200" cy="628147"/>
          </a:xfrm>
        </p:spPr>
        <p:txBody>
          <a:bodyPr/>
          <a:lstStyle/>
          <a:p>
            <a:r>
              <a:rPr lang="en-US" dirty="0"/>
              <a:t>DNS Propagation delay is caused by caching</a:t>
            </a:r>
          </a:p>
        </p:txBody>
      </p:sp>
      <p:pic>
        <p:nvPicPr>
          <p:cNvPr id="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01" y="3421645"/>
            <a:ext cx="687992" cy="687992"/>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3351" y="3457100"/>
            <a:ext cx="697433" cy="697433"/>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6"/>
          <p:cNvSpPr txBox="1"/>
          <p:nvPr/>
        </p:nvSpPr>
        <p:spPr>
          <a:xfrm>
            <a:off x="2934551" y="4109637"/>
            <a:ext cx="2420855" cy="400110"/>
          </a:xfrm>
          <a:prstGeom prst="rect">
            <a:avLst/>
          </a:prstGeom>
          <a:noFill/>
        </p:spPr>
        <p:txBody>
          <a:bodyPr wrap="none" rtlCol="0">
            <a:spAutoFit/>
          </a:bodyPr>
          <a:lstStyle/>
          <a:p>
            <a:pPr algn="ctr"/>
            <a:r>
              <a:rPr lang="en-US" sz="2000" dirty="0"/>
              <a:t>asgard.ccs.neu.edu</a:t>
            </a:r>
          </a:p>
        </p:txBody>
      </p:sp>
      <p:sp>
        <p:nvSpPr>
          <p:cNvPr id="8" name="Up Arrow 7"/>
          <p:cNvSpPr/>
          <p:nvPr/>
        </p:nvSpPr>
        <p:spPr>
          <a:xfrm rot="16200000" flipV="1">
            <a:off x="2215307" y="2483867"/>
            <a:ext cx="553978" cy="2500444"/>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p:nvGrpSpPr>
        <p:grpSpPr>
          <a:xfrm flipH="1">
            <a:off x="5170714" y="2228347"/>
            <a:ext cx="3755571" cy="1592455"/>
            <a:chOff x="1219200" y="4876799"/>
            <a:chExt cx="5181605" cy="1384995"/>
          </a:xfrm>
        </p:grpSpPr>
        <p:sp>
          <p:nvSpPr>
            <p:cNvPr id="10" name="Rectangular Callout 9"/>
            <p:cNvSpPr/>
            <p:nvPr/>
          </p:nvSpPr>
          <p:spPr>
            <a:xfrm>
              <a:off x="1219200" y="4876799"/>
              <a:ext cx="5181602" cy="1384995"/>
            </a:xfrm>
            <a:prstGeom prst="wedgeRectCallout">
              <a:avLst>
                <a:gd name="adj1" fmla="val 64908"/>
                <a:gd name="adj2" fmla="val 46017"/>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11" name="TextBox 10"/>
            <p:cNvSpPr txBox="1"/>
            <p:nvPr/>
          </p:nvSpPr>
          <p:spPr>
            <a:xfrm>
              <a:off x="1219203" y="4901369"/>
              <a:ext cx="5181602" cy="1175322"/>
            </a:xfrm>
            <a:prstGeom prst="rect">
              <a:avLst/>
            </a:prstGeom>
            <a:noFill/>
          </p:spPr>
          <p:txBody>
            <a:bodyPr wrap="square" rtlCol="0">
              <a:spAutoFit/>
            </a:bodyPr>
            <a:lstStyle/>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0" cap="none" spc="0" normalizeH="0" baseline="0" noProof="0" dirty="0">
                  <a:ln>
                    <a:noFill/>
                  </a:ln>
                  <a:solidFill>
                    <a:sysClr val="window" lastClr="FFFFFF"/>
                  </a:solidFill>
                  <a:effectLst/>
                  <a:uLnTx/>
                  <a:uFillTx/>
                </a:rPr>
                <a:t>Cached Root Zone File</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kern="0" dirty="0">
                  <a:solidFill>
                    <a:sysClr val="window" lastClr="FFFFFF"/>
                  </a:solidFill>
                </a:rPr>
                <a:t>Cached .com Zone File</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0" cap="none" spc="0" normalizeH="0" baseline="0" noProof="0" dirty="0">
                  <a:ln>
                    <a:noFill/>
                  </a:ln>
                  <a:solidFill>
                    <a:sysClr val="window" lastClr="FFFFFF"/>
                  </a:solidFill>
                  <a:effectLst/>
                  <a:uLnTx/>
                  <a:uFillTx/>
                </a:rPr>
                <a:t>Cached </a:t>
              </a:r>
              <a:r>
                <a:rPr kumimoji="0" lang="en-US" sz="2400" b="0" i="0" u="none" strike="noStrike" kern="0" cap="none" spc="0" normalizeH="0" baseline="0" noProof="0" dirty="0" err="1">
                  <a:ln>
                    <a:noFill/>
                  </a:ln>
                  <a:solidFill>
                    <a:sysClr val="window" lastClr="FFFFFF"/>
                  </a:solidFill>
                  <a:effectLst/>
                  <a:uLnTx/>
                  <a:uFillTx/>
                </a:rPr>
                <a:t>.net</a:t>
              </a:r>
              <a:r>
                <a:rPr kumimoji="0" lang="en-US" sz="2400" b="0" i="0" u="none" strike="noStrike" kern="0" cap="none" spc="0" normalizeH="0" baseline="0" noProof="0" dirty="0">
                  <a:ln>
                    <a:noFill/>
                  </a:ln>
                  <a:solidFill>
                    <a:sysClr val="window" lastClr="FFFFFF"/>
                  </a:solidFill>
                  <a:effectLst/>
                  <a:uLnTx/>
                  <a:uFillTx/>
                </a:rPr>
                <a:t> Zone File</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kern="0" dirty="0">
                  <a:solidFill>
                    <a:sysClr val="window" lastClr="FFFFFF"/>
                  </a:solidFill>
                </a:rPr>
                <a:t>Etc.</a:t>
              </a:r>
              <a:endParaRPr kumimoji="0" lang="en-US" sz="2400" b="0" i="0" u="none" strike="noStrike" kern="0" cap="none" spc="0" normalizeH="0" baseline="0" noProof="0" dirty="0">
                <a:ln>
                  <a:noFill/>
                </a:ln>
                <a:solidFill>
                  <a:sysClr val="window" lastClr="FFFFFF"/>
                </a:solidFill>
                <a:effectLst/>
                <a:uLnTx/>
                <a:uFillTx/>
              </a:endParaRPr>
            </a:p>
          </p:txBody>
        </p:sp>
      </p:grpSp>
      <p:pic>
        <p:nvPicPr>
          <p:cNvPr id="12"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3653" y="5663786"/>
            <a:ext cx="687992" cy="687992"/>
          </a:xfrm>
          <a:prstGeom prst="rect">
            <a:avLst/>
          </a:prstGeom>
          <a:noFill/>
          <a:extLst>
            <a:ext uri="{909E8E84-426E-40dd-AFC4-6F175D3DCCD1}">
              <a14:hiddenFill xmlns="" xmlns:a14="http://schemas.microsoft.com/office/drawing/2010/main">
                <a:solidFill>
                  <a:srgbClr val="FFFFFF"/>
                </a:solidFill>
              </a14:hiddenFill>
            </a:ext>
          </a:extLst>
        </p:spPr>
      </p:pic>
      <p:pic>
        <p:nvPicPr>
          <p:cNvPr id="13"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7206" y="4113895"/>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4"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15" y="4320420"/>
            <a:ext cx="697433" cy="697433"/>
          </a:xfrm>
          <a:prstGeom prst="rect">
            <a:avLst/>
          </a:prstGeom>
          <a:noFill/>
          <a:extLst>
            <a:ext uri="{909E8E84-426E-40dd-AFC4-6F175D3DCCD1}">
              <a14:hiddenFill xmlns="" xmlns:a14="http://schemas.microsoft.com/office/drawing/2010/main">
                <a:solidFill>
                  <a:srgbClr val="FFFFFF"/>
                </a:solidFill>
              </a14:hiddenFill>
            </a:ext>
          </a:extLst>
        </p:spPr>
      </p:pic>
      <p:pic>
        <p:nvPicPr>
          <p:cNvPr id="15"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9687" y="5745019"/>
            <a:ext cx="697433" cy="697433"/>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TextBox 15"/>
          <p:cNvSpPr txBox="1"/>
          <p:nvPr/>
        </p:nvSpPr>
        <p:spPr>
          <a:xfrm>
            <a:off x="6002683" y="4764124"/>
            <a:ext cx="726481" cy="400110"/>
          </a:xfrm>
          <a:prstGeom prst="rect">
            <a:avLst/>
          </a:prstGeom>
          <a:noFill/>
        </p:spPr>
        <p:txBody>
          <a:bodyPr wrap="none" rtlCol="0">
            <a:spAutoFit/>
          </a:bodyPr>
          <a:lstStyle/>
          <a:p>
            <a:pPr algn="ctr"/>
            <a:r>
              <a:rPr lang="en-US" sz="2000" dirty="0"/>
              <a:t>Root</a:t>
            </a:r>
          </a:p>
        </p:txBody>
      </p:sp>
      <p:sp>
        <p:nvSpPr>
          <p:cNvPr id="17" name="TextBox 16"/>
          <p:cNvSpPr txBox="1"/>
          <p:nvPr/>
        </p:nvSpPr>
        <p:spPr>
          <a:xfrm>
            <a:off x="7586647" y="4940914"/>
            <a:ext cx="668773" cy="400110"/>
          </a:xfrm>
          <a:prstGeom prst="rect">
            <a:avLst/>
          </a:prstGeom>
          <a:noFill/>
        </p:spPr>
        <p:txBody>
          <a:bodyPr wrap="none" rtlCol="0">
            <a:spAutoFit/>
          </a:bodyPr>
          <a:lstStyle/>
          <a:p>
            <a:pPr algn="ctr"/>
            <a:r>
              <a:rPr lang="en-US" sz="2000" dirty="0"/>
              <a:t>com</a:t>
            </a:r>
          </a:p>
        </p:txBody>
      </p:sp>
      <p:sp>
        <p:nvSpPr>
          <p:cNvPr id="18" name="TextBox 17"/>
          <p:cNvSpPr txBox="1"/>
          <p:nvPr/>
        </p:nvSpPr>
        <p:spPr>
          <a:xfrm>
            <a:off x="6735437" y="6364448"/>
            <a:ext cx="2045945" cy="400110"/>
          </a:xfrm>
          <a:prstGeom prst="rect">
            <a:avLst/>
          </a:prstGeom>
          <a:noFill/>
        </p:spPr>
        <p:txBody>
          <a:bodyPr wrap="none" rtlCol="0">
            <a:spAutoFit/>
          </a:bodyPr>
          <a:lstStyle/>
          <a:p>
            <a:pPr algn="ctr"/>
            <a:r>
              <a:rPr lang="en-US" sz="2000" dirty="0"/>
              <a:t>ns.godaddy.com</a:t>
            </a:r>
          </a:p>
        </p:txBody>
      </p:sp>
      <p:sp>
        <p:nvSpPr>
          <p:cNvPr id="19" name="TextBox 18"/>
          <p:cNvSpPr txBox="1"/>
          <p:nvPr/>
        </p:nvSpPr>
        <p:spPr>
          <a:xfrm>
            <a:off x="3749998" y="6297348"/>
            <a:ext cx="2735301" cy="400110"/>
          </a:xfrm>
          <a:prstGeom prst="rect">
            <a:avLst/>
          </a:prstGeom>
          <a:noFill/>
        </p:spPr>
        <p:txBody>
          <a:bodyPr wrap="none" rtlCol="0">
            <a:spAutoFit/>
          </a:bodyPr>
          <a:lstStyle/>
          <a:p>
            <a:pPr algn="ctr"/>
            <a:r>
              <a:rPr lang="en-US" sz="2000" dirty="0"/>
              <a:t>www.my-new-site.com</a:t>
            </a:r>
          </a:p>
        </p:txBody>
      </p:sp>
      <p:cxnSp>
        <p:nvCxnSpPr>
          <p:cNvPr id="20" name="Straight Connector 19"/>
          <p:cNvCxnSpPr/>
          <p:nvPr/>
        </p:nvCxnSpPr>
        <p:spPr>
          <a:xfrm>
            <a:off x="5584371" y="6007782"/>
            <a:ext cx="1719943" cy="0"/>
          </a:xfrm>
          <a:prstGeom prst="line">
            <a:avLst/>
          </a:prstGeom>
          <a:ln w="76200">
            <a:solidFill>
              <a:schemeClr val="accent3"/>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flipH="1">
            <a:off x="170972" y="2256597"/>
            <a:ext cx="3557021" cy="847566"/>
            <a:chOff x="1219200" y="4876799"/>
            <a:chExt cx="5181605" cy="1435489"/>
          </a:xfrm>
        </p:grpSpPr>
        <p:sp>
          <p:nvSpPr>
            <p:cNvPr id="22" name="Rectangular Callout 21"/>
            <p:cNvSpPr/>
            <p:nvPr/>
          </p:nvSpPr>
          <p:spPr>
            <a:xfrm>
              <a:off x="1219200" y="4876799"/>
              <a:ext cx="5181604" cy="1384994"/>
            </a:xfrm>
            <a:prstGeom prst="wedgeRectCallout">
              <a:avLst>
                <a:gd name="adj1" fmla="val 34875"/>
                <a:gd name="adj2" fmla="val 95677"/>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23" name="TextBox 22"/>
            <p:cNvSpPr txBox="1"/>
            <p:nvPr/>
          </p:nvSpPr>
          <p:spPr>
            <a:xfrm>
              <a:off x="1219203" y="4904861"/>
              <a:ext cx="5181602" cy="140742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 lastClr="FFFFFF"/>
                  </a:solidFill>
                  <a:effectLst/>
                  <a:uLnTx/>
                  <a:uFillTx/>
                </a:rPr>
                <a:t>Where is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 lastClr="FFFFFF"/>
                  </a:solidFill>
                  <a:effectLst/>
                  <a:uLnTx/>
                  <a:uFillTx/>
                </a:rPr>
                <a:t>www.my-new-site.com?</a:t>
              </a:r>
            </a:p>
          </p:txBody>
        </p:sp>
      </p:grpSp>
      <p:grpSp>
        <p:nvGrpSpPr>
          <p:cNvPr id="24" name="Group 23"/>
          <p:cNvGrpSpPr/>
          <p:nvPr/>
        </p:nvGrpSpPr>
        <p:grpSpPr>
          <a:xfrm flipH="1">
            <a:off x="2793178" y="2273166"/>
            <a:ext cx="2180345" cy="847566"/>
            <a:chOff x="1219200" y="4876799"/>
            <a:chExt cx="5181605" cy="1435489"/>
          </a:xfrm>
        </p:grpSpPr>
        <p:sp>
          <p:nvSpPr>
            <p:cNvPr id="25" name="Rectangular Callout 24"/>
            <p:cNvSpPr/>
            <p:nvPr/>
          </p:nvSpPr>
          <p:spPr>
            <a:xfrm>
              <a:off x="1219200" y="4876799"/>
              <a:ext cx="5181605" cy="1384994"/>
            </a:xfrm>
            <a:prstGeom prst="wedgeRectCallout">
              <a:avLst>
                <a:gd name="adj1" fmla="val -18546"/>
                <a:gd name="adj2" fmla="val 99671"/>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26" name="TextBox 25"/>
            <p:cNvSpPr txBox="1"/>
            <p:nvPr/>
          </p:nvSpPr>
          <p:spPr>
            <a:xfrm>
              <a:off x="1219203" y="4904861"/>
              <a:ext cx="5181602" cy="140742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kern="0" dirty="0">
                  <a:solidFill>
                    <a:sysClr val="window" lastClr="FFFFFF"/>
                  </a:solidFill>
                </a:rPr>
                <a:t>That name does not exist.</a:t>
              </a:r>
              <a:endParaRPr kumimoji="0" lang="en-US" sz="2400" b="0" i="0" u="none" strike="noStrike" kern="0" cap="none" spc="0" normalizeH="0" baseline="0" noProof="0" dirty="0">
                <a:ln>
                  <a:noFill/>
                </a:ln>
                <a:solidFill>
                  <a:sysClr val="window" lastClr="FFFFFF"/>
                </a:solidFill>
                <a:effectLst/>
                <a:uLnTx/>
                <a:uFillTx/>
              </a:endParaRPr>
            </a:p>
          </p:txBody>
        </p:sp>
      </p:grpSp>
      <p:sp>
        <p:nvSpPr>
          <p:cNvPr id="29" name="Up Arrow 28"/>
          <p:cNvSpPr/>
          <p:nvPr/>
        </p:nvSpPr>
        <p:spPr>
          <a:xfrm rot="5400000" flipV="1">
            <a:off x="2265078" y="2484154"/>
            <a:ext cx="553978" cy="2500444"/>
          </a:xfrm>
          <a:prstGeom prst="upArrow">
            <a:avLst/>
          </a:prstGeom>
          <a:solidFill>
            <a:schemeClr val="accent2"/>
          </a:solidFill>
          <a:ln w="38100">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Content Placeholder 3"/>
          <p:cNvSpPr txBox="1">
            <a:spLocks/>
          </p:cNvSpPr>
          <p:nvPr/>
        </p:nvSpPr>
        <p:spPr>
          <a:xfrm>
            <a:off x="152396" y="4855110"/>
            <a:ext cx="4332518" cy="1009655"/>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Zone files may be cached for 1-72 hours</a:t>
            </a:r>
          </a:p>
        </p:txBody>
      </p:sp>
    </p:spTree>
    <p:extLst>
      <p:ext uri="{BB962C8B-B14F-4D97-AF65-F5344CB8AC3E}">
        <p14:creationId xmlns:p14="http://schemas.microsoft.com/office/powerpoint/2010/main" val="342328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anim calcmode="lin" valueType="num">
                                      <p:cBhvr>
                                        <p:cTn id="8" dur="500" fill="hold"/>
                                        <p:tgtEl>
                                          <p:spTgt spid="21"/>
                                        </p:tgtEl>
                                        <p:attrNameLst>
                                          <p:attrName>ppt_x</p:attrName>
                                        </p:attrNameLst>
                                      </p:cBhvr>
                                      <p:tavLst>
                                        <p:tav tm="0">
                                          <p:val>
                                            <p:strVal val="#ppt_x"/>
                                          </p:val>
                                        </p:tav>
                                        <p:tav tm="100000">
                                          <p:val>
                                            <p:strVal val="#ppt_x"/>
                                          </p:val>
                                        </p:tav>
                                      </p:tavLst>
                                    </p:anim>
                                    <p:anim calcmode="lin" valueType="num">
                                      <p:cBhvr>
                                        <p:cTn id="9" dur="500" fill="hold"/>
                                        <p:tgtEl>
                                          <p:spTgt spid="2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21"/>
                                        </p:tgtEl>
                                      </p:cBhvr>
                                    </p:animEffect>
                                    <p:set>
                                      <p:cBhvr>
                                        <p:cTn id="18" dur="1" fill="hold">
                                          <p:stCondLst>
                                            <p:cond delay="499"/>
                                          </p:stCondLst>
                                        </p:cTn>
                                        <p:tgtEl>
                                          <p:spTgt spid="21"/>
                                        </p:tgtEl>
                                        <p:attrNameLst>
                                          <p:attrName>style.visibility</p:attrName>
                                        </p:attrNameLst>
                                      </p:cBhvr>
                                      <p:to>
                                        <p:strVal val="hidden"/>
                                      </p:to>
                                    </p:set>
                                  </p:childTnLst>
                                </p:cTn>
                              </p:par>
                              <p:par>
                                <p:cTn id="19" presetID="10" presetClass="exit" presetSubtype="0" fill="hold" grpId="1" nodeType="withEffect">
                                  <p:stCondLst>
                                    <p:cond delay="0"/>
                                  </p:stCondLst>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childTnLst>
                          </p:cTn>
                        </p:par>
                        <p:par>
                          <p:cTn id="22" fill="hold">
                            <p:stCondLst>
                              <p:cond delay="500"/>
                            </p:stCondLst>
                            <p:childTnLst>
                              <p:par>
                                <p:cTn id="23" presetID="42"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anim calcmode="lin" valueType="num">
                                      <p:cBhvr>
                                        <p:cTn id="26" dur="500" fill="hold"/>
                                        <p:tgtEl>
                                          <p:spTgt spid="24"/>
                                        </p:tgtEl>
                                        <p:attrNameLst>
                                          <p:attrName>ppt_x</p:attrName>
                                        </p:attrNameLst>
                                      </p:cBhvr>
                                      <p:tavLst>
                                        <p:tav tm="0">
                                          <p:val>
                                            <p:strVal val="#ppt_x"/>
                                          </p:val>
                                        </p:tav>
                                        <p:tav tm="100000">
                                          <p:val>
                                            <p:strVal val="#ppt_x"/>
                                          </p:val>
                                        </p:tav>
                                      </p:tavLst>
                                    </p:anim>
                                    <p:anim calcmode="lin" valueType="num">
                                      <p:cBhvr>
                                        <p:cTn id="27" dur="500" fill="hold"/>
                                        <p:tgtEl>
                                          <p:spTgt spid="24"/>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anim calcmode="lin" valueType="num">
                                      <p:cBhvr>
                                        <p:cTn id="37" dur="500" fill="hold"/>
                                        <p:tgtEl>
                                          <p:spTgt spid="32"/>
                                        </p:tgtEl>
                                        <p:attrNameLst>
                                          <p:attrName>ppt_x</p:attrName>
                                        </p:attrNameLst>
                                      </p:cBhvr>
                                      <p:tavLst>
                                        <p:tav tm="0">
                                          <p:val>
                                            <p:strVal val="#ppt_x"/>
                                          </p:val>
                                        </p:tav>
                                        <p:tav tm="100000">
                                          <p:val>
                                            <p:strVal val="#ppt_x"/>
                                          </p:val>
                                        </p:tav>
                                      </p:tavLst>
                                    </p:anim>
                                    <p:anim calcmode="lin" valueType="num">
                                      <p:cBhvr>
                                        <p:cTn id="38" dur="5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29" grpId="0" animBg="1"/>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 Resource Records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20</a:t>
            </a:fld>
            <a:endParaRPr lang="en-US" dirty="0"/>
          </a:p>
        </p:txBody>
      </p:sp>
      <p:sp>
        <p:nvSpPr>
          <p:cNvPr id="4" name="Content Placeholder 3"/>
          <p:cNvSpPr>
            <a:spLocks noGrp="1"/>
          </p:cNvSpPr>
          <p:nvPr>
            <p:ph sz="quarter" idx="1"/>
          </p:nvPr>
        </p:nvSpPr>
        <p:spPr/>
        <p:txBody>
          <a:bodyPr/>
          <a:lstStyle/>
          <a:p>
            <a:r>
              <a:rPr lang="en-US" dirty="0"/>
              <a:t>DNS queries have two fields: </a:t>
            </a:r>
            <a:r>
              <a:rPr lang="en-US" dirty="0">
                <a:solidFill>
                  <a:schemeClr val="accent1"/>
                </a:solidFill>
              </a:rPr>
              <a:t>name</a:t>
            </a:r>
            <a:r>
              <a:rPr lang="en-US" dirty="0"/>
              <a:t> and </a:t>
            </a:r>
            <a:r>
              <a:rPr lang="en-US" dirty="0">
                <a:solidFill>
                  <a:schemeClr val="accent1"/>
                </a:solidFill>
              </a:rPr>
              <a:t>type</a:t>
            </a:r>
          </a:p>
          <a:p>
            <a:r>
              <a:rPr lang="en-US" dirty="0"/>
              <a:t>Resource record is the response to a query</a:t>
            </a:r>
          </a:p>
          <a:p>
            <a:pPr lvl="1"/>
            <a:r>
              <a:rPr lang="en-US" dirty="0"/>
              <a:t>Four fields: (</a:t>
            </a:r>
            <a:r>
              <a:rPr lang="en-US" dirty="0">
                <a:solidFill>
                  <a:schemeClr val="accent1"/>
                </a:solidFill>
              </a:rPr>
              <a:t>name</a:t>
            </a:r>
            <a:r>
              <a:rPr lang="en-US" dirty="0"/>
              <a:t>, </a:t>
            </a:r>
            <a:r>
              <a:rPr lang="en-US" dirty="0">
                <a:solidFill>
                  <a:schemeClr val="accent1"/>
                </a:solidFill>
              </a:rPr>
              <a:t>value</a:t>
            </a:r>
            <a:r>
              <a:rPr lang="en-US" dirty="0"/>
              <a:t>, </a:t>
            </a:r>
            <a:r>
              <a:rPr lang="en-US" dirty="0">
                <a:solidFill>
                  <a:schemeClr val="accent1"/>
                </a:solidFill>
              </a:rPr>
              <a:t>type</a:t>
            </a:r>
            <a:r>
              <a:rPr lang="en-US" dirty="0"/>
              <a:t>, TTL)</a:t>
            </a:r>
          </a:p>
          <a:p>
            <a:pPr lvl="1"/>
            <a:r>
              <a:rPr lang="en-US" dirty="0"/>
              <a:t>There may be multiple records returned for one query</a:t>
            </a:r>
          </a:p>
          <a:p>
            <a:r>
              <a:rPr lang="en-US" dirty="0"/>
              <a:t>What are do the </a:t>
            </a:r>
            <a:r>
              <a:rPr lang="en-US" dirty="0">
                <a:solidFill>
                  <a:schemeClr val="accent1"/>
                </a:solidFill>
              </a:rPr>
              <a:t>name</a:t>
            </a:r>
            <a:r>
              <a:rPr lang="en-US" dirty="0"/>
              <a:t> and </a:t>
            </a:r>
            <a:r>
              <a:rPr lang="en-US" dirty="0">
                <a:solidFill>
                  <a:schemeClr val="accent1"/>
                </a:solidFill>
              </a:rPr>
              <a:t>value</a:t>
            </a:r>
            <a:r>
              <a:rPr lang="en-US" dirty="0"/>
              <a:t> mean?</a:t>
            </a:r>
          </a:p>
          <a:p>
            <a:pPr lvl="1"/>
            <a:r>
              <a:rPr lang="en-US" dirty="0"/>
              <a:t>Depends on the </a:t>
            </a:r>
            <a:r>
              <a:rPr lang="en-US" dirty="0">
                <a:solidFill>
                  <a:schemeClr val="accent1"/>
                </a:solidFill>
              </a:rPr>
              <a:t>type</a:t>
            </a:r>
            <a:r>
              <a:rPr lang="en-US" dirty="0"/>
              <a:t> of query and response</a:t>
            </a:r>
          </a:p>
        </p:txBody>
      </p:sp>
    </p:spTree>
    <p:extLst>
      <p:ext uri="{BB962C8B-B14F-4D97-AF65-F5344CB8AC3E}">
        <p14:creationId xmlns:p14="http://schemas.microsoft.com/office/powerpoint/2010/main" val="729226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anim calcmode="lin" valueType="num">
                                      <p:cBhvr>
                                        <p:cTn id="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500"/>
                                        <p:tgtEl>
                                          <p:spTgt spid="4">
                                            <p:txEl>
                                              <p:pRg st="5" end="5"/>
                                            </p:txEl>
                                          </p:spTgt>
                                        </p:tgtEl>
                                      </p:cBhvr>
                                    </p:animEffect>
                                    <p:anim calcmode="lin" valueType="num">
                                      <p:cBhvr>
                                        <p:cTn id="1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 Types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21</a:t>
            </a:fld>
            <a:endParaRPr lang="en-US" dirty="0"/>
          </a:p>
        </p:txBody>
      </p:sp>
      <p:sp>
        <p:nvSpPr>
          <p:cNvPr id="4" name="Content Placeholder 3"/>
          <p:cNvSpPr>
            <a:spLocks noGrp="1"/>
          </p:cNvSpPr>
          <p:nvPr>
            <p:ph sz="quarter" idx="1"/>
          </p:nvPr>
        </p:nvSpPr>
        <p:spPr>
          <a:xfrm>
            <a:off x="0" y="1600200"/>
            <a:ext cx="4637314" cy="5257800"/>
          </a:xfrm>
        </p:spPr>
        <p:txBody>
          <a:bodyPr>
            <a:normAutofit/>
          </a:bodyPr>
          <a:lstStyle/>
          <a:p>
            <a:r>
              <a:rPr lang="en-US" dirty="0"/>
              <a:t>Type = A / AAAA</a:t>
            </a:r>
          </a:p>
          <a:p>
            <a:pPr lvl="1"/>
            <a:r>
              <a:rPr lang="en-US" dirty="0"/>
              <a:t>Name = domain name</a:t>
            </a:r>
          </a:p>
          <a:p>
            <a:pPr lvl="1"/>
            <a:r>
              <a:rPr lang="en-US" dirty="0"/>
              <a:t>Value = IP address</a:t>
            </a:r>
          </a:p>
          <a:p>
            <a:pPr lvl="1"/>
            <a:r>
              <a:rPr lang="en-US" dirty="0"/>
              <a:t>A is IPv4, AAAA is IPv6</a:t>
            </a:r>
          </a:p>
          <a:p>
            <a:pPr lvl="1"/>
            <a:endParaRPr lang="en-US" dirty="0"/>
          </a:p>
          <a:p>
            <a:r>
              <a:rPr lang="en-US" dirty="0"/>
              <a:t>Type = NS</a:t>
            </a:r>
          </a:p>
          <a:p>
            <a:pPr lvl="1"/>
            <a:r>
              <a:rPr lang="en-US" dirty="0"/>
              <a:t>Name = partial domain</a:t>
            </a:r>
          </a:p>
          <a:p>
            <a:pPr lvl="1"/>
            <a:r>
              <a:rPr lang="en-US" dirty="0"/>
              <a:t>Value = name of DNS server for this domain</a:t>
            </a:r>
          </a:p>
          <a:p>
            <a:pPr lvl="1"/>
            <a:r>
              <a:rPr lang="en-US" dirty="0"/>
              <a:t>“Go send your query to this other server”</a:t>
            </a:r>
          </a:p>
        </p:txBody>
      </p:sp>
      <p:grpSp>
        <p:nvGrpSpPr>
          <p:cNvPr id="19" name="Group 18"/>
          <p:cNvGrpSpPr/>
          <p:nvPr/>
        </p:nvGrpSpPr>
        <p:grpSpPr>
          <a:xfrm>
            <a:off x="4506247" y="1578429"/>
            <a:ext cx="4354285" cy="1028587"/>
            <a:chOff x="4506247" y="1578429"/>
            <a:chExt cx="4354285" cy="1028587"/>
          </a:xfrm>
        </p:grpSpPr>
        <p:sp>
          <p:nvSpPr>
            <p:cNvPr id="6" name="Rectangle 5"/>
            <p:cNvSpPr/>
            <p:nvPr/>
          </p:nvSpPr>
          <p:spPr>
            <a:xfrm>
              <a:off x="4506247" y="1578429"/>
              <a:ext cx="4354285" cy="10285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rot="16200000">
              <a:off x="4242430" y="1864665"/>
              <a:ext cx="1023037" cy="461665"/>
            </a:xfrm>
            <a:prstGeom prst="rect">
              <a:avLst/>
            </a:prstGeom>
            <a:noFill/>
          </p:spPr>
          <p:txBody>
            <a:bodyPr wrap="none" rtlCol="0">
              <a:spAutoFit/>
            </a:bodyPr>
            <a:lstStyle/>
            <a:p>
              <a:pPr algn="ctr"/>
              <a:r>
                <a:rPr lang="en-US" sz="2400" dirty="0">
                  <a:solidFill>
                    <a:schemeClr val="bg1"/>
                  </a:solidFill>
                </a:rPr>
                <a:t>Query</a:t>
              </a:r>
            </a:p>
          </p:txBody>
        </p:sp>
        <p:sp>
          <p:nvSpPr>
            <p:cNvPr id="8" name="TextBox 7"/>
            <p:cNvSpPr txBox="1"/>
            <p:nvPr/>
          </p:nvSpPr>
          <p:spPr>
            <a:xfrm>
              <a:off x="5104961" y="1660181"/>
              <a:ext cx="358140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2"/>
                </a:rPr>
                <a:t>www.ccs.neu.edu</a:t>
              </a:r>
              <a:endParaRPr lang="en-US" sz="2400" dirty="0">
                <a:solidFill>
                  <a:schemeClr val="bg1"/>
                </a:solidFill>
              </a:endParaRPr>
            </a:p>
            <a:p>
              <a:r>
                <a:rPr lang="en-US" sz="2400" dirty="0">
                  <a:solidFill>
                    <a:schemeClr val="bg1"/>
                  </a:solidFill>
                </a:rPr>
                <a:t>Type: A</a:t>
              </a:r>
            </a:p>
          </p:txBody>
        </p:sp>
      </p:grpSp>
      <p:grpSp>
        <p:nvGrpSpPr>
          <p:cNvPr id="20" name="Group 19"/>
          <p:cNvGrpSpPr/>
          <p:nvPr/>
        </p:nvGrpSpPr>
        <p:grpSpPr>
          <a:xfrm>
            <a:off x="4506248" y="2699432"/>
            <a:ext cx="4354285" cy="1028587"/>
            <a:chOff x="4506248" y="2699432"/>
            <a:chExt cx="4354285" cy="1028587"/>
          </a:xfrm>
        </p:grpSpPr>
        <p:sp>
          <p:nvSpPr>
            <p:cNvPr id="10" name="Rectangle 9"/>
            <p:cNvSpPr/>
            <p:nvPr/>
          </p:nvSpPr>
          <p:spPr>
            <a:xfrm>
              <a:off x="4506248" y="2699432"/>
              <a:ext cx="4354285" cy="1028587"/>
            </a:xfrm>
            <a:prstGeom prst="rect">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rot="16200000">
              <a:off x="4259263" y="2985668"/>
              <a:ext cx="989373" cy="461665"/>
            </a:xfrm>
            <a:prstGeom prst="rect">
              <a:avLst/>
            </a:prstGeom>
            <a:noFill/>
          </p:spPr>
          <p:txBody>
            <a:bodyPr wrap="none" rtlCol="0">
              <a:spAutoFit/>
            </a:bodyPr>
            <a:lstStyle/>
            <a:p>
              <a:pPr algn="ctr"/>
              <a:r>
                <a:rPr lang="en-US" sz="2400" dirty="0">
                  <a:solidFill>
                    <a:schemeClr val="bg1"/>
                  </a:solidFill>
                </a:rPr>
                <a:t>Resp.</a:t>
              </a:r>
            </a:p>
          </p:txBody>
        </p:sp>
        <p:sp>
          <p:nvSpPr>
            <p:cNvPr id="12" name="TextBox 11"/>
            <p:cNvSpPr txBox="1"/>
            <p:nvPr/>
          </p:nvSpPr>
          <p:spPr>
            <a:xfrm>
              <a:off x="5104962" y="2781184"/>
              <a:ext cx="358140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2"/>
                </a:rPr>
                <a:t>www.ccs.neu.edu</a:t>
              </a:r>
              <a:endParaRPr lang="en-US" sz="2400" dirty="0">
                <a:solidFill>
                  <a:schemeClr val="bg1"/>
                </a:solidFill>
              </a:endParaRPr>
            </a:p>
            <a:p>
              <a:r>
                <a:rPr lang="en-US" sz="2400" dirty="0">
                  <a:solidFill>
                    <a:schemeClr val="bg1"/>
                  </a:solidFill>
                </a:rPr>
                <a:t>Value: 129.10.116.81</a:t>
              </a:r>
            </a:p>
          </p:txBody>
        </p:sp>
      </p:grpSp>
      <p:grpSp>
        <p:nvGrpSpPr>
          <p:cNvPr id="21" name="Group 20"/>
          <p:cNvGrpSpPr/>
          <p:nvPr/>
        </p:nvGrpSpPr>
        <p:grpSpPr>
          <a:xfrm>
            <a:off x="4506247" y="4386944"/>
            <a:ext cx="4354285" cy="1028587"/>
            <a:chOff x="4506247" y="4386944"/>
            <a:chExt cx="4354285" cy="1028587"/>
          </a:xfrm>
        </p:grpSpPr>
        <p:sp>
          <p:nvSpPr>
            <p:cNvPr id="13" name="Rectangle 12"/>
            <p:cNvSpPr/>
            <p:nvPr/>
          </p:nvSpPr>
          <p:spPr>
            <a:xfrm>
              <a:off x="4506247" y="4386944"/>
              <a:ext cx="4354285" cy="10285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rot="16200000">
              <a:off x="4242430" y="4673180"/>
              <a:ext cx="1023037" cy="461665"/>
            </a:xfrm>
            <a:prstGeom prst="rect">
              <a:avLst/>
            </a:prstGeom>
            <a:noFill/>
          </p:spPr>
          <p:txBody>
            <a:bodyPr wrap="none" rtlCol="0">
              <a:spAutoFit/>
            </a:bodyPr>
            <a:lstStyle/>
            <a:p>
              <a:pPr algn="ctr"/>
              <a:r>
                <a:rPr lang="en-US" sz="2400" dirty="0">
                  <a:solidFill>
                    <a:schemeClr val="bg1"/>
                  </a:solidFill>
                </a:rPr>
                <a:t>Query</a:t>
              </a:r>
            </a:p>
          </p:txBody>
        </p:sp>
        <p:sp>
          <p:nvSpPr>
            <p:cNvPr id="15" name="TextBox 14"/>
            <p:cNvSpPr txBox="1"/>
            <p:nvPr/>
          </p:nvSpPr>
          <p:spPr>
            <a:xfrm>
              <a:off x="5104961" y="4468696"/>
              <a:ext cx="358140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2"/>
                </a:rPr>
                <a:t>ccs.neu.edu</a:t>
              </a:r>
              <a:endParaRPr lang="en-US" sz="2400" dirty="0">
                <a:solidFill>
                  <a:schemeClr val="bg1"/>
                </a:solidFill>
              </a:endParaRPr>
            </a:p>
            <a:p>
              <a:r>
                <a:rPr lang="en-US" sz="2400" dirty="0">
                  <a:solidFill>
                    <a:schemeClr val="bg1"/>
                  </a:solidFill>
                </a:rPr>
                <a:t>Type: NS</a:t>
              </a:r>
            </a:p>
          </p:txBody>
        </p:sp>
      </p:grpSp>
      <p:grpSp>
        <p:nvGrpSpPr>
          <p:cNvPr id="22" name="Group 21"/>
          <p:cNvGrpSpPr/>
          <p:nvPr/>
        </p:nvGrpSpPr>
        <p:grpSpPr>
          <a:xfrm>
            <a:off x="4506248" y="5507947"/>
            <a:ext cx="4354285" cy="1028587"/>
            <a:chOff x="4506248" y="5507947"/>
            <a:chExt cx="4354285" cy="1028587"/>
          </a:xfrm>
        </p:grpSpPr>
        <p:sp>
          <p:nvSpPr>
            <p:cNvPr id="16" name="Rectangle 15"/>
            <p:cNvSpPr/>
            <p:nvPr/>
          </p:nvSpPr>
          <p:spPr>
            <a:xfrm>
              <a:off x="4506248" y="5507947"/>
              <a:ext cx="4354285" cy="1028587"/>
            </a:xfrm>
            <a:prstGeom prst="rect">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rot="16200000">
              <a:off x="4259263" y="5794183"/>
              <a:ext cx="989373" cy="461665"/>
            </a:xfrm>
            <a:prstGeom prst="rect">
              <a:avLst/>
            </a:prstGeom>
            <a:noFill/>
          </p:spPr>
          <p:txBody>
            <a:bodyPr wrap="none" rtlCol="0">
              <a:spAutoFit/>
            </a:bodyPr>
            <a:lstStyle/>
            <a:p>
              <a:pPr algn="ctr"/>
              <a:r>
                <a:rPr lang="en-US" sz="2400" dirty="0">
                  <a:solidFill>
                    <a:schemeClr val="bg1"/>
                  </a:solidFill>
                </a:rPr>
                <a:t>Resp.</a:t>
              </a:r>
            </a:p>
          </p:txBody>
        </p:sp>
        <p:sp>
          <p:nvSpPr>
            <p:cNvPr id="18" name="TextBox 17"/>
            <p:cNvSpPr txBox="1"/>
            <p:nvPr/>
          </p:nvSpPr>
          <p:spPr>
            <a:xfrm>
              <a:off x="5104962" y="5589699"/>
              <a:ext cx="358140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2"/>
                </a:rPr>
                <a:t>ccs.neu.edu</a:t>
              </a:r>
              <a:endParaRPr lang="en-US" sz="2400" dirty="0">
                <a:solidFill>
                  <a:schemeClr val="bg1"/>
                </a:solidFill>
              </a:endParaRPr>
            </a:p>
            <a:p>
              <a:r>
                <a:rPr lang="en-US" sz="2400" dirty="0">
                  <a:solidFill>
                    <a:schemeClr val="bg1"/>
                  </a:solidFill>
                </a:rPr>
                <a:t>Value: 129.10.116.51</a:t>
              </a:r>
            </a:p>
          </p:txBody>
        </p:sp>
      </p:grpSp>
    </p:spTree>
    <p:extLst>
      <p:ext uri="{BB962C8B-B14F-4D97-AF65-F5344CB8AC3E}">
        <p14:creationId xmlns:p14="http://schemas.microsoft.com/office/powerpoint/2010/main" val="82679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anim calcmode="lin" valueType="num">
                                      <p:cBhvr>
                                        <p:cTn id="8" dur="500" fill="hold"/>
                                        <p:tgtEl>
                                          <p:spTgt spid="19"/>
                                        </p:tgtEl>
                                        <p:attrNameLst>
                                          <p:attrName>ppt_x</p:attrName>
                                        </p:attrNameLst>
                                      </p:cBhvr>
                                      <p:tavLst>
                                        <p:tav tm="0">
                                          <p:val>
                                            <p:strVal val="#ppt_x"/>
                                          </p:val>
                                        </p:tav>
                                        <p:tav tm="100000">
                                          <p:val>
                                            <p:strVal val="#ppt_x"/>
                                          </p:val>
                                        </p:tav>
                                      </p:tavLst>
                                    </p:anim>
                                    <p:anim calcmode="lin" valueType="num">
                                      <p:cBhvr>
                                        <p:cTn id="9"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500"/>
                                        <p:tgtEl>
                                          <p:spTgt spid="20"/>
                                        </p:tgtEl>
                                      </p:cBhvr>
                                    </p:animEffect>
                                    <p:anim calcmode="lin" valueType="num">
                                      <p:cBhvr>
                                        <p:cTn id="15" dur="500" fill="hold"/>
                                        <p:tgtEl>
                                          <p:spTgt spid="20"/>
                                        </p:tgtEl>
                                        <p:attrNameLst>
                                          <p:attrName>ppt_x</p:attrName>
                                        </p:attrNameLst>
                                      </p:cBhvr>
                                      <p:tavLst>
                                        <p:tav tm="0">
                                          <p:val>
                                            <p:strVal val="#ppt_x"/>
                                          </p:val>
                                        </p:tav>
                                        <p:tav tm="100000">
                                          <p:val>
                                            <p:strVal val="#ppt_x"/>
                                          </p:val>
                                        </p:tav>
                                      </p:tavLst>
                                    </p:anim>
                                    <p:anim calcmode="lin" valueType="num">
                                      <p:cBhvr>
                                        <p:cTn id="16"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anim calcmode="lin" valueType="num">
                                      <p:cBhvr>
                                        <p:cTn id="22"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5" end="5"/>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fade">
                                      <p:cBhvr>
                                        <p:cTn id="26" dur="500"/>
                                        <p:tgtEl>
                                          <p:spTgt spid="4">
                                            <p:txEl>
                                              <p:pRg st="6" end="6"/>
                                            </p:txEl>
                                          </p:spTgt>
                                        </p:tgtEl>
                                      </p:cBhvr>
                                    </p:animEffect>
                                    <p:anim calcmode="lin" valueType="num">
                                      <p:cBhvr>
                                        <p:cTn id="2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8" dur="500" fill="hold"/>
                                        <p:tgtEl>
                                          <p:spTgt spid="4">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500"/>
                                        <p:tgtEl>
                                          <p:spTgt spid="4">
                                            <p:txEl>
                                              <p:pRg st="7" end="7"/>
                                            </p:txEl>
                                          </p:spTgt>
                                        </p:tgtEl>
                                      </p:cBhvr>
                                    </p:animEffect>
                                    <p:anim calcmode="lin" valueType="num">
                                      <p:cBhvr>
                                        <p:cTn id="32"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3" dur="500" fill="hold"/>
                                        <p:tgtEl>
                                          <p:spTgt spid="4">
                                            <p:txEl>
                                              <p:pRg st="7" end="7"/>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
                                            <p:txEl>
                                              <p:pRg st="8" end="8"/>
                                            </p:txEl>
                                          </p:spTgt>
                                        </p:tgtEl>
                                        <p:attrNameLst>
                                          <p:attrName>style.visibility</p:attrName>
                                        </p:attrNameLst>
                                      </p:cBhvr>
                                      <p:to>
                                        <p:strVal val="visible"/>
                                      </p:to>
                                    </p:set>
                                    <p:animEffect transition="in" filter="fade">
                                      <p:cBhvr>
                                        <p:cTn id="36" dur="500"/>
                                        <p:tgtEl>
                                          <p:spTgt spid="4">
                                            <p:txEl>
                                              <p:pRg st="8" end="8"/>
                                            </p:txEl>
                                          </p:spTgt>
                                        </p:tgtEl>
                                      </p:cBhvr>
                                    </p:animEffect>
                                    <p:anim calcmode="lin" valueType="num">
                                      <p:cBhvr>
                                        <p:cTn id="3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8" dur="5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anim calcmode="lin" valueType="num">
                                      <p:cBhvr>
                                        <p:cTn id="44" dur="500" fill="hold"/>
                                        <p:tgtEl>
                                          <p:spTgt spid="21"/>
                                        </p:tgtEl>
                                        <p:attrNameLst>
                                          <p:attrName>ppt_x</p:attrName>
                                        </p:attrNameLst>
                                      </p:cBhvr>
                                      <p:tavLst>
                                        <p:tav tm="0">
                                          <p:val>
                                            <p:strVal val="#ppt_x"/>
                                          </p:val>
                                        </p:tav>
                                        <p:tav tm="100000">
                                          <p:val>
                                            <p:strVal val="#ppt_x"/>
                                          </p:val>
                                        </p:tav>
                                      </p:tavLst>
                                    </p:anim>
                                    <p:anim calcmode="lin" valueType="num">
                                      <p:cBhvr>
                                        <p:cTn id="45"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anim calcmode="lin" valueType="num">
                                      <p:cBhvr>
                                        <p:cTn id="51" dur="500" fill="hold"/>
                                        <p:tgtEl>
                                          <p:spTgt spid="22"/>
                                        </p:tgtEl>
                                        <p:attrNameLst>
                                          <p:attrName>ppt_x</p:attrName>
                                        </p:attrNameLst>
                                      </p:cBhvr>
                                      <p:tavLst>
                                        <p:tav tm="0">
                                          <p:val>
                                            <p:strVal val="#ppt_x"/>
                                          </p:val>
                                        </p:tav>
                                        <p:tav tm="100000">
                                          <p:val>
                                            <p:strVal val="#ppt_x"/>
                                          </p:val>
                                        </p:tav>
                                      </p:tavLst>
                                    </p:anim>
                                    <p:anim calcmode="lin" valueType="num">
                                      <p:cBhvr>
                                        <p:cTn id="52"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 Types, Continued</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22</a:t>
            </a:fld>
            <a:endParaRPr lang="en-US" dirty="0"/>
          </a:p>
        </p:txBody>
      </p:sp>
      <p:sp>
        <p:nvSpPr>
          <p:cNvPr id="6" name="Content Placeholder 5"/>
          <p:cNvSpPr>
            <a:spLocks noGrp="1"/>
          </p:cNvSpPr>
          <p:nvPr>
            <p:ph sz="quarter" idx="1"/>
          </p:nvPr>
        </p:nvSpPr>
        <p:spPr>
          <a:xfrm>
            <a:off x="76198" y="1600200"/>
            <a:ext cx="4561112" cy="5105400"/>
          </a:xfrm>
        </p:spPr>
        <p:txBody>
          <a:bodyPr>
            <a:normAutofit lnSpcReduction="10000"/>
          </a:bodyPr>
          <a:lstStyle/>
          <a:p>
            <a:r>
              <a:rPr lang="en-US" dirty="0"/>
              <a:t>Type = CNAME</a:t>
            </a:r>
          </a:p>
          <a:p>
            <a:pPr lvl="1"/>
            <a:r>
              <a:rPr lang="en-US" dirty="0"/>
              <a:t>Name = hostname</a:t>
            </a:r>
          </a:p>
          <a:p>
            <a:pPr lvl="1"/>
            <a:r>
              <a:rPr lang="en-US" dirty="0"/>
              <a:t>Value = canonical hostname</a:t>
            </a:r>
          </a:p>
          <a:p>
            <a:pPr lvl="1"/>
            <a:r>
              <a:rPr lang="en-US" dirty="0"/>
              <a:t>Useful for aliasing</a:t>
            </a:r>
          </a:p>
          <a:p>
            <a:pPr lvl="1"/>
            <a:r>
              <a:rPr lang="en-US" dirty="0"/>
              <a:t>CDNs use this</a:t>
            </a:r>
          </a:p>
          <a:p>
            <a:pPr lvl="1"/>
            <a:endParaRPr lang="en-US" dirty="0"/>
          </a:p>
          <a:p>
            <a:r>
              <a:rPr lang="en-US" dirty="0"/>
              <a:t>Type = MX</a:t>
            </a:r>
          </a:p>
          <a:p>
            <a:pPr lvl="1"/>
            <a:r>
              <a:rPr lang="en-US" dirty="0"/>
              <a:t>Name = domain in email address</a:t>
            </a:r>
          </a:p>
          <a:p>
            <a:pPr lvl="1"/>
            <a:r>
              <a:rPr lang="en-US" dirty="0"/>
              <a:t>Value = canonical name of mail server</a:t>
            </a:r>
          </a:p>
          <a:p>
            <a:endParaRPr lang="en-US" dirty="0"/>
          </a:p>
        </p:txBody>
      </p:sp>
      <p:grpSp>
        <p:nvGrpSpPr>
          <p:cNvPr id="7" name="Group 6"/>
          <p:cNvGrpSpPr/>
          <p:nvPr/>
        </p:nvGrpSpPr>
        <p:grpSpPr>
          <a:xfrm>
            <a:off x="4604221" y="1578429"/>
            <a:ext cx="4354285" cy="1028587"/>
            <a:chOff x="4506247" y="1578429"/>
            <a:chExt cx="4354285" cy="1028587"/>
          </a:xfrm>
        </p:grpSpPr>
        <p:sp>
          <p:nvSpPr>
            <p:cNvPr id="8" name="Rectangle 7"/>
            <p:cNvSpPr/>
            <p:nvPr/>
          </p:nvSpPr>
          <p:spPr>
            <a:xfrm>
              <a:off x="4506247" y="1578429"/>
              <a:ext cx="4354285" cy="10285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rot="16200000">
              <a:off x="4242430" y="1864665"/>
              <a:ext cx="1023037" cy="461665"/>
            </a:xfrm>
            <a:prstGeom prst="rect">
              <a:avLst/>
            </a:prstGeom>
            <a:noFill/>
          </p:spPr>
          <p:txBody>
            <a:bodyPr wrap="none" rtlCol="0">
              <a:spAutoFit/>
            </a:bodyPr>
            <a:lstStyle/>
            <a:p>
              <a:pPr algn="ctr"/>
              <a:r>
                <a:rPr lang="en-US" sz="2400" dirty="0">
                  <a:solidFill>
                    <a:schemeClr val="bg1"/>
                  </a:solidFill>
                </a:rPr>
                <a:t>Query</a:t>
              </a:r>
            </a:p>
          </p:txBody>
        </p:sp>
        <p:sp>
          <p:nvSpPr>
            <p:cNvPr id="10" name="TextBox 9"/>
            <p:cNvSpPr txBox="1"/>
            <p:nvPr/>
          </p:nvSpPr>
          <p:spPr>
            <a:xfrm>
              <a:off x="5104961" y="1660181"/>
              <a:ext cx="358140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2" action="ppaction://hlinkfile"/>
                </a:rPr>
                <a:t>foo.mysite.com</a:t>
              </a:r>
              <a:endParaRPr lang="en-US" sz="2400" dirty="0">
                <a:solidFill>
                  <a:schemeClr val="bg1"/>
                </a:solidFill>
              </a:endParaRPr>
            </a:p>
            <a:p>
              <a:r>
                <a:rPr lang="en-US" sz="2400" dirty="0">
                  <a:solidFill>
                    <a:schemeClr val="bg1"/>
                  </a:solidFill>
                </a:rPr>
                <a:t>Type: CNAME</a:t>
              </a:r>
            </a:p>
          </p:txBody>
        </p:sp>
      </p:grpSp>
      <p:grpSp>
        <p:nvGrpSpPr>
          <p:cNvPr id="11" name="Group 10"/>
          <p:cNvGrpSpPr/>
          <p:nvPr/>
        </p:nvGrpSpPr>
        <p:grpSpPr>
          <a:xfrm>
            <a:off x="4604222" y="2699432"/>
            <a:ext cx="4354285" cy="1028587"/>
            <a:chOff x="4506248" y="2699432"/>
            <a:chExt cx="4354285" cy="1028587"/>
          </a:xfrm>
        </p:grpSpPr>
        <p:sp>
          <p:nvSpPr>
            <p:cNvPr id="12" name="Rectangle 11"/>
            <p:cNvSpPr/>
            <p:nvPr/>
          </p:nvSpPr>
          <p:spPr>
            <a:xfrm>
              <a:off x="4506248" y="2699432"/>
              <a:ext cx="4354285" cy="1028587"/>
            </a:xfrm>
            <a:prstGeom prst="rect">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rot="16200000">
              <a:off x="4259263" y="2985668"/>
              <a:ext cx="989373" cy="461665"/>
            </a:xfrm>
            <a:prstGeom prst="rect">
              <a:avLst/>
            </a:prstGeom>
            <a:noFill/>
          </p:spPr>
          <p:txBody>
            <a:bodyPr wrap="none" rtlCol="0">
              <a:spAutoFit/>
            </a:bodyPr>
            <a:lstStyle/>
            <a:p>
              <a:pPr algn="ctr"/>
              <a:r>
                <a:rPr lang="en-US" sz="2400" dirty="0">
                  <a:solidFill>
                    <a:schemeClr val="bg1"/>
                  </a:solidFill>
                </a:rPr>
                <a:t>Resp.</a:t>
              </a:r>
            </a:p>
          </p:txBody>
        </p:sp>
        <p:sp>
          <p:nvSpPr>
            <p:cNvPr id="14" name="TextBox 13"/>
            <p:cNvSpPr txBox="1"/>
            <p:nvPr/>
          </p:nvSpPr>
          <p:spPr>
            <a:xfrm>
              <a:off x="5104962" y="2781184"/>
              <a:ext cx="358140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2" action="ppaction://hlinkfile"/>
                </a:rPr>
                <a:t>foo.mysite.com</a:t>
              </a:r>
              <a:endParaRPr lang="en-US" sz="2400" dirty="0">
                <a:solidFill>
                  <a:schemeClr val="bg1"/>
                </a:solidFill>
              </a:endParaRPr>
            </a:p>
            <a:p>
              <a:r>
                <a:rPr lang="en-US" sz="2400" dirty="0">
                  <a:solidFill>
                    <a:schemeClr val="bg1"/>
                  </a:solidFill>
                </a:rPr>
                <a:t>Value: </a:t>
              </a:r>
              <a:r>
                <a:rPr lang="en-US" sz="2400" dirty="0">
                  <a:solidFill>
                    <a:schemeClr val="bg1"/>
                  </a:solidFill>
                  <a:hlinkClick r:id="rId3" action="ppaction://hlinkfile"/>
                </a:rPr>
                <a:t>bar.mysite.com</a:t>
              </a:r>
              <a:endParaRPr lang="en-US" sz="2400" dirty="0">
                <a:solidFill>
                  <a:schemeClr val="bg1"/>
                </a:solidFill>
              </a:endParaRPr>
            </a:p>
          </p:txBody>
        </p:sp>
      </p:grpSp>
      <p:grpSp>
        <p:nvGrpSpPr>
          <p:cNvPr id="15" name="Group 14"/>
          <p:cNvGrpSpPr/>
          <p:nvPr/>
        </p:nvGrpSpPr>
        <p:grpSpPr>
          <a:xfrm>
            <a:off x="4604221" y="4386944"/>
            <a:ext cx="4354285" cy="1028587"/>
            <a:chOff x="4506247" y="4386944"/>
            <a:chExt cx="4354285" cy="1028587"/>
          </a:xfrm>
        </p:grpSpPr>
        <p:sp>
          <p:nvSpPr>
            <p:cNvPr id="16" name="Rectangle 15"/>
            <p:cNvSpPr/>
            <p:nvPr/>
          </p:nvSpPr>
          <p:spPr>
            <a:xfrm>
              <a:off x="4506247" y="4386944"/>
              <a:ext cx="4354285" cy="10285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rot="16200000">
              <a:off x="4242430" y="4673180"/>
              <a:ext cx="1023037" cy="461665"/>
            </a:xfrm>
            <a:prstGeom prst="rect">
              <a:avLst/>
            </a:prstGeom>
            <a:noFill/>
          </p:spPr>
          <p:txBody>
            <a:bodyPr wrap="none" rtlCol="0">
              <a:spAutoFit/>
            </a:bodyPr>
            <a:lstStyle/>
            <a:p>
              <a:pPr algn="ctr"/>
              <a:r>
                <a:rPr lang="en-US" sz="2400" dirty="0">
                  <a:solidFill>
                    <a:schemeClr val="bg1"/>
                  </a:solidFill>
                </a:rPr>
                <a:t>Query</a:t>
              </a:r>
            </a:p>
          </p:txBody>
        </p:sp>
        <p:sp>
          <p:nvSpPr>
            <p:cNvPr id="18" name="TextBox 17"/>
            <p:cNvSpPr txBox="1"/>
            <p:nvPr/>
          </p:nvSpPr>
          <p:spPr>
            <a:xfrm>
              <a:off x="5104961" y="4468696"/>
              <a:ext cx="358140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4"/>
                </a:rPr>
                <a:t>ccs.neu.edu</a:t>
              </a:r>
              <a:endParaRPr lang="en-US" sz="2400" dirty="0">
                <a:solidFill>
                  <a:schemeClr val="bg1"/>
                </a:solidFill>
              </a:endParaRPr>
            </a:p>
            <a:p>
              <a:r>
                <a:rPr lang="en-US" sz="2400" dirty="0">
                  <a:solidFill>
                    <a:schemeClr val="bg1"/>
                  </a:solidFill>
                </a:rPr>
                <a:t>Type: MX</a:t>
              </a:r>
            </a:p>
          </p:txBody>
        </p:sp>
      </p:grpSp>
      <p:grpSp>
        <p:nvGrpSpPr>
          <p:cNvPr id="19" name="Group 18"/>
          <p:cNvGrpSpPr/>
          <p:nvPr/>
        </p:nvGrpSpPr>
        <p:grpSpPr>
          <a:xfrm>
            <a:off x="4604222" y="5507947"/>
            <a:ext cx="4354285" cy="1028587"/>
            <a:chOff x="4506248" y="5507947"/>
            <a:chExt cx="4354285" cy="1028587"/>
          </a:xfrm>
        </p:grpSpPr>
        <p:sp>
          <p:nvSpPr>
            <p:cNvPr id="20" name="Rectangle 19"/>
            <p:cNvSpPr/>
            <p:nvPr/>
          </p:nvSpPr>
          <p:spPr>
            <a:xfrm>
              <a:off x="4506248" y="5507947"/>
              <a:ext cx="4354285" cy="1028587"/>
            </a:xfrm>
            <a:prstGeom prst="rect">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rot="16200000">
              <a:off x="4259263" y="5794183"/>
              <a:ext cx="989373" cy="461665"/>
            </a:xfrm>
            <a:prstGeom prst="rect">
              <a:avLst/>
            </a:prstGeom>
            <a:noFill/>
          </p:spPr>
          <p:txBody>
            <a:bodyPr wrap="none" rtlCol="0">
              <a:spAutoFit/>
            </a:bodyPr>
            <a:lstStyle/>
            <a:p>
              <a:pPr algn="ctr"/>
              <a:r>
                <a:rPr lang="en-US" sz="2400" dirty="0">
                  <a:solidFill>
                    <a:schemeClr val="bg1"/>
                  </a:solidFill>
                </a:rPr>
                <a:t>Resp.</a:t>
              </a:r>
            </a:p>
          </p:txBody>
        </p:sp>
        <p:sp>
          <p:nvSpPr>
            <p:cNvPr id="22" name="TextBox 21"/>
            <p:cNvSpPr txBox="1"/>
            <p:nvPr/>
          </p:nvSpPr>
          <p:spPr>
            <a:xfrm>
              <a:off x="5104962" y="5589699"/>
              <a:ext cx="3755570" cy="830997"/>
            </a:xfrm>
            <a:prstGeom prst="rect">
              <a:avLst/>
            </a:prstGeom>
            <a:noFill/>
          </p:spPr>
          <p:txBody>
            <a:bodyPr wrap="square" rtlCol="0">
              <a:spAutoFit/>
            </a:bodyPr>
            <a:lstStyle/>
            <a:p>
              <a:r>
                <a:rPr lang="en-US" sz="2400" dirty="0">
                  <a:solidFill>
                    <a:schemeClr val="bg1"/>
                  </a:solidFill>
                </a:rPr>
                <a:t>Name: </a:t>
              </a:r>
              <a:r>
                <a:rPr lang="en-US" sz="2400" dirty="0">
                  <a:solidFill>
                    <a:schemeClr val="bg1"/>
                  </a:solidFill>
                  <a:hlinkClick r:id="rId4"/>
                </a:rPr>
                <a:t>ccs.neu.edu</a:t>
              </a:r>
              <a:endParaRPr lang="en-US" sz="2400" dirty="0">
                <a:solidFill>
                  <a:schemeClr val="bg1"/>
                </a:solidFill>
              </a:endParaRPr>
            </a:p>
            <a:p>
              <a:r>
                <a:rPr lang="en-US" sz="2400" dirty="0">
                  <a:solidFill>
                    <a:schemeClr val="bg1"/>
                  </a:solidFill>
                </a:rPr>
                <a:t>Value: </a:t>
              </a:r>
              <a:r>
                <a:rPr lang="en-US" sz="2400" dirty="0">
                  <a:solidFill>
                    <a:schemeClr val="bg1"/>
                  </a:solidFill>
                  <a:hlinkClick r:id="rId5" action="ppaction://hlinkfile"/>
                </a:rPr>
                <a:t>amber.ccs.neu.edu</a:t>
              </a:r>
              <a:endParaRPr lang="en-US" sz="2400" dirty="0">
                <a:solidFill>
                  <a:schemeClr val="bg1"/>
                </a:solidFill>
              </a:endParaRPr>
            </a:p>
          </p:txBody>
        </p:sp>
      </p:grpSp>
    </p:spTree>
    <p:extLst>
      <p:ext uri="{BB962C8B-B14F-4D97-AF65-F5344CB8AC3E}">
        <p14:creationId xmlns:p14="http://schemas.microsoft.com/office/powerpoint/2010/main" val="427695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anim calcmode="lin" valueType="num">
                                      <p:cBhvr>
                                        <p:cTn id="15" dur="500" fill="hold"/>
                                        <p:tgtEl>
                                          <p:spTgt spid="11"/>
                                        </p:tgtEl>
                                        <p:attrNameLst>
                                          <p:attrName>ppt_x</p:attrName>
                                        </p:attrNameLst>
                                      </p:cBhvr>
                                      <p:tavLst>
                                        <p:tav tm="0">
                                          <p:val>
                                            <p:strVal val="#ppt_x"/>
                                          </p:val>
                                        </p:tav>
                                        <p:tav tm="100000">
                                          <p:val>
                                            <p:strVal val="#ppt_x"/>
                                          </p:val>
                                        </p:tav>
                                      </p:tavLst>
                                    </p:anim>
                                    <p:anim calcmode="lin" valueType="num">
                                      <p:cBhvr>
                                        <p:cTn id="1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fade">
                                      <p:cBhvr>
                                        <p:cTn id="21" dur="500"/>
                                        <p:tgtEl>
                                          <p:spTgt spid="6">
                                            <p:txEl>
                                              <p:pRg st="6" end="6"/>
                                            </p:txEl>
                                          </p:spTgt>
                                        </p:tgtEl>
                                      </p:cBhvr>
                                    </p:animEffect>
                                    <p:anim calcmode="lin" valueType="num">
                                      <p:cBhvr>
                                        <p:cTn id="22"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3" dur="500" fill="hold"/>
                                        <p:tgtEl>
                                          <p:spTgt spid="6">
                                            <p:txEl>
                                              <p:pRg st="6" end="6"/>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6">
                                            <p:txEl>
                                              <p:pRg st="7" end="7"/>
                                            </p:txEl>
                                          </p:spTgt>
                                        </p:tgtEl>
                                        <p:attrNameLst>
                                          <p:attrName>style.visibility</p:attrName>
                                        </p:attrNameLst>
                                      </p:cBhvr>
                                      <p:to>
                                        <p:strVal val="visible"/>
                                      </p:to>
                                    </p:set>
                                    <p:animEffect transition="in" filter="fade">
                                      <p:cBhvr>
                                        <p:cTn id="26" dur="500"/>
                                        <p:tgtEl>
                                          <p:spTgt spid="6">
                                            <p:txEl>
                                              <p:pRg st="7" end="7"/>
                                            </p:txEl>
                                          </p:spTgt>
                                        </p:tgtEl>
                                      </p:cBhvr>
                                    </p:animEffect>
                                    <p:anim calcmode="lin" valueType="num">
                                      <p:cBhvr>
                                        <p:cTn id="2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28" dur="500" fill="hold"/>
                                        <p:tgtEl>
                                          <p:spTgt spid="6">
                                            <p:txEl>
                                              <p:pRg st="7" end="7"/>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Effect transition="in" filter="fade">
                                      <p:cBhvr>
                                        <p:cTn id="31" dur="500"/>
                                        <p:tgtEl>
                                          <p:spTgt spid="6">
                                            <p:txEl>
                                              <p:pRg st="8" end="8"/>
                                            </p:txEl>
                                          </p:spTgt>
                                        </p:tgtEl>
                                      </p:cBhvr>
                                    </p:animEffect>
                                    <p:anim calcmode="lin" valueType="num">
                                      <p:cBhvr>
                                        <p:cTn id="32"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3" dur="5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anim calcmode="lin" valueType="num">
                                      <p:cBhvr>
                                        <p:cTn id="39" dur="500" fill="hold"/>
                                        <p:tgtEl>
                                          <p:spTgt spid="15"/>
                                        </p:tgtEl>
                                        <p:attrNameLst>
                                          <p:attrName>ppt_x</p:attrName>
                                        </p:attrNameLst>
                                      </p:cBhvr>
                                      <p:tavLst>
                                        <p:tav tm="0">
                                          <p:val>
                                            <p:strVal val="#ppt_x"/>
                                          </p:val>
                                        </p:tav>
                                        <p:tav tm="100000">
                                          <p:val>
                                            <p:strVal val="#ppt_x"/>
                                          </p:val>
                                        </p:tav>
                                      </p:tavLst>
                                    </p:anim>
                                    <p:anim calcmode="lin" valueType="num">
                                      <p:cBhvr>
                                        <p:cTn id="4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anim calcmode="lin" valueType="num">
                                      <p:cBhvr>
                                        <p:cTn id="46" dur="500" fill="hold"/>
                                        <p:tgtEl>
                                          <p:spTgt spid="19"/>
                                        </p:tgtEl>
                                        <p:attrNameLst>
                                          <p:attrName>ppt_x</p:attrName>
                                        </p:attrNameLst>
                                      </p:cBhvr>
                                      <p:tavLst>
                                        <p:tav tm="0">
                                          <p:val>
                                            <p:strVal val="#ppt_x"/>
                                          </p:val>
                                        </p:tav>
                                        <p:tav tm="100000">
                                          <p:val>
                                            <p:strVal val="#ppt_x"/>
                                          </p:val>
                                        </p:tav>
                                      </p:tavLst>
                                    </p:anim>
                                    <p:anim calcmode="lin" valueType="num">
                                      <p:cBhvr>
                                        <p:cTn id="4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Reverse Lookups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23</a:t>
            </a:fld>
            <a:endParaRPr lang="en-US" dirty="0"/>
          </a:p>
        </p:txBody>
      </p:sp>
      <p:sp>
        <p:nvSpPr>
          <p:cNvPr id="4" name="Content Placeholder 3"/>
          <p:cNvSpPr>
            <a:spLocks noGrp="1"/>
          </p:cNvSpPr>
          <p:nvPr>
            <p:ph sz="quarter" idx="1"/>
          </p:nvPr>
        </p:nvSpPr>
        <p:spPr>
          <a:xfrm>
            <a:off x="152399" y="1600200"/>
            <a:ext cx="8958943" cy="5105400"/>
          </a:xfrm>
        </p:spPr>
        <p:txBody>
          <a:bodyPr/>
          <a:lstStyle/>
          <a:p>
            <a:r>
              <a:rPr lang="en-US" dirty="0"/>
              <a:t>What about the </a:t>
            </a:r>
            <a:r>
              <a:rPr lang="en-US" dirty="0" err="1"/>
              <a:t>IP</a:t>
            </a:r>
            <a:r>
              <a:rPr lang="en-US" dirty="0" err="1">
                <a:sym typeface="Wingdings" pitchFamily="2" charset="2"/>
              </a:rPr>
              <a:t>name</a:t>
            </a:r>
            <a:r>
              <a:rPr lang="en-US" dirty="0">
                <a:sym typeface="Wingdings" pitchFamily="2" charset="2"/>
              </a:rPr>
              <a:t> mapping?</a:t>
            </a:r>
          </a:p>
          <a:p>
            <a:r>
              <a:rPr lang="en-US" dirty="0"/>
              <a:t>Separate server hierarchy stores reverse mappings</a:t>
            </a:r>
          </a:p>
          <a:p>
            <a:pPr lvl="1"/>
            <a:r>
              <a:rPr lang="en-US" dirty="0"/>
              <a:t>Rooted at in-</a:t>
            </a:r>
            <a:r>
              <a:rPr lang="en-US" dirty="0" err="1"/>
              <a:t>addr.arpa</a:t>
            </a:r>
            <a:r>
              <a:rPr lang="en-US" dirty="0"/>
              <a:t> and ip6.arpa</a:t>
            </a:r>
          </a:p>
          <a:p>
            <a:r>
              <a:rPr lang="en-US" dirty="0"/>
              <a:t>Additional DNS record </a:t>
            </a:r>
            <a:r>
              <a:rPr lang="en-US" dirty="0">
                <a:solidFill>
                  <a:schemeClr val="accent1"/>
                </a:solidFill>
              </a:rPr>
              <a:t>type</a:t>
            </a:r>
            <a:r>
              <a:rPr lang="en-US" dirty="0"/>
              <a:t>: PTR</a:t>
            </a:r>
          </a:p>
          <a:p>
            <a:pPr lvl="1"/>
            <a:r>
              <a:rPr lang="en-US" dirty="0"/>
              <a:t>Name = IP address</a:t>
            </a:r>
          </a:p>
          <a:p>
            <a:pPr lvl="1"/>
            <a:r>
              <a:rPr lang="en-US" dirty="0"/>
              <a:t>Value = domain name</a:t>
            </a:r>
          </a:p>
          <a:p>
            <a:r>
              <a:rPr lang="en-US" dirty="0"/>
              <a:t>Not guaranteed to exist</a:t>
            </a:r>
            <a:br>
              <a:rPr lang="en-US" dirty="0"/>
            </a:br>
            <a:r>
              <a:rPr lang="en-US" dirty="0"/>
              <a:t>for all IPs</a:t>
            </a:r>
          </a:p>
        </p:txBody>
      </p:sp>
      <p:grpSp>
        <p:nvGrpSpPr>
          <p:cNvPr id="5" name="Group 4"/>
          <p:cNvGrpSpPr/>
          <p:nvPr/>
        </p:nvGrpSpPr>
        <p:grpSpPr>
          <a:xfrm>
            <a:off x="4604221" y="4386944"/>
            <a:ext cx="4354285" cy="1028587"/>
            <a:chOff x="4506247" y="4386944"/>
            <a:chExt cx="4354285" cy="1028587"/>
          </a:xfrm>
        </p:grpSpPr>
        <p:sp>
          <p:nvSpPr>
            <p:cNvPr id="6" name="Rectangle 5"/>
            <p:cNvSpPr/>
            <p:nvPr/>
          </p:nvSpPr>
          <p:spPr>
            <a:xfrm>
              <a:off x="4506247" y="4386944"/>
              <a:ext cx="4354285" cy="10285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rot="16200000">
              <a:off x="4242430" y="4673180"/>
              <a:ext cx="1023037" cy="461665"/>
            </a:xfrm>
            <a:prstGeom prst="rect">
              <a:avLst/>
            </a:prstGeom>
            <a:noFill/>
          </p:spPr>
          <p:txBody>
            <a:bodyPr wrap="none" rtlCol="0">
              <a:spAutoFit/>
            </a:bodyPr>
            <a:lstStyle/>
            <a:p>
              <a:pPr algn="ctr"/>
              <a:r>
                <a:rPr lang="en-US" sz="2400" dirty="0">
                  <a:solidFill>
                    <a:schemeClr val="bg1"/>
                  </a:solidFill>
                </a:rPr>
                <a:t>Query</a:t>
              </a:r>
            </a:p>
          </p:txBody>
        </p:sp>
        <p:sp>
          <p:nvSpPr>
            <p:cNvPr id="8" name="TextBox 7"/>
            <p:cNvSpPr txBox="1"/>
            <p:nvPr/>
          </p:nvSpPr>
          <p:spPr>
            <a:xfrm>
              <a:off x="5104961" y="4468696"/>
              <a:ext cx="3581400" cy="830997"/>
            </a:xfrm>
            <a:prstGeom prst="rect">
              <a:avLst/>
            </a:prstGeom>
            <a:noFill/>
          </p:spPr>
          <p:txBody>
            <a:bodyPr wrap="square" rtlCol="0">
              <a:spAutoFit/>
            </a:bodyPr>
            <a:lstStyle/>
            <a:p>
              <a:r>
                <a:rPr lang="en-US" sz="2400" dirty="0">
                  <a:solidFill>
                    <a:schemeClr val="bg1"/>
                  </a:solidFill>
                </a:rPr>
                <a:t>Name: 129.10.116.51 Type: PTR</a:t>
              </a:r>
            </a:p>
          </p:txBody>
        </p:sp>
      </p:grpSp>
      <p:grpSp>
        <p:nvGrpSpPr>
          <p:cNvPr id="9" name="Group 8"/>
          <p:cNvGrpSpPr/>
          <p:nvPr/>
        </p:nvGrpSpPr>
        <p:grpSpPr>
          <a:xfrm>
            <a:off x="4604222" y="5507947"/>
            <a:ext cx="4354285" cy="1028587"/>
            <a:chOff x="4506248" y="5507947"/>
            <a:chExt cx="4354285" cy="1028587"/>
          </a:xfrm>
        </p:grpSpPr>
        <p:sp>
          <p:nvSpPr>
            <p:cNvPr id="10" name="Rectangle 9"/>
            <p:cNvSpPr/>
            <p:nvPr/>
          </p:nvSpPr>
          <p:spPr>
            <a:xfrm>
              <a:off x="4506248" y="5507947"/>
              <a:ext cx="4354285" cy="1028587"/>
            </a:xfrm>
            <a:prstGeom prst="rect">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rot="16200000">
              <a:off x="4259263" y="5794183"/>
              <a:ext cx="989373" cy="461665"/>
            </a:xfrm>
            <a:prstGeom prst="rect">
              <a:avLst/>
            </a:prstGeom>
            <a:noFill/>
          </p:spPr>
          <p:txBody>
            <a:bodyPr wrap="none" rtlCol="0">
              <a:spAutoFit/>
            </a:bodyPr>
            <a:lstStyle/>
            <a:p>
              <a:pPr algn="ctr"/>
              <a:r>
                <a:rPr lang="en-US" sz="2400" dirty="0">
                  <a:solidFill>
                    <a:schemeClr val="bg1"/>
                  </a:solidFill>
                </a:rPr>
                <a:t>Resp.</a:t>
              </a:r>
            </a:p>
          </p:txBody>
        </p:sp>
        <p:sp>
          <p:nvSpPr>
            <p:cNvPr id="12" name="TextBox 11"/>
            <p:cNvSpPr txBox="1"/>
            <p:nvPr/>
          </p:nvSpPr>
          <p:spPr>
            <a:xfrm>
              <a:off x="5104962" y="5589699"/>
              <a:ext cx="3755570" cy="830997"/>
            </a:xfrm>
            <a:prstGeom prst="rect">
              <a:avLst/>
            </a:prstGeom>
            <a:noFill/>
          </p:spPr>
          <p:txBody>
            <a:bodyPr wrap="square" rtlCol="0">
              <a:spAutoFit/>
            </a:bodyPr>
            <a:lstStyle/>
            <a:p>
              <a:r>
                <a:rPr lang="en-US" sz="2400" dirty="0">
                  <a:solidFill>
                    <a:schemeClr val="bg1"/>
                  </a:solidFill>
                </a:rPr>
                <a:t>Name: 129.10.116.51 Value: </a:t>
              </a:r>
              <a:r>
                <a:rPr lang="en-US" sz="2400" dirty="0">
                  <a:solidFill>
                    <a:schemeClr val="bg1"/>
                  </a:solidFill>
                  <a:hlinkClick r:id="rId2" action="ppaction://hlinkfile"/>
                </a:rPr>
                <a:t>ccs.neu.edu</a:t>
              </a:r>
              <a:endParaRPr lang="en-US" sz="2400" dirty="0">
                <a:solidFill>
                  <a:schemeClr val="bg1"/>
                </a:solidFill>
              </a:endParaRPr>
            </a:p>
          </p:txBody>
        </p:sp>
      </p:grpSp>
    </p:spTree>
    <p:extLst>
      <p:ext uri="{BB962C8B-B14F-4D97-AF65-F5344CB8AC3E}">
        <p14:creationId xmlns:p14="http://schemas.microsoft.com/office/powerpoint/2010/main" val="132260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anim calcmode="lin" valueType="num">
                                      <p:cBhvr>
                                        <p:cTn id="15" dur="500" fill="hold"/>
                                        <p:tgtEl>
                                          <p:spTgt spid="9"/>
                                        </p:tgtEl>
                                        <p:attrNameLst>
                                          <p:attrName>ppt_x</p:attrName>
                                        </p:attrNameLst>
                                      </p:cBhvr>
                                      <p:tavLst>
                                        <p:tav tm="0">
                                          <p:val>
                                            <p:strVal val="#ppt_x"/>
                                          </p:val>
                                        </p:tav>
                                        <p:tav tm="100000">
                                          <p:val>
                                            <p:strVal val="#ppt_x"/>
                                          </p:val>
                                        </p:tav>
                                      </p:tavLst>
                                    </p:anim>
                                    <p:anim calcmode="lin" valueType="num">
                                      <p:cBhvr>
                                        <p:cTn id="16"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 as Indirection Service</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24</a:t>
            </a:fld>
            <a:endParaRPr lang="en-US" dirty="0"/>
          </a:p>
        </p:txBody>
      </p:sp>
      <p:sp>
        <p:nvSpPr>
          <p:cNvPr id="4" name="Content Placeholder 3"/>
          <p:cNvSpPr>
            <a:spLocks noGrp="1"/>
          </p:cNvSpPr>
          <p:nvPr>
            <p:ph sz="quarter" idx="1"/>
          </p:nvPr>
        </p:nvSpPr>
        <p:spPr/>
        <p:txBody>
          <a:bodyPr/>
          <a:lstStyle/>
          <a:p>
            <a:r>
              <a:rPr lang="en-US" dirty="0"/>
              <a:t>DNS gives us very powerful capabilities</a:t>
            </a:r>
          </a:p>
          <a:p>
            <a:pPr lvl="1"/>
            <a:r>
              <a:rPr lang="en-US" dirty="0"/>
              <a:t>Not only easier for humans to reference machines!</a:t>
            </a:r>
          </a:p>
          <a:p>
            <a:pPr marL="365760" lvl="1" indent="0">
              <a:buNone/>
            </a:pPr>
            <a:endParaRPr lang="en-US" dirty="0"/>
          </a:p>
          <a:p>
            <a:r>
              <a:rPr lang="en-US" dirty="0"/>
              <a:t>Changing the IPs of machines becomes trivial</a:t>
            </a:r>
          </a:p>
          <a:p>
            <a:pPr lvl="1"/>
            <a:r>
              <a:rPr lang="en-US" dirty="0"/>
              <a:t>e.g. you want to move your web server to a new host</a:t>
            </a:r>
          </a:p>
          <a:p>
            <a:pPr lvl="1"/>
            <a:r>
              <a:rPr lang="en-US" dirty="0"/>
              <a:t>Just change the DNS record!</a:t>
            </a:r>
          </a:p>
        </p:txBody>
      </p:sp>
    </p:spTree>
    <p:extLst>
      <p:ext uri="{BB962C8B-B14F-4D97-AF65-F5344CB8AC3E}">
        <p14:creationId xmlns:p14="http://schemas.microsoft.com/office/powerpoint/2010/main" val="63702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anim calcmode="lin" valueType="num">
                                      <p:cBhvr>
                                        <p:cTn id="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anim calcmode="lin" valueType="num">
                                      <p:cBhvr>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500"/>
                                        <p:tgtEl>
                                          <p:spTgt spid="4">
                                            <p:txEl>
                                              <p:pRg st="5" end="5"/>
                                            </p:txEl>
                                          </p:spTgt>
                                        </p:tgtEl>
                                      </p:cBhvr>
                                    </p:animEffect>
                                    <p:anim calcmode="lin" valueType="num">
                                      <p:cBhvr>
                                        <p:cTn id="1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Aliasing and Load Balancing</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25</a:t>
            </a:fld>
            <a:endParaRPr lang="en-US" dirty="0"/>
          </a:p>
        </p:txBody>
      </p:sp>
      <p:sp>
        <p:nvSpPr>
          <p:cNvPr id="4" name="Content Placeholder 3"/>
          <p:cNvSpPr>
            <a:spLocks noGrp="1"/>
          </p:cNvSpPr>
          <p:nvPr>
            <p:ph sz="quarter" idx="1"/>
          </p:nvPr>
        </p:nvSpPr>
        <p:spPr>
          <a:xfrm>
            <a:off x="152400" y="1523998"/>
            <a:ext cx="8839200" cy="598714"/>
          </a:xfrm>
        </p:spPr>
        <p:txBody>
          <a:bodyPr/>
          <a:lstStyle/>
          <a:p>
            <a:r>
              <a:rPr lang="en-US" dirty="0"/>
              <a:t>One machine can have many aliases</a:t>
            </a:r>
          </a:p>
        </p:txBody>
      </p:sp>
      <p:pic>
        <p:nvPicPr>
          <p:cNvPr id="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4387" y="2407293"/>
            <a:ext cx="948757" cy="948757"/>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Box 5"/>
          <p:cNvSpPr txBox="1"/>
          <p:nvPr/>
        </p:nvSpPr>
        <p:spPr>
          <a:xfrm>
            <a:off x="1236733" y="2115270"/>
            <a:ext cx="1994713" cy="400110"/>
          </a:xfrm>
          <a:prstGeom prst="rect">
            <a:avLst/>
          </a:prstGeom>
          <a:noFill/>
        </p:spPr>
        <p:txBody>
          <a:bodyPr wrap="none" rtlCol="0">
            <a:spAutoFit/>
          </a:bodyPr>
          <a:lstStyle/>
          <a:p>
            <a:pPr algn="ctr"/>
            <a:r>
              <a:rPr lang="en-US" sz="2000" dirty="0"/>
              <a:t>www.reddit.com</a:t>
            </a:r>
          </a:p>
        </p:txBody>
      </p:sp>
      <p:sp>
        <p:nvSpPr>
          <p:cNvPr id="8" name="TextBox 7"/>
          <p:cNvSpPr txBox="1"/>
          <p:nvPr/>
        </p:nvSpPr>
        <p:spPr>
          <a:xfrm>
            <a:off x="653240" y="2580692"/>
            <a:ext cx="2578206" cy="400110"/>
          </a:xfrm>
          <a:prstGeom prst="rect">
            <a:avLst/>
          </a:prstGeom>
          <a:noFill/>
        </p:spPr>
        <p:txBody>
          <a:bodyPr wrap="none" rtlCol="0">
            <a:spAutoFit/>
          </a:bodyPr>
          <a:lstStyle/>
          <a:p>
            <a:pPr algn="ctr"/>
            <a:r>
              <a:rPr lang="en-US" sz="2000" dirty="0"/>
              <a:t>www.foursquare.com</a:t>
            </a:r>
          </a:p>
        </p:txBody>
      </p:sp>
      <p:sp>
        <p:nvSpPr>
          <p:cNvPr id="9" name="TextBox 8"/>
          <p:cNvSpPr txBox="1"/>
          <p:nvPr/>
        </p:nvSpPr>
        <p:spPr>
          <a:xfrm>
            <a:off x="273136" y="3059654"/>
            <a:ext cx="2958310" cy="400110"/>
          </a:xfrm>
          <a:prstGeom prst="rect">
            <a:avLst/>
          </a:prstGeom>
          <a:noFill/>
        </p:spPr>
        <p:txBody>
          <a:bodyPr wrap="none" rtlCol="0">
            <a:spAutoFit/>
          </a:bodyPr>
          <a:lstStyle/>
          <a:p>
            <a:pPr algn="ctr"/>
            <a:r>
              <a:rPr lang="en-US" sz="2000" dirty="0"/>
              <a:t>www.huffingtonpost.com</a:t>
            </a:r>
          </a:p>
        </p:txBody>
      </p:sp>
      <p:cxnSp>
        <p:nvCxnSpPr>
          <p:cNvPr id="13" name="Straight Arrow Connector 12"/>
          <p:cNvCxnSpPr>
            <a:stCxn id="6" idx="3"/>
          </p:cNvCxnSpPr>
          <p:nvPr/>
        </p:nvCxnSpPr>
        <p:spPr>
          <a:xfrm>
            <a:off x="3231446" y="2315325"/>
            <a:ext cx="1090184" cy="20005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3"/>
          </p:cNvCxnSpPr>
          <p:nvPr/>
        </p:nvCxnSpPr>
        <p:spPr>
          <a:xfrm>
            <a:off x="3231446" y="2780747"/>
            <a:ext cx="1090184"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3"/>
          </p:cNvCxnSpPr>
          <p:nvPr/>
        </p:nvCxnSpPr>
        <p:spPr>
          <a:xfrm flipV="1">
            <a:off x="3231446" y="3059654"/>
            <a:ext cx="1090184" cy="20005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311645" y="3070540"/>
            <a:ext cx="1879041" cy="400110"/>
          </a:xfrm>
          <a:prstGeom prst="rect">
            <a:avLst/>
          </a:prstGeom>
          <a:noFill/>
        </p:spPr>
        <p:txBody>
          <a:bodyPr wrap="none" rtlCol="0">
            <a:spAutoFit/>
          </a:bodyPr>
          <a:lstStyle/>
          <a:p>
            <a:pPr algn="ctr"/>
            <a:r>
              <a:rPr lang="en-US" sz="2000" dirty="0"/>
              <a:t>*.blogspot.com</a:t>
            </a:r>
          </a:p>
        </p:txBody>
      </p:sp>
      <p:sp>
        <p:nvSpPr>
          <p:cNvPr id="21" name="TextBox 20"/>
          <p:cNvSpPr txBox="1"/>
          <p:nvPr/>
        </p:nvSpPr>
        <p:spPr>
          <a:xfrm>
            <a:off x="6512024" y="2092210"/>
            <a:ext cx="2133918" cy="400110"/>
          </a:xfrm>
          <a:prstGeom prst="rect">
            <a:avLst/>
          </a:prstGeom>
          <a:noFill/>
        </p:spPr>
        <p:txBody>
          <a:bodyPr wrap="none" rtlCol="0">
            <a:spAutoFit/>
          </a:bodyPr>
          <a:lstStyle/>
          <a:p>
            <a:pPr algn="ctr"/>
            <a:r>
              <a:rPr lang="en-US" sz="2000" dirty="0" err="1"/>
              <a:t>david.choffnes.com</a:t>
            </a:r>
            <a:endParaRPr lang="en-US" sz="2000" dirty="0"/>
          </a:p>
        </p:txBody>
      </p:sp>
      <p:sp>
        <p:nvSpPr>
          <p:cNvPr id="22" name="TextBox 21"/>
          <p:cNvSpPr txBox="1"/>
          <p:nvPr/>
        </p:nvSpPr>
        <p:spPr>
          <a:xfrm>
            <a:off x="6770347" y="2578614"/>
            <a:ext cx="1476210" cy="400110"/>
          </a:xfrm>
          <a:prstGeom prst="rect">
            <a:avLst/>
          </a:prstGeom>
          <a:noFill/>
        </p:spPr>
        <p:txBody>
          <a:bodyPr wrap="none" rtlCol="0">
            <a:spAutoFit/>
          </a:bodyPr>
          <a:lstStyle/>
          <a:p>
            <a:pPr algn="ctr"/>
            <a:r>
              <a:rPr lang="en-US" sz="2000" dirty="0" err="1"/>
              <a:t>alan.mislo.ve</a:t>
            </a:r>
            <a:endParaRPr lang="en-US" sz="2000" dirty="0"/>
          </a:p>
        </p:txBody>
      </p:sp>
      <p:cxnSp>
        <p:nvCxnSpPr>
          <p:cNvPr id="24" name="Straight Arrow Connector 23"/>
          <p:cNvCxnSpPr>
            <a:stCxn id="22" idx="1"/>
          </p:cNvCxnSpPr>
          <p:nvPr/>
        </p:nvCxnSpPr>
        <p:spPr>
          <a:xfrm flipH="1">
            <a:off x="5263163" y="2778669"/>
            <a:ext cx="1507184" cy="5029"/>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1" idx="1"/>
          </p:cNvCxnSpPr>
          <p:nvPr/>
        </p:nvCxnSpPr>
        <p:spPr>
          <a:xfrm flipH="1">
            <a:off x="5263154" y="2292265"/>
            <a:ext cx="1248870" cy="22311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20" idx="1"/>
          </p:cNvCxnSpPr>
          <p:nvPr/>
        </p:nvCxnSpPr>
        <p:spPr>
          <a:xfrm flipH="1" flipV="1">
            <a:off x="5263144" y="3059654"/>
            <a:ext cx="1048501" cy="210941"/>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35" name="Content Placeholder 3"/>
          <p:cNvSpPr txBox="1">
            <a:spLocks/>
          </p:cNvSpPr>
          <p:nvPr/>
        </p:nvSpPr>
        <p:spPr>
          <a:xfrm>
            <a:off x="159514" y="3592279"/>
            <a:ext cx="8839200" cy="598714"/>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One domain can map to multiple machines</a:t>
            </a:r>
          </a:p>
        </p:txBody>
      </p:sp>
      <p:pic>
        <p:nvPicPr>
          <p:cNvPr id="36"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713" y="4145159"/>
            <a:ext cx="851735" cy="851735"/>
          </a:xfrm>
          <a:prstGeom prst="rect">
            <a:avLst/>
          </a:prstGeom>
          <a:noFill/>
          <a:extLst>
            <a:ext uri="{909E8E84-426E-40dd-AFC4-6F175D3DCCD1}">
              <a14:hiddenFill xmlns="" xmlns:a14="http://schemas.microsoft.com/office/drawing/2010/main">
                <a:solidFill>
                  <a:srgbClr val="FFFFFF"/>
                </a:solidFill>
              </a14:hiddenFill>
            </a:ext>
          </a:extLst>
        </p:spPr>
      </p:pic>
      <p:sp>
        <p:nvSpPr>
          <p:cNvPr id="39" name="TextBox 38"/>
          <p:cNvSpPr txBox="1"/>
          <p:nvPr/>
        </p:nvSpPr>
        <p:spPr>
          <a:xfrm>
            <a:off x="2036083" y="5133353"/>
            <a:ext cx="2124557" cy="400110"/>
          </a:xfrm>
          <a:prstGeom prst="rect">
            <a:avLst/>
          </a:prstGeom>
          <a:noFill/>
        </p:spPr>
        <p:txBody>
          <a:bodyPr wrap="none" rtlCol="0">
            <a:spAutoFit/>
          </a:bodyPr>
          <a:lstStyle/>
          <a:p>
            <a:pPr algn="ctr"/>
            <a:r>
              <a:rPr lang="en-US" sz="2000" dirty="0"/>
              <a:t>www.google.com</a:t>
            </a:r>
          </a:p>
        </p:txBody>
      </p:sp>
      <p:cxnSp>
        <p:nvCxnSpPr>
          <p:cNvPr id="40" name="Straight Arrow Connector 39"/>
          <p:cNvCxnSpPr>
            <a:stCxn id="39" idx="3"/>
            <a:endCxn id="59" idx="1"/>
          </p:cNvCxnSpPr>
          <p:nvPr/>
        </p:nvCxnSpPr>
        <p:spPr>
          <a:xfrm>
            <a:off x="4160640" y="5333408"/>
            <a:ext cx="2013716" cy="540156"/>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9" idx="3"/>
            <a:endCxn id="58" idx="1"/>
          </p:cNvCxnSpPr>
          <p:nvPr/>
        </p:nvCxnSpPr>
        <p:spPr>
          <a:xfrm flipV="1">
            <a:off x="4160640" y="4996895"/>
            <a:ext cx="2537966" cy="33651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9" idx="3"/>
            <a:endCxn id="36" idx="1"/>
          </p:cNvCxnSpPr>
          <p:nvPr/>
        </p:nvCxnSpPr>
        <p:spPr>
          <a:xfrm flipV="1">
            <a:off x="4160640" y="4571027"/>
            <a:ext cx="1357073" cy="762381"/>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9" idx="3"/>
            <a:endCxn id="60" idx="1"/>
          </p:cNvCxnSpPr>
          <p:nvPr/>
        </p:nvCxnSpPr>
        <p:spPr>
          <a:xfrm>
            <a:off x="4160640" y="5333408"/>
            <a:ext cx="931205" cy="966024"/>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pic>
        <p:nvPicPr>
          <p:cNvPr id="58"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606" y="4571027"/>
            <a:ext cx="851735" cy="851735"/>
          </a:xfrm>
          <a:prstGeom prst="rect">
            <a:avLst/>
          </a:prstGeom>
          <a:noFill/>
          <a:extLst>
            <a:ext uri="{909E8E84-426E-40dd-AFC4-6F175D3DCCD1}">
              <a14:hiddenFill xmlns="" xmlns:a14="http://schemas.microsoft.com/office/drawing/2010/main">
                <a:solidFill>
                  <a:srgbClr val="FFFFFF"/>
                </a:solidFill>
              </a14:hiddenFill>
            </a:ext>
          </a:extLst>
        </p:spPr>
      </p:pic>
      <p:pic>
        <p:nvPicPr>
          <p:cNvPr id="59"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4356" y="5447696"/>
            <a:ext cx="851735" cy="851735"/>
          </a:xfrm>
          <a:prstGeom prst="rect">
            <a:avLst/>
          </a:prstGeom>
          <a:noFill/>
          <a:extLst>
            <a:ext uri="{909E8E84-426E-40dd-AFC4-6F175D3DCCD1}">
              <a14:hiddenFill xmlns="" xmlns:a14="http://schemas.microsoft.com/office/drawing/2010/main">
                <a:solidFill>
                  <a:srgbClr val="FFFFFF"/>
                </a:solidFill>
              </a14:hiddenFill>
            </a:ext>
          </a:extLst>
        </p:spPr>
      </p:pic>
      <p:pic>
        <p:nvPicPr>
          <p:cNvPr id="60"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1845" y="5873564"/>
            <a:ext cx="851735" cy="85173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33069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anim calcmode="lin" valueType="num">
                                      <p:cBhvr>
                                        <p:cTn id="8" dur="500" fill="hold"/>
                                        <p:tgtEl>
                                          <p:spTgt spid="20"/>
                                        </p:tgtEl>
                                        <p:attrNameLst>
                                          <p:attrName>ppt_x</p:attrName>
                                        </p:attrNameLst>
                                      </p:cBhvr>
                                      <p:tavLst>
                                        <p:tav tm="0">
                                          <p:val>
                                            <p:strVal val="#ppt_x"/>
                                          </p:val>
                                        </p:tav>
                                        <p:tav tm="100000">
                                          <p:val>
                                            <p:strVal val="#ppt_x"/>
                                          </p:val>
                                        </p:tav>
                                      </p:tavLst>
                                    </p:anim>
                                    <p:anim calcmode="lin" valueType="num">
                                      <p:cBhvr>
                                        <p:cTn id="9" dur="5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anim calcmode="lin" valueType="num">
                                      <p:cBhvr>
                                        <p:cTn id="13" dur="500" fill="hold"/>
                                        <p:tgtEl>
                                          <p:spTgt spid="21"/>
                                        </p:tgtEl>
                                        <p:attrNameLst>
                                          <p:attrName>ppt_x</p:attrName>
                                        </p:attrNameLst>
                                      </p:cBhvr>
                                      <p:tavLst>
                                        <p:tav tm="0">
                                          <p:val>
                                            <p:strVal val="#ppt_x"/>
                                          </p:val>
                                        </p:tav>
                                        <p:tav tm="100000">
                                          <p:val>
                                            <p:strVal val="#ppt_x"/>
                                          </p:val>
                                        </p:tav>
                                      </p:tavLst>
                                    </p:anim>
                                    <p:anim calcmode="lin" valueType="num">
                                      <p:cBhvr>
                                        <p:cTn id="14" dur="5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anim calcmode="lin" valueType="num">
                                      <p:cBhvr>
                                        <p:cTn id="23" dur="500" fill="hold"/>
                                        <p:tgtEl>
                                          <p:spTgt spid="24"/>
                                        </p:tgtEl>
                                        <p:attrNameLst>
                                          <p:attrName>ppt_x</p:attrName>
                                        </p:attrNameLst>
                                      </p:cBhvr>
                                      <p:tavLst>
                                        <p:tav tm="0">
                                          <p:val>
                                            <p:strVal val="#ppt_x"/>
                                          </p:val>
                                        </p:tav>
                                        <p:tav tm="100000">
                                          <p:val>
                                            <p:strVal val="#ppt_x"/>
                                          </p:val>
                                        </p:tav>
                                      </p:tavLst>
                                    </p:anim>
                                    <p:anim calcmode="lin" valueType="num">
                                      <p:cBhvr>
                                        <p:cTn id="24" dur="5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anim calcmode="lin" valueType="num">
                                      <p:cBhvr>
                                        <p:cTn id="28" dur="500" fill="hold"/>
                                        <p:tgtEl>
                                          <p:spTgt spid="28"/>
                                        </p:tgtEl>
                                        <p:attrNameLst>
                                          <p:attrName>ppt_x</p:attrName>
                                        </p:attrNameLst>
                                      </p:cBhvr>
                                      <p:tavLst>
                                        <p:tav tm="0">
                                          <p:val>
                                            <p:strVal val="#ppt_x"/>
                                          </p:val>
                                        </p:tav>
                                        <p:tav tm="100000">
                                          <p:val>
                                            <p:strVal val="#ppt_x"/>
                                          </p:val>
                                        </p:tav>
                                      </p:tavLst>
                                    </p:anim>
                                    <p:anim calcmode="lin" valueType="num">
                                      <p:cBhvr>
                                        <p:cTn id="29" dur="500" fill="hold"/>
                                        <p:tgtEl>
                                          <p:spTgt spid="2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anim calcmode="lin" valueType="num">
                                      <p:cBhvr>
                                        <p:cTn id="33" dur="500" fill="hold"/>
                                        <p:tgtEl>
                                          <p:spTgt spid="32"/>
                                        </p:tgtEl>
                                        <p:attrNameLst>
                                          <p:attrName>ppt_x</p:attrName>
                                        </p:attrNameLst>
                                      </p:cBhvr>
                                      <p:tavLst>
                                        <p:tav tm="0">
                                          <p:val>
                                            <p:strVal val="#ppt_x"/>
                                          </p:val>
                                        </p:tav>
                                        <p:tav tm="100000">
                                          <p:val>
                                            <p:strVal val="#ppt_x"/>
                                          </p:val>
                                        </p:tav>
                                      </p:tavLst>
                                    </p:anim>
                                    <p:anim calcmode="lin" valueType="num">
                                      <p:cBhvr>
                                        <p:cTn id="34"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500"/>
                                        <p:tgtEl>
                                          <p:spTgt spid="47"/>
                                        </p:tgtEl>
                                      </p:cBhvr>
                                    </p:animEffect>
                                    <p:anim calcmode="lin" valueType="num">
                                      <p:cBhvr>
                                        <p:cTn id="40" dur="500" fill="hold"/>
                                        <p:tgtEl>
                                          <p:spTgt spid="47"/>
                                        </p:tgtEl>
                                        <p:attrNameLst>
                                          <p:attrName>ppt_x</p:attrName>
                                        </p:attrNameLst>
                                      </p:cBhvr>
                                      <p:tavLst>
                                        <p:tav tm="0">
                                          <p:val>
                                            <p:strVal val="#ppt_x"/>
                                          </p:val>
                                        </p:tav>
                                        <p:tav tm="100000">
                                          <p:val>
                                            <p:strVal val="#ppt_x"/>
                                          </p:val>
                                        </p:tav>
                                      </p:tavLst>
                                    </p:anim>
                                    <p:anim calcmode="lin" valueType="num">
                                      <p:cBhvr>
                                        <p:cTn id="41" dur="500" fill="hold"/>
                                        <p:tgtEl>
                                          <p:spTgt spid="4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500"/>
                                        <p:tgtEl>
                                          <p:spTgt spid="35"/>
                                        </p:tgtEl>
                                      </p:cBhvr>
                                    </p:animEffect>
                                    <p:anim calcmode="lin" valueType="num">
                                      <p:cBhvr>
                                        <p:cTn id="45" dur="500" fill="hold"/>
                                        <p:tgtEl>
                                          <p:spTgt spid="35"/>
                                        </p:tgtEl>
                                        <p:attrNameLst>
                                          <p:attrName>ppt_x</p:attrName>
                                        </p:attrNameLst>
                                      </p:cBhvr>
                                      <p:tavLst>
                                        <p:tav tm="0">
                                          <p:val>
                                            <p:strVal val="#ppt_x"/>
                                          </p:val>
                                        </p:tav>
                                        <p:tav tm="100000">
                                          <p:val>
                                            <p:strVal val="#ppt_x"/>
                                          </p:val>
                                        </p:tav>
                                      </p:tavLst>
                                    </p:anim>
                                    <p:anim calcmode="lin" valueType="num">
                                      <p:cBhvr>
                                        <p:cTn id="46" dur="500" fill="hold"/>
                                        <p:tgtEl>
                                          <p:spTgt spid="35"/>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00"/>
                                        <p:tgtEl>
                                          <p:spTgt spid="36"/>
                                        </p:tgtEl>
                                      </p:cBhvr>
                                    </p:animEffect>
                                    <p:anim calcmode="lin" valueType="num">
                                      <p:cBhvr>
                                        <p:cTn id="50" dur="500" fill="hold"/>
                                        <p:tgtEl>
                                          <p:spTgt spid="36"/>
                                        </p:tgtEl>
                                        <p:attrNameLst>
                                          <p:attrName>ppt_x</p:attrName>
                                        </p:attrNameLst>
                                      </p:cBhvr>
                                      <p:tavLst>
                                        <p:tav tm="0">
                                          <p:val>
                                            <p:strVal val="#ppt_x"/>
                                          </p:val>
                                        </p:tav>
                                        <p:tav tm="100000">
                                          <p:val>
                                            <p:strVal val="#ppt_x"/>
                                          </p:val>
                                        </p:tav>
                                      </p:tavLst>
                                    </p:anim>
                                    <p:anim calcmode="lin" valueType="num">
                                      <p:cBhvr>
                                        <p:cTn id="51" dur="500" fill="hold"/>
                                        <p:tgtEl>
                                          <p:spTgt spid="3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500"/>
                                        <p:tgtEl>
                                          <p:spTgt spid="39"/>
                                        </p:tgtEl>
                                      </p:cBhvr>
                                    </p:animEffect>
                                    <p:anim calcmode="lin" valueType="num">
                                      <p:cBhvr>
                                        <p:cTn id="55" dur="500" fill="hold"/>
                                        <p:tgtEl>
                                          <p:spTgt spid="39"/>
                                        </p:tgtEl>
                                        <p:attrNameLst>
                                          <p:attrName>ppt_x</p:attrName>
                                        </p:attrNameLst>
                                      </p:cBhvr>
                                      <p:tavLst>
                                        <p:tav tm="0">
                                          <p:val>
                                            <p:strVal val="#ppt_x"/>
                                          </p:val>
                                        </p:tav>
                                        <p:tav tm="100000">
                                          <p:val>
                                            <p:strVal val="#ppt_x"/>
                                          </p:val>
                                        </p:tav>
                                      </p:tavLst>
                                    </p:anim>
                                    <p:anim calcmode="lin" valueType="num">
                                      <p:cBhvr>
                                        <p:cTn id="56" dur="500" fill="hold"/>
                                        <p:tgtEl>
                                          <p:spTgt spid="39"/>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anim calcmode="lin" valueType="num">
                                      <p:cBhvr>
                                        <p:cTn id="60" dur="500" fill="hold"/>
                                        <p:tgtEl>
                                          <p:spTgt spid="40"/>
                                        </p:tgtEl>
                                        <p:attrNameLst>
                                          <p:attrName>ppt_x</p:attrName>
                                        </p:attrNameLst>
                                      </p:cBhvr>
                                      <p:tavLst>
                                        <p:tav tm="0">
                                          <p:val>
                                            <p:strVal val="#ppt_x"/>
                                          </p:val>
                                        </p:tav>
                                        <p:tav tm="100000">
                                          <p:val>
                                            <p:strVal val="#ppt_x"/>
                                          </p:val>
                                        </p:tav>
                                      </p:tavLst>
                                    </p:anim>
                                    <p:anim calcmode="lin" valueType="num">
                                      <p:cBhvr>
                                        <p:cTn id="61" dur="500" fill="hold"/>
                                        <p:tgtEl>
                                          <p:spTgt spid="40"/>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anim calcmode="lin" valueType="num">
                                      <p:cBhvr>
                                        <p:cTn id="65" dur="500" fill="hold"/>
                                        <p:tgtEl>
                                          <p:spTgt spid="41"/>
                                        </p:tgtEl>
                                        <p:attrNameLst>
                                          <p:attrName>ppt_x</p:attrName>
                                        </p:attrNameLst>
                                      </p:cBhvr>
                                      <p:tavLst>
                                        <p:tav tm="0">
                                          <p:val>
                                            <p:strVal val="#ppt_x"/>
                                          </p:val>
                                        </p:tav>
                                        <p:tav tm="100000">
                                          <p:val>
                                            <p:strVal val="#ppt_x"/>
                                          </p:val>
                                        </p:tav>
                                      </p:tavLst>
                                    </p:anim>
                                    <p:anim calcmode="lin" valueType="num">
                                      <p:cBhvr>
                                        <p:cTn id="66" dur="500" fill="hold"/>
                                        <p:tgtEl>
                                          <p:spTgt spid="41"/>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500"/>
                                        <p:tgtEl>
                                          <p:spTgt spid="42"/>
                                        </p:tgtEl>
                                      </p:cBhvr>
                                    </p:animEffect>
                                    <p:anim calcmode="lin" valueType="num">
                                      <p:cBhvr>
                                        <p:cTn id="70" dur="500" fill="hold"/>
                                        <p:tgtEl>
                                          <p:spTgt spid="42"/>
                                        </p:tgtEl>
                                        <p:attrNameLst>
                                          <p:attrName>ppt_x</p:attrName>
                                        </p:attrNameLst>
                                      </p:cBhvr>
                                      <p:tavLst>
                                        <p:tav tm="0">
                                          <p:val>
                                            <p:strVal val="#ppt_x"/>
                                          </p:val>
                                        </p:tav>
                                        <p:tav tm="100000">
                                          <p:val>
                                            <p:strVal val="#ppt_x"/>
                                          </p:val>
                                        </p:tav>
                                      </p:tavLst>
                                    </p:anim>
                                    <p:anim calcmode="lin" valueType="num">
                                      <p:cBhvr>
                                        <p:cTn id="71" dur="500" fill="hold"/>
                                        <p:tgtEl>
                                          <p:spTgt spid="42"/>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58"/>
                                        </p:tgtEl>
                                        <p:attrNameLst>
                                          <p:attrName>style.visibility</p:attrName>
                                        </p:attrNameLst>
                                      </p:cBhvr>
                                      <p:to>
                                        <p:strVal val="visible"/>
                                      </p:to>
                                    </p:set>
                                    <p:animEffect transition="in" filter="fade">
                                      <p:cBhvr>
                                        <p:cTn id="74" dur="500"/>
                                        <p:tgtEl>
                                          <p:spTgt spid="58"/>
                                        </p:tgtEl>
                                      </p:cBhvr>
                                    </p:animEffect>
                                    <p:anim calcmode="lin" valueType="num">
                                      <p:cBhvr>
                                        <p:cTn id="75" dur="500" fill="hold"/>
                                        <p:tgtEl>
                                          <p:spTgt spid="58"/>
                                        </p:tgtEl>
                                        <p:attrNameLst>
                                          <p:attrName>ppt_x</p:attrName>
                                        </p:attrNameLst>
                                      </p:cBhvr>
                                      <p:tavLst>
                                        <p:tav tm="0">
                                          <p:val>
                                            <p:strVal val="#ppt_x"/>
                                          </p:val>
                                        </p:tav>
                                        <p:tav tm="100000">
                                          <p:val>
                                            <p:strVal val="#ppt_x"/>
                                          </p:val>
                                        </p:tav>
                                      </p:tavLst>
                                    </p:anim>
                                    <p:anim calcmode="lin" valueType="num">
                                      <p:cBhvr>
                                        <p:cTn id="76" dur="500" fill="hold"/>
                                        <p:tgtEl>
                                          <p:spTgt spid="58"/>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fade">
                                      <p:cBhvr>
                                        <p:cTn id="79" dur="500"/>
                                        <p:tgtEl>
                                          <p:spTgt spid="59"/>
                                        </p:tgtEl>
                                      </p:cBhvr>
                                    </p:animEffect>
                                    <p:anim calcmode="lin" valueType="num">
                                      <p:cBhvr>
                                        <p:cTn id="80" dur="500" fill="hold"/>
                                        <p:tgtEl>
                                          <p:spTgt spid="59"/>
                                        </p:tgtEl>
                                        <p:attrNameLst>
                                          <p:attrName>ppt_x</p:attrName>
                                        </p:attrNameLst>
                                      </p:cBhvr>
                                      <p:tavLst>
                                        <p:tav tm="0">
                                          <p:val>
                                            <p:strVal val="#ppt_x"/>
                                          </p:val>
                                        </p:tav>
                                        <p:tav tm="100000">
                                          <p:val>
                                            <p:strVal val="#ppt_x"/>
                                          </p:val>
                                        </p:tav>
                                      </p:tavLst>
                                    </p:anim>
                                    <p:anim calcmode="lin" valueType="num">
                                      <p:cBhvr>
                                        <p:cTn id="81" dur="500" fill="hold"/>
                                        <p:tgtEl>
                                          <p:spTgt spid="59"/>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60"/>
                                        </p:tgtEl>
                                        <p:attrNameLst>
                                          <p:attrName>style.visibility</p:attrName>
                                        </p:attrNameLst>
                                      </p:cBhvr>
                                      <p:to>
                                        <p:strVal val="visible"/>
                                      </p:to>
                                    </p:set>
                                    <p:animEffect transition="in" filter="fade">
                                      <p:cBhvr>
                                        <p:cTn id="84" dur="500"/>
                                        <p:tgtEl>
                                          <p:spTgt spid="60"/>
                                        </p:tgtEl>
                                      </p:cBhvr>
                                    </p:animEffect>
                                    <p:anim calcmode="lin" valueType="num">
                                      <p:cBhvr>
                                        <p:cTn id="85" dur="500" fill="hold"/>
                                        <p:tgtEl>
                                          <p:spTgt spid="60"/>
                                        </p:tgtEl>
                                        <p:attrNameLst>
                                          <p:attrName>ppt_x</p:attrName>
                                        </p:attrNameLst>
                                      </p:cBhvr>
                                      <p:tavLst>
                                        <p:tav tm="0">
                                          <p:val>
                                            <p:strVal val="#ppt_x"/>
                                          </p:val>
                                        </p:tav>
                                        <p:tav tm="100000">
                                          <p:val>
                                            <p:strVal val="#ppt_x"/>
                                          </p:val>
                                        </p:tav>
                                      </p:tavLst>
                                    </p:anim>
                                    <p:anim calcmode="lin" valueType="num">
                                      <p:cBhvr>
                                        <p:cTn id="86" dur="5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35" grpId="0"/>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 Delivery Networks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26</a:t>
            </a:fld>
            <a:endParaRPr lang="en-US" dirty="0"/>
          </a:p>
        </p:txBody>
      </p:sp>
      <p:pic>
        <p:nvPicPr>
          <p:cNvPr id="3074" name="Picture 2" descr="D:\Classes\CS 4700\assets\usashap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634" y="1536027"/>
            <a:ext cx="8251371" cy="5255915"/>
          </a:xfrm>
          <a:prstGeom prst="rect">
            <a:avLst/>
          </a:prstGeom>
          <a:noFill/>
          <a:extLst>
            <a:ext uri="{909E8E84-426E-40dd-AFC4-6F175D3DCCD1}">
              <a14:hiddenFill xmlns="" xmlns:a14="http://schemas.microsoft.com/office/drawing/2010/main">
                <a:solidFill>
                  <a:srgbClr val="FFFFFF"/>
                </a:solidFill>
              </a14:hiddenFill>
            </a:ext>
          </a:extLst>
        </p:spPr>
      </p:pic>
      <p:pic>
        <p:nvPicPr>
          <p:cNvPr id="3076" name="Picture 4" descr="D:\Classes\CS 4700\assets\Netflix-icon-300x154.jpg"/>
          <p:cNvPicPr>
            <a:picLocks noChangeAspect="1" noChangeArrowheads="1"/>
          </p:cNvPicPr>
          <p:nvPr/>
        </p:nvPicPr>
        <p:blipFill rotWithShape="1">
          <a:blip r:embed="rId3">
            <a:extLst>
              <a:ext uri="{28A0092B-C50C-407E-A947-70E740481C1C}">
                <a14:useLocalDpi xmlns:a14="http://schemas.microsoft.com/office/drawing/2010/main" val="0"/>
              </a:ext>
            </a:extLst>
          </a:blip>
          <a:srcRect l="6950" t="10621" r="6646" b="14574"/>
          <a:stretch/>
        </p:blipFill>
        <p:spPr bwMode="auto">
          <a:xfrm>
            <a:off x="1023224" y="2305474"/>
            <a:ext cx="1567543" cy="696686"/>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2" descr="D:\Pictures\Server_icons_lnx\Icons\128X128\black_serv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394" y="2653817"/>
            <a:ext cx="851735" cy="851735"/>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4" descr="D:\Classes\CS 4700\assets\Netflix-icon-300x154.jpg"/>
          <p:cNvPicPr>
            <a:picLocks noChangeAspect="1" noChangeArrowheads="1"/>
          </p:cNvPicPr>
          <p:nvPr/>
        </p:nvPicPr>
        <p:blipFill rotWithShape="1">
          <a:blip r:embed="rId3">
            <a:extLst>
              <a:ext uri="{28A0092B-C50C-407E-A947-70E740481C1C}">
                <a14:useLocalDpi xmlns:a14="http://schemas.microsoft.com/office/drawing/2010/main" val="0"/>
              </a:ext>
            </a:extLst>
          </a:blip>
          <a:srcRect l="6950" t="10621" r="6646" b="14574"/>
          <a:stretch/>
        </p:blipFill>
        <p:spPr bwMode="auto">
          <a:xfrm>
            <a:off x="7391382" y="4874504"/>
            <a:ext cx="1567543" cy="696686"/>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2" descr="D:\Pictures\Server_icons_lnx\Icons\128X128\black_serv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8429" y="4275790"/>
            <a:ext cx="851735" cy="851735"/>
          </a:xfrm>
          <a:prstGeom prst="rect">
            <a:avLst/>
          </a:prstGeom>
          <a:noFill/>
          <a:extLst>
            <a:ext uri="{909E8E84-426E-40dd-AFC4-6F175D3DCCD1}">
              <a14:hiddenFill xmlns="" xmlns:a14="http://schemas.microsoft.com/office/drawing/2010/main">
                <a:solidFill>
                  <a:srgbClr val="FFFFFF"/>
                </a:solidFill>
              </a14:hiddenFill>
            </a:ext>
          </a:extLst>
        </p:spPr>
      </p:pic>
      <p:pic>
        <p:nvPicPr>
          <p:cNvPr id="3077" name="Picture 5" descr="D:\Classes\CS 4700\assets\User Coat Blue-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13151" y="2305474"/>
            <a:ext cx="920326" cy="920326"/>
          </a:xfrm>
          <a:prstGeom prst="rect">
            <a:avLst/>
          </a:prstGeom>
          <a:noFill/>
          <a:extLst>
            <a:ext uri="{909E8E84-426E-40dd-AFC4-6F175D3DCCD1}">
              <a14:hiddenFill xmlns="" xmlns:a14="http://schemas.microsoft.com/office/drawing/2010/main">
                <a:solidFill>
                  <a:srgbClr val="FFFFFF"/>
                </a:solidFill>
              </a14:hiddenFill>
            </a:ext>
          </a:extLst>
        </p:spPr>
      </p:pic>
      <p:pic>
        <p:nvPicPr>
          <p:cNvPr id="12" name="Picture 5" descr="D:\Classes\CS 4700\assets\User Coat Blue-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4926" y="4661741"/>
            <a:ext cx="920326" cy="920326"/>
          </a:xfrm>
          <a:prstGeom prst="rect">
            <a:avLst/>
          </a:prstGeom>
          <a:noFill/>
          <a:extLst>
            <a:ext uri="{909E8E84-426E-40dd-AFC4-6F175D3DCCD1}">
              <a14:hiddenFill xmlns="" xmlns:a14="http://schemas.microsoft.com/office/drawing/2010/main">
                <a:solidFill>
                  <a:srgbClr val="FFFFFF"/>
                </a:solidFill>
              </a14:hiddenFill>
            </a:ext>
          </a:extLst>
        </p:spPr>
      </p:pic>
      <p:pic>
        <p:nvPicPr>
          <p:cNvPr id="13" name="Picture 3" descr="D:\Pictures\Server_icons_lnx\Icons\128X128\data_server.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2938" y="3447059"/>
            <a:ext cx="927338" cy="927338"/>
          </a:xfrm>
          <a:prstGeom prst="rect">
            <a:avLst/>
          </a:prstGeom>
          <a:noFill/>
          <a:extLst>
            <a:ext uri="{909E8E84-426E-40dd-AFC4-6F175D3DCCD1}">
              <a14:hiddenFill xmlns="" xmlns:a14="http://schemas.microsoft.com/office/drawing/2010/main">
                <a:solidFill>
                  <a:srgbClr val="FFFFFF"/>
                </a:solidFill>
              </a14:hiddenFill>
            </a:ext>
          </a:extLst>
        </p:spPr>
      </p:pic>
      <p:pic>
        <p:nvPicPr>
          <p:cNvPr id="14" name="Picture 3" descr="D:\Pictures\Server_icons_lnx\Icons\128X128\data_server.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27892" y="3194283"/>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15" name="Left-Right Arrow 14"/>
          <p:cNvSpPr/>
          <p:nvPr/>
        </p:nvSpPr>
        <p:spPr>
          <a:xfrm rot="4388538">
            <a:off x="599318" y="3808146"/>
            <a:ext cx="1037637" cy="4916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Left-Right Arrow 15"/>
          <p:cNvSpPr/>
          <p:nvPr/>
        </p:nvSpPr>
        <p:spPr>
          <a:xfrm rot="6498330">
            <a:off x="7181835" y="3528073"/>
            <a:ext cx="1037637" cy="4916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eft-Right Arrow 16"/>
          <p:cNvSpPr/>
          <p:nvPr/>
        </p:nvSpPr>
        <p:spPr>
          <a:xfrm rot="7506663">
            <a:off x="1731548" y="4447244"/>
            <a:ext cx="704121" cy="491694"/>
          </a:xfrm>
          <a:prstGeom prst="lef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eft-Right Arrow 17"/>
          <p:cNvSpPr/>
          <p:nvPr/>
        </p:nvSpPr>
        <p:spPr>
          <a:xfrm rot="19626370">
            <a:off x="6601662" y="2985589"/>
            <a:ext cx="810495" cy="491694"/>
          </a:xfrm>
          <a:prstGeom prst="lef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p:cNvGrpSpPr/>
          <p:nvPr/>
        </p:nvGrpSpPr>
        <p:grpSpPr>
          <a:xfrm>
            <a:off x="2585607" y="4653788"/>
            <a:ext cx="4098226" cy="2072035"/>
            <a:chOff x="404487" y="3333623"/>
            <a:chExt cx="8274022" cy="1523216"/>
          </a:xfrm>
        </p:grpSpPr>
        <p:sp>
          <p:nvSpPr>
            <p:cNvPr id="20" name="Rectangle 19"/>
            <p:cNvSpPr/>
            <p:nvPr/>
          </p:nvSpPr>
          <p:spPr>
            <a:xfrm>
              <a:off x="414979" y="3333623"/>
              <a:ext cx="8263530" cy="1523216"/>
            </a:xfrm>
            <a:prstGeom prst="rect">
              <a:avLst/>
            </a:prstGeom>
            <a:ln w="57150">
              <a:solidFill>
                <a:schemeClr val="accent2">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Content Placeholder 2"/>
            <p:cNvSpPr txBox="1">
              <a:spLocks/>
            </p:cNvSpPr>
            <p:nvPr/>
          </p:nvSpPr>
          <p:spPr>
            <a:xfrm>
              <a:off x="404487" y="3496212"/>
              <a:ext cx="8118848" cy="1208303"/>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lgn="ctr">
                <a:buClr>
                  <a:schemeClr val="bg1"/>
                </a:buClr>
                <a:buNone/>
              </a:pPr>
              <a:r>
                <a:rPr lang="en-US" sz="3200" dirty="0">
                  <a:solidFill>
                    <a:schemeClr val="bg1"/>
                  </a:solidFill>
                </a:rPr>
                <a:t>DNS responses may vary based on geography, ISP, </a:t>
              </a:r>
              <a:r>
                <a:rPr lang="en-US" sz="3200" dirty="0" err="1">
                  <a:solidFill>
                    <a:schemeClr val="bg1"/>
                  </a:solidFill>
                </a:rPr>
                <a:t>etc</a:t>
              </a:r>
              <a:endParaRPr lang="en-US" sz="3200" dirty="0">
                <a:solidFill>
                  <a:schemeClr val="bg1"/>
                </a:solidFill>
              </a:endParaRPr>
            </a:p>
          </p:txBody>
        </p:sp>
      </p:grpSp>
    </p:spTree>
    <p:extLst>
      <p:ext uri="{BB962C8B-B14F-4D97-AF65-F5344CB8AC3E}">
        <p14:creationId xmlns:p14="http://schemas.microsoft.com/office/powerpoint/2010/main" val="1853703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Horizontal)">
                                      <p:cBhvr>
                                        <p:cTn id="12" dur="500"/>
                                        <p:tgtEl>
                                          <p:spTgt spid="15"/>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3076"/>
                                        </p:tgtEl>
                                        <p:attrNameLst>
                                          <p:attrName>style.visibility</p:attrName>
                                        </p:attrNameLst>
                                      </p:cBhvr>
                                      <p:to>
                                        <p:strVal val="visible"/>
                                      </p:to>
                                    </p:set>
                                    <p:animEffect transition="in" filter="fade">
                                      <p:cBhvr>
                                        <p:cTn id="21" dur="500"/>
                                        <p:tgtEl>
                                          <p:spTgt spid="3076"/>
                                        </p:tgtEl>
                                      </p:cBhvr>
                                    </p:animEffect>
                                    <p:anim calcmode="lin" valueType="num">
                                      <p:cBhvr>
                                        <p:cTn id="22" dur="500" fill="hold"/>
                                        <p:tgtEl>
                                          <p:spTgt spid="3076"/>
                                        </p:tgtEl>
                                        <p:attrNameLst>
                                          <p:attrName>ppt_x</p:attrName>
                                        </p:attrNameLst>
                                      </p:cBhvr>
                                      <p:tavLst>
                                        <p:tav tm="0">
                                          <p:val>
                                            <p:strVal val="#ppt_x"/>
                                          </p:val>
                                        </p:tav>
                                        <p:tav tm="100000">
                                          <p:val>
                                            <p:strVal val="#ppt_x"/>
                                          </p:val>
                                        </p:tav>
                                      </p:tavLst>
                                    </p:anim>
                                    <p:anim calcmode="lin" valueType="num">
                                      <p:cBhvr>
                                        <p:cTn id="23" dur="500" fill="hold"/>
                                        <p:tgtEl>
                                          <p:spTgt spid="307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077"/>
                                        </p:tgtEl>
                                        <p:attrNameLst>
                                          <p:attrName>style.visibility</p:attrName>
                                        </p:attrNameLst>
                                      </p:cBhvr>
                                      <p:to>
                                        <p:strVal val="visible"/>
                                      </p:to>
                                    </p:set>
                                    <p:animEffect transition="in" filter="fade">
                                      <p:cBhvr>
                                        <p:cTn id="28" dur="500"/>
                                        <p:tgtEl>
                                          <p:spTgt spid="3077"/>
                                        </p:tgtEl>
                                      </p:cBhvr>
                                    </p:animEffect>
                                    <p:anim calcmode="lin" valueType="num">
                                      <p:cBhvr>
                                        <p:cTn id="29" dur="500" fill="hold"/>
                                        <p:tgtEl>
                                          <p:spTgt spid="3077"/>
                                        </p:tgtEl>
                                        <p:attrNameLst>
                                          <p:attrName>ppt_x</p:attrName>
                                        </p:attrNameLst>
                                      </p:cBhvr>
                                      <p:tavLst>
                                        <p:tav tm="0">
                                          <p:val>
                                            <p:strVal val="#ppt_x"/>
                                          </p:val>
                                        </p:tav>
                                        <p:tav tm="100000">
                                          <p:val>
                                            <p:strVal val="#ppt_x"/>
                                          </p:val>
                                        </p:tav>
                                      </p:tavLst>
                                    </p:anim>
                                    <p:anim calcmode="lin" valueType="num">
                                      <p:cBhvr>
                                        <p:cTn id="30" dur="500" fill="hold"/>
                                        <p:tgtEl>
                                          <p:spTgt spid="3077"/>
                                        </p:tgtEl>
                                        <p:attrNameLst>
                                          <p:attrName>ppt_y</p:attrName>
                                        </p:attrNameLst>
                                      </p:cBhvr>
                                      <p:tavLst>
                                        <p:tav tm="0">
                                          <p:val>
                                            <p:strVal val="#ppt_y+.1"/>
                                          </p:val>
                                        </p:tav>
                                        <p:tav tm="100000">
                                          <p:val>
                                            <p:strVal val="#ppt_y"/>
                                          </p:val>
                                        </p:tav>
                                      </p:tavLst>
                                    </p:anim>
                                  </p:childTnLst>
                                </p:cTn>
                              </p:par>
                            </p:childTnLst>
                          </p:cTn>
                        </p:par>
                        <p:par>
                          <p:cTn id="31" fill="hold">
                            <p:stCondLst>
                              <p:cond delay="500"/>
                            </p:stCondLst>
                            <p:childTnLst>
                              <p:par>
                                <p:cTn id="32" presetID="16" presetClass="entr" presetSubtype="21"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arn(inVertical)">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6"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arn(inHorizontal)">
                                      <p:cBhvr>
                                        <p:cTn id="39" dur="500"/>
                                        <p:tgtEl>
                                          <p:spTgt spid="16"/>
                                        </p:tgtEl>
                                      </p:cBhvr>
                                    </p:animEffect>
                                  </p:childTnLst>
                                </p:cTn>
                              </p:par>
                            </p:childTnLst>
                          </p:cTn>
                        </p:par>
                        <p:par>
                          <p:cTn id="40" fill="hold">
                            <p:stCondLst>
                              <p:cond delay="500"/>
                            </p:stCondLst>
                            <p:childTnLst>
                              <p:par>
                                <p:cTn id="41" presetID="42"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fill="hold"/>
                                        <p:tgtEl>
                                          <p:spTgt spid="10"/>
                                        </p:tgtEl>
                                        <p:attrNameLst>
                                          <p:attrName>ppt_x</p:attrName>
                                        </p:attrNameLst>
                                      </p:cBhvr>
                                      <p:tavLst>
                                        <p:tav tm="0">
                                          <p:val>
                                            <p:strVal val="#ppt_x"/>
                                          </p:val>
                                        </p:tav>
                                        <p:tav tm="100000">
                                          <p:val>
                                            <p:strVal val="#ppt_x"/>
                                          </p:val>
                                        </p:tav>
                                      </p:tavLst>
                                    </p:anim>
                                    <p:anim calcmode="lin" valueType="num">
                                      <p:cBhvr>
                                        <p:cTn id="45" dur="500" fill="hold"/>
                                        <p:tgtEl>
                                          <p:spTgt spid="10"/>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anim calcmode="lin" valueType="num">
                                      <p:cBhvr>
                                        <p:cTn id="49" dur="500" fill="hold"/>
                                        <p:tgtEl>
                                          <p:spTgt spid="7"/>
                                        </p:tgtEl>
                                        <p:attrNameLst>
                                          <p:attrName>ppt_x</p:attrName>
                                        </p:attrNameLst>
                                      </p:cBhvr>
                                      <p:tavLst>
                                        <p:tav tm="0">
                                          <p:val>
                                            <p:strVal val="#ppt_x"/>
                                          </p:val>
                                        </p:tav>
                                        <p:tav tm="100000">
                                          <p:val>
                                            <p:strVal val="#ppt_x"/>
                                          </p:val>
                                        </p:tav>
                                      </p:tavLst>
                                    </p:anim>
                                    <p:anim calcmode="lin" valueType="num">
                                      <p:cBhvr>
                                        <p:cTn id="5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anim calcmode="lin" valueType="num">
                                      <p:cBhvr>
                                        <p:cTn id="56" dur="500" fill="hold"/>
                                        <p:tgtEl>
                                          <p:spTgt spid="19"/>
                                        </p:tgtEl>
                                        <p:attrNameLst>
                                          <p:attrName>ppt_x</p:attrName>
                                        </p:attrNameLst>
                                      </p:cBhvr>
                                      <p:tavLst>
                                        <p:tav tm="0">
                                          <p:val>
                                            <p:strVal val="#ppt_x"/>
                                          </p:val>
                                        </p:tav>
                                        <p:tav tm="100000">
                                          <p:val>
                                            <p:strVal val="#ppt_x"/>
                                          </p:val>
                                        </p:tav>
                                      </p:tavLst>
                                    </p:anim>
                                    <p:anim calcmode="lin" valueType="num">
                                      <p:cBhvr>
                                        <p:cTn id="5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450376" y="2667000"/>
            <a:ext cx="8338782" cy="3529084"/>
          </a:xfrm>
        </p:spPr>
        <p:txBody>
          <a:bodyPr>
            <a:noAutofit/>
          </a:bodyPr>
          <a:lstStyle/>
          <a:p>
            <a:pPr marL="571500" indent="-571500">
              <a:buFont typeface="Wingdings" pitchFamily="2" charset="2"/>
              <a:buChar char="q"/>
            </a:pPr>
            <a:r>
              <a:rPr lang="en-US" sz="4400" dirty="0"/>
              <a:t>DNS Basics</a:t>
            </a:r>
          </a:p>
          <a:p>
            <a:pPr marL="571500" indent="-571500">
              <a:buFont typeface="Wingdings" pitchFamily="2" charset="2"/>
              <a:buChar char="q"/>
            </a:pPr>
            <a:r>
              <a:rPr lang="en-US" sz="4400" dirty="0"/>
              <a:t>DNS Security</a:t>
            </a:r>
          </a:p>
        </p:txBody>
      </p:sp>
      <p:sp>
        <p:nvSpPr>
          <p:cNvPr id="5" name="Title 4"/>
          <p:cNvSpPr>
            <a:spLocks noGrp="1"/>
          </p:cNvSpPr>
          <p:nvPr>
            <p:ph type="title"/>
          </p:nvPr>
        </p:nvSpPr>
        <p:spPr/>
        <p:txBody>
          <a:bodyPr/>
          <a:lstStyle/>
          <a:p>
            <a:r>
              <a:rPr lang="en-US" dirty="0"/>
              <a:t>Outline</a:t>
            </a:r>
          </a:p>
        </p:txBody>
      </p:sp>
      <p:sp>
        <p:nvSpPr>
          <p:cNvPr id="3" name="Slide Number Placeholder 2"/>
          <p:cNvSpPr>
            <a:spLocks noGrp="1"/>
          </p:cNvSpPr>
          <p:nvPr>
            <p:ph type="sldNum" sz="quarter" idx="11"/>
          </p:nvPr>
        </p:nvSpPr>
        <p:spPr/>
        <p:txBody>
          <a:bodyPr>
            <a:normAutofit/>
          </a:bodyPr>
          <a:lstStyle/>
          <a:p>
            <a:fld id="{283B9EA5-CE9A-4950-A80C-5ADF06B45BB8}" type="slidenum">
              <a:rPr lang="en-US" smtClean="0"/>
              <a:pPr/>
              <a:t>27</a:t>
            </a:fld>
            <a:endParaRPr lang="en-US" dirty="0"/>
          </a:p>
        </p:txBody>
      </p:sp>
    </p:spTree>
    <p:extLst>
      <p:ext uri="{BB962C8B-B14F-4D97-AF65-F5344CB8AC3E}">
        <p14:creationId xmlns:p14="http://schemas.microsoft.com/office/powerpoint/2010/main" val="2064973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Importance of DNS</a:t>
            </a:r>
          </a:p>
        </p:txBody>
      </p:sp>
      <p:sp>
        <p:nvSpPr>
          <p:cNvPr id="4" name="Slide Number Placeholder 3"/>
          <p:cNvSpPr>
            <a:spLocks noGrp="1"/>
          </p:cNvSpPr>
          <p:nvPr>
            <p:ph type="sldNum" sz="quarter" idx="12"/>
          </p:nvPr>
        </p:nvSpPr>
        <p:spPr/>
        <p:txBody>
          <a:bodyPr>
            <a:normAutofit fontScale="92500" lnSpcReduction="20000"/>
          </a:bodyPr>
          <a:lstStyle/>
          <a:p>
            <a:fld id="{283B9EA5-CE9A-4950-A80C-5ADF06B45BB8}" type="slidenum">
              <a:rPr lang="en-US" smtClean="0"/>
              <a:t>28</a:t>
            </a:fld>
            <a:endParaRPr lang="en-US"/>
          </a:p>
        </p:txBody>
      </p:sp>
      <p:sp>
        <p:nvSpPr>
          <p:cNvPr id="6" name="Content Placeholder 5"/>
          <p:cNvSpPr>
            <a:spLocks noGrp="1"/>
          </p:cNvSpPr>
          <p:nvPr>
            <p:ph sz="quarter" idx="1"/>
          </p:nvPr>
        </p:nvSpPr>
        <p:spPr>
          <a:xfrm>
            <a:off x="152400" y="1600200"/>
            <a:ext cx="8991600" cy="5105400"/>
          </a:xfrm>
        </p:spPr>
        <p:txBody>
          <a:bodyPr/>
          <a:lstStyle/>
          <a:p>
            <a:r>
              <a:rPr lang="en-US" dirty="0"/>
              <a:t>Without DNS…</a:t>
            </a:r>
          </a:p>
          <a:p>
            <a:pPr lvl="1"/>
            <a:r>
              <a:rPr lang="en-US" dirty="0"/>
              <a:t>How could you get to any websites?</a:t>
            </a:r>
          </a:p>
          <a:p>
            <a:r>
              <a:rPr lang="en-US" dirty="0"/>
              <a:t>You are your </a:t>
            </a:r>
            <a:r>
              <a:rPr lang="en-US" dirty="0" err="1"/>
              <a:t>mailserver</a:t>
            </a:r>
            <a:endParaRPr lang="en-US" dirty="0"/>
          </a:p>
          <a:p>
            <a:pPr lvl="1"/>
            <a:r>
              <a:rPr lang="en-US" dirty="0"/>
              <a:t>When you sign up for websites, you use your email address</a:t>
            </a:r>
          </a:p>
          <a:p>
            <a:pPr lvl="1"/>
            <a:r>
              <a:rPr lang="en-US" dirty="0"/>
              <a:t>What if someone hijacks the DNS for your mail server?</a:t>
            </a:r>
          </a:p>
          <a:p>
            <a:r>
              <a:rPr lang="en-US" dirty="0"/>
              <a:t>DNS is the root of trust for the web</a:t>
            </a:r>
          </a:p>
          <a:p>
            <a:pPr lvl="1"/>
            <a:r>
              <a:rPr lang="en-US" dirty="0"/>
              <a:t>When a user types </a:t>
            </a:r>
            <a:r>
              <a:rPr lang="en-US" dirty="0">
                <a:hlinkClick r:id="rId2"/>
              </a:rPr>
              <a:t>www.bankofamerica.com</a:t>
            </a:r>
            <a:r>
              <a:rPr lang="en-US" dirty="0"/>
              <a:t>, they expect to be taken to their bank’s website</a:t>
            </a:r>
          </a:p>
          <a:p>
            <a:pPr lvl="1"/>
            <a:r>
              <a:rPr lang="en-US" dirty="0"/>
              <a:t>What if the DNS record is compromised?</a:t>
            </a:r>
          </a:p>
        </p:txBody>
      </p:sp>
    </p:spTree>
    <p:extLst>
      <p:ext uri="{BB962C8B-B14F-4D97-AF65-F5344CB8AC3E}">
        <p14:creationId xmlns:p14="http://schemas.microsoft.com/office/powerpoint/2010/main" val="172104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anim calcmode="lin" valueType="num">
                                      <p:cBhvr>
                                        <p:cTn id="8"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anim calcmode="lin" valueType="num">
                                      <p:cBhvr>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500" fill="hold"/>
                                        <p:tgtEl>
                                          <p:spTgt spid="6">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anim calcmode="lin" valueType="num">
                                      <p:cBhvr>
                                        <p:cTn id="18"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9" dur="5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fade">
                                      <p:cBhvr>
                                        <p:cTn id="24" dur="500"/>
                                        <p:tgtEl>
                                          <p:spTgt spid="6">
                                            <p:txEl>
                                              <p:pRg st="5" end="5"/>
                                            </p:txEl>
                                          </p:spTgt>
                                        </p:tgtEl>
                                      </p:cBhvr>
                                    </p:animEffect>
                                    <p:anim calcmode="lin" valueType="num">
                                      <p:cBhvr>
                                        <p:cTn id="2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6" dur="500" fill="hold"/>
                                        <p:tgtEl>
                                          <p:spTgt spid="6">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animEffect transition="in" filter="fade">
                                      <p:cBhvr>
                                        <p:cTn id="29" dur="500"/>
                                        <p:tgtEl>
                                          <p:spTgt spid="6">
                                            <p:txEl>
                                              <p:pRg st="6" end="6"/>
                                            </p:txEl>
                                          </p:spTgt>
                                        </p:tgtEl>
                                      </p:cBhvr>
                                    </p:animEffect>
                                    <p:anim calcmode="lin" valueType="num">
                                      <p:cBhvr>
                                        <p:cTn id="30"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1" dur="500" fill="hold"/>
                                        <p:tgtEl>
                                          <p:spTgt spid="6">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7" end="7"/>
                                            </p:txEl>
                                          </p:spTgt>
                                        </p:tgtEl>
                                        <p:attrNameLst>
                                          <p:attrName>style.visibility</p:attrName>
                                        </p:attrNameLst>
                                      </p:cBhvr>
                                      <p:to>
                                        <p:strVal val="visible"/>
                                      </p:to>
                                    </p:set>
                                    <p:animEffect transition="in" filter="fade">
                                      <p:cBhvr>
                                        <p:cTn id="34" dur="500"/>
                                        <p:tgtEl>
                                          <p:spTgt spid="6">
                                            <p:txEl>
                                              <p:pRg st="7" end="7"/>
                                            </p:txEl>
                                          </p:spTgt>
                                        </p:tgtEl>
                                      </p:cBhvr>
                                    </p:animEffect>
                                    <p:anim calcmode="lin" valueType="num">
                                      <p:cBhvr>
                                        <p:cTn id="35"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6" dur="5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Denial Of Service</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29</a:t>
            </a:fld>
            <a:endParaRPr lang="en-US" dirty="0"/>
          </a:p>
        </p:txBody>
      </p:sp>
      <p:sp>
        <p:nvSpPr>
          <p:cNvPr id="4" name="Content Placeholder 3"/>
          <p:cNvSpPr>
            <a:spLocks noGrp="1"/>
          </p:cNvSpPr>
          <p:nvPr>
            <p:ph sz="quarter" idx="1"/>
          </p:nvPr>
        </p:nvSpPr>
        <p:spPr/>
        <p:txBody>
          <a:bodyPr/>
          <a:lstStyle/>
          <a:p>
            <a:r>
              <a:rPr lang="en-US" dirty="0"/>
              <a:t>Flood DNS servers with requests until they fail</a:t>
            </a:r>
          </a:p>
          <a:p>
            <a:r>
              <a:rPr lang="en-US" dirty="0"/>
              <a:t>October 2002: massive </a:t>
            </a:r>
            <a:r>
              <a:rPr lang="en-US" dirty="0" err="1"/>
              <a:t>DDoS</a:t>
            </a:r>
            <a:r>
              <a:rPr lang="en-US" dirty="0"/>
              <a:t> against the root name servers</a:t>
            </a:r>
          </a:p>
          <a:p>
            <a:pPr lvl="1"/>
            <a:r>
              <a:rPr lang="en-US" dirty="0"/>
              <a:t>What was the effect?</a:t>
            </a:r>
          </a:p>
          <a:p>
            <a:pPr lvl="1"/>
            <a:r>
              <a:rPr lang="en-US" dirty="0"/>
              <a:t>… users didn’t even notice</a:t>
            </a:r>
          </a:p>
          <a:p>
            <a:pPr lvl="1"/>
            <a:r>
              <a:rPr lang="en-US" dirty="0"/>
              <a:t>Root zone file is cached almost everywhere</a:t>
            </a:r>
          </a:p>
          <a:p>
            <a:r>
              <a:rPr lang="en-US" dirty="0"/>
              <a:t>More targeted attacks can be effective</a:t>
            </a:r>
          </a:p>
          <a:p>
            <a:pPr lvl="1"/>
            <a:r>
              <a:rPr lang="en-US" dirty="0"/>
              <a:t>Local DNS server </a:t>
            </a:r>
            <a:r>
              <a:rPr lang="en-US" dirty="0">
                <a:sym typeface="Wingdings" pitchFamily="2" charset="2"/>
              </a:rPr>
              <a:t> cannot access DNS</a:t>
            </a:r>
          </a:p>
          <a:p>
            <a:pPr lvl="1"/>
            <a:r>
              <a:rPr lang="en-US" dirty="0">
                <a:sym typeface="Wingdings" pitchFamily="2" charset="2"/>
              </a:rPr>
              <a:t>Authoritative server  cannot access domain</a:t>
            </a:r>
            <a:endParaRPr lang="en-US" dirty="0"/>
          </a:p>
        </p:txBody>
      </p:sp>
    </p:spTree>
    <p:extLst>
      <p:ext uri="{BB962C8B-B14F-4D97-AF65-F5344CB8AC3E}">
        <p14:creationId xmlns:p14="http://schemas.microsoft.com/office/powerpoint/2010/main" val="173402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anim calcmode="lin" valueType="num">
                                      <p:cBhvr>
                                        <p:cTn id="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anim calcmode="lin" valueType="num">
                                      <p:cBhvr>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500"/>
                                        <p:tgtEl>
                                          <p:spTgt spid="4">
                                            <p:txEl>
                                              <p:pRg st="5" end="5"/>
                                            </p:txEl>
                                          </p:spTgt>
                                        </p:tgtEl>
                                      </p:cBhvr>
                                    </p:animEffect>
                                    <p:anim calcmode="lin" valueType="num">
                                      <p:cBhvr>
                                        <p:cTn id="2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1" dur="500" fill="hold"/>
                                        <p:tgtEl>
                                          <p:spTgt spid="4">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anim calcmode="lin" valueType="num">
                                      <p:cBhvr>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6" dur="500" fill="hold"/>
                                        <p:tgtEl>
                                          <p:spTgt spid="4">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Effect transition="in" filter="fade">
                                      <p:cBhvr>
                                        <p:cTn id="29" dur="500"/>
                                        <p:tgtEl>
                                          <p:spTgt spid="4">
                                            <p:txEl>
                                              <p:pRg st="7" end="7"/>
                                            </p:txEl>
                                          </p:spTgt>
                                        </p:tgtEl>
                                      </p:cBhvr>
                                    </p:animEffect>
                                    <p:anim calcmode="lin" valueType="num">
                                      <p:cBhvr>
                                        <p:cTn id="30"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1" dur="5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 Hijacking</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30</a:t>
            </a:fld>
            <a:endParaRPr lang="en-US" dirty="0"/>
          </a:p>
        </p:txBody>
      </p:sp>
      <p:sp>
        <p:nvSpPr>
          <p:cNvPr id="4" name="Content Placeholder 3"/>
          <p:cNvSpPr>
            <a:spLocks noGrp="1"/>
          </p:cNvSpPr>
          <p:nvPr>
            <p:ph sz="quarter" idx="1"/>
          </p:nvPr>
        </p:nvSpPr>
        <p:spPr>
          <a:xfrm>
            <a:off x="152400" y="1600200"/>
            <a:ext cx="8839200" cy="2240950"/>
          </a:xfrm>
        </p:spPr>
        <p:txBody>
          <a:bodyPr/>
          <a:lstStyle/>
          <a:p>
            <a:r>
              <a:rPr lang="en-US" dirty="0"/>
              <a:t>Infect their OS or browser with a virus/</a:t>
            </a:r>
            <a:r>
              <a:rPr lang="en-US" dirty="0" err="1"/>
              <a:t>trojan</a:t>
            </a:r>
            <a:endParaRPr lang="en-US" dirty="0"/>
          </a:p>
          <a:p>
            <a:pPr lvl="1"/>
            <a:r>
              <a:rPr lang="en-US" dirty="0"/>
              <a:t>e.g. Many </a:t>
            </a:r>
            <a:r>
              <a:rPr lang="en-US" dirty="0" err="1"/>
              <a:t>trojans</a:t>
            </a:r>
            <a:r>
              <a:rPr lang="en-US" dirty="0"/>
              <a:t> change entries in /</a:t>
            </a:r>
            <a:r>
              <a:rPr lang="en-US" dirty="0" err="1"/>
              <a:t>etc</a:t>
            </a:r>
            <a:r>
              <a:rPr lang="en-US" dirty="0"/>
              <a:t>/hosts</a:t>
            </a:r>
          </a:p>
          <a:p>
            <a:pPr lvl="1"/>
            <a:r>
              <a:rPr lang="en-US" dirty="0"/>
              <a:t>*.bankofamerica.com </a:t>
            </a:r>
            <a:r>
              <a:rPr lang="en-US" dirty="0">
                <a:sym typeface="Wingdings" pitchFamily="2" charset="2"/>
              </a:rPr>
              <a:t> </a:t>
            </a:r>
            <a:r>
              <a:rPr lang="en-US" dirty="0"/>
              <a:t>evilbank.com</a:t>
            </a:r>
          </a:p>
          <a:p>
            <a:r>
              <a:rPr lang="en-US" dirty="0"/>
              <a:t>Man-in-the-middle</a:t>
            </a:r>
          </a:p>
        </p:txBody>
      </p:sp>
      <p:pic>
        <p:nvPicPr>
          <p:cNvPr id="5" name="Picture 5" descr="D:\Classes\CS 4700\assets\User Coat Blue-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3920" y="3663327"/>
            <a:ext cx="920326" cy="920326"/>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7350" y="3656315"/>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7" name="Left-Right Arrow 6"/>
          <p:cNvSpPr/>
          <p:nvPr/>
        </p:nvSpPr>
        <p:spPr>
          <a:xfrm>
            <a:off x="4907880" y="3874137"/>
            <a:ext cx="704121" cy="491694"/>
          </a:xfrm>
          <a:prstGeom prst="lef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D:\Classes\CS 4700\assets\devil-ic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8680" y="3513890"/>
            <a:ext cx="1219200" cy="1219200"/>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Left-Right Arrow 9"/>
          <p:cNvSpPr/>
          <p:nvPr/>
        </p:nvSpPr>
        <p:spPr>
          <a:xfrm>
            <a:off x="2984559" y="3877643"/>
            <a:ext cx="704121" cy="491694"/>
          </a:xfrm>
          <a:prstGeom prst="lef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p:cNvSpPr txBox="1">
            <a:spLocks/>
          </p:cNvSpPr>
          <p:nvPr/>
        </p:nvSpPr>
        <p:spPr>
          <a:xfrm>
            <a:off x="152398" y="4733090"/>
            <a:ext cx="8839200" cy="1961624"/>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Response Spoofing</a:t>
            </a:r>
          </a:p>
          <a:p>
            <a:pPr lvl="1"/>
            <a:r>
              <a:rPr lang="en-US" dirty="0"/>
              <a:t>Eavesdrop on requests</a:t>
            </a:r>
          </a:p>
          <a:p>
            <a:pPr lvl="1"/>
            <a:r>
              <a:rPr lang="en-US" dirty="0"/>
              <a:t>Outrace the servers response</a:t>
            </a:r>
          </a:p>
        </p:txBody>
      </p:sp>
    </p:spTree>
    <p:extLst>
      <p:ext uri="{BB962C8B-B14F-4D97-AF65-F5344CB8AC3E}">
        <p14:creationId xmlns:p14="http://schemas.microsoft.com/office/powerpoint/2010/main" val="4814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711441" y="2635553"/>
            <a:ext cx="1721946" cy="400110"/>
          </a:xfrm>
          <a:prstGeom prst="rect">
            <a:avLst/>
          </a:prstGeom>
          <a:noFill/>
        </p:spPr>
        <p:txBody>
          <a:bodyPr wrap="none" rtlCol="0">
            <a:spAutoFit/>
          </a:bodyPr>
          <a:lstStyle/>
          <a:p>
            <a:pPr algn="ctr"/>
            <a:r>
              <a:rPr lang="en-US" sz="2000" dirty="0"/>
              <a:t>dns.bofa.com</a:t>
            </a:r>
          </a:p>
        </p:txBody>
      </p:sp>
      <p:sp>
        <p:nvSpPr>
          <p:cNvPr id="2" name="Title 1"/>
          <p:cNvSpPr>
            <a:spLocks noGrp="1"/>
          </p:cNvSpPr>
          <p:nvPr>
            <p:ph type="title"/>
          </p:nvPr>
        </p:nvSpPr>
        <p:spPr/>
        <p:txBody>
          <a:bodyPr/>
          <a:lstStyle/>
          <a:p>
            <a:r>
              <a:rPr lang="en-US" dirty="0"/>
              <a:t>DNS Spoofing</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31</a:t>
            </a:fld>
            <a:endParaRPr lang="en-US" dirty="0"/>
          </a:p>
        </p:txBody>
      </p:sp>
      <p:pic>
        <p:nvPicPr>
          <p:cNvPr id="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34" y="4041886"/>
            <a:ext cx="851735" cy="851735"/>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3252" y="1635605"/>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Right Arrow 9"/>
          <p:cNvSpPr/>
          <p:nvPr/>
        </p:nvSpPr>
        <p:spPr>
          <a:xfrm>
            <a:off x="1110285" y="1739608"/>
            <a:ext cx="2862967"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636897">
            <a:off x="911852" y="5265648"/>
            <a:ext cx="6530044" cy="457200"/>
          </a:xfrm>
          <a:prstGeom prs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1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35" y="1573035"/>
            <a:ext cx="851735" cy="851735"/>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TextBox 15"/>
          <p:cNvSpPr txBox="1"/>
          <p:nvPr/>
        </p:nvSpPr>
        <p:spPr>
          <a:xfrm>
            <a:off x="7184577" y="3662400"/>
            <a:ext cx="1680268" cy="400110"/>
          </a:xfrm>
          <a:prstGeom prst="rect">
            <a:avLst/>
          </a:prstGeom>
          <a:noFill/>
        </p:spPr>
        <p:txBody>
          <a:bodyPr wrap="none" rtlCol="0">
            <a:spAutoFit/>
          </a:bodyPr>
          <a:lstStyle/>
          <a:p>
            <a:pPr algn="ctr"/>
            <a:r>
              <a:rPr lang="en-US" sz="2000" dirty="0"/>
              <a:t>123.45.67.89</a:t>
            </a:r>
          </a:p>
        </p:txBody>
      </p:sp>
      <p:sp>
        <p:nvSpPr>
          <p:cNvPr id="18" name="Right Arrow 17"/>
          <p:cNvSpPr/>
          <p:nvPr/>
        </p:nvSpPr>
        <p:spPr>
          <a:xfrm rot="10800000">
            <a:off x="1059348" y="1750494"/>
            <a:ext cx="2829014"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p:cNvGrpSpPr/>
          <p:nvPr/>
        </p:nvGrpSpPr>
        <p:grpSpPr>
          <a:xfrm flipH="1">
            <a:off x="653109" y="108544"/>
            <a:ext cx="3783812" cy="1005472"/>
            <a:chOff x="1219201" y="4876799"/>
            <a:chExt cx="5211555" cy="1384995"/>
          </a:xfrm>
        </p:grpSpPr>
        <p:sp>
          <p:nvSpPr>
            <p:cNvPr id="29" name="Rectangular Callout 28"/>
            <p:cNvSpPr/>
            <p:nvPr/>
          </p:nvSpPr>
          <p:spPr>
            <a:xfrm>
              <a:off x="1249152" y="4876799"/>
              <a:ext cx="5181604" cy="1384995"/>
            </a:xfrm>
            <a:prstGeom prst="wedgeRectCallout">
              <a:avLst>
                <a:gd name="adj1" fmla="val 48422"/>
                <a:gd name="adj2" fmla="val 115179"/>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30" name="TextBox 29"/>
            <p:cNvSpPr txBox="1"/>
            <p:nvPr/>
          </p:nvSpPr>
          <p:spPr>
            <a:xfrm>
              <a:off x="1219201" y="4876799"/>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Where is bankofamerica.com?</a:t>
              </a:r>
            </a:p>
          </p:txBody>
        </p:sp>
      </p:grpSp>
      <p:sp>
        <p:nvSpPr>
          <p:cNvPr id="31" name="Right Arrow 30"/>
          <p:cNvSpPr/>
          <p:nvPr/>
        </p:nvSpPr>
        <p:spPr>
          <a:xfrm>
            <a:off x="1042372" y="4239153"/>
            <a:ext cx="2862967"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rot="10800000">
            <a:off x="940951" y="4239153"/>
            <a:ext cx="2912975" cy="457200"/>
          </a:xfrm>
          <a:prstGeom prs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2051" name="Picture 3" descr="D:\Classes\CS 4700\assets\bank_of_america.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183" t="18869" r="2989" b="16108"/>
          <a:stretch/>
        </p:blipFill>
        <p:spPr bwMode="auto">
          <a:xfrm>
            <a:off x="7543800" y="1897932"/>
            <a:ext cx="1600200" cy="822960"/>
          </a:xfrm>
          <a:prstGeom prst="rect">
            <a:avLst/>
          </a:prstGeom>
          <a:noFill/>
          <a:extLst>
            <a:ext uri="{909E8E84-426E-40dd-AFC4-6F175D3DCCD1}">
              <a14:hiddenFill xmlns="" xmlns:a14="http://schemas.microsoft.com/office/drawing/2010/main">
                <a:solidFill>
                  <a:srgbClr val="FFFFFF"/>
                </a:solidFill>
              </a14:hiddenFill>
            </a:ext>
          </a:extLst>
        </p:spPr>
      </p:pic>
      <p:pic>
        <p:nvPicPr>
          <p:cNvPr id="2050" name="Picture 2" descr="D:\Classes\CS 4700\assets\server.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3212" y="2627251"/>
            <a:ext cx="982999" cy="982999"/>
          </a:xfrm>
          <a:prstGeom prst="rect">
            <a:avLst/>
          </a:prstGeom>
          <a:noFill/>
          <a:extLst>
            <a:ext uri="{909E8E84-426E-40dd-AFC4-6F175D3DCCD1}">
              <a14:hiddenFill xmlns="" xmlns:a14="http://schemas.microsoft.com/office/drawing/2010/main">
                <a:solidFill>
                  <a:srgbClr val="FFFFFF"/>
                </a:solidFill>
              </a14:hiddenFill>
            </a:ext>
          </a:extLst>
        </p:spPr>
      </p:pic>
      <p:sp>
        <p:nvSpPr>
          <p:cNvPr id="11" name="Right Arrow 10"/>
          <p:cNvSpPr/>
          <p:nvPr/>
        </p:nvSpPr>
        <p:spPr>
          <a:xfrm rot="472089">
            <a:off x="1077063" y="2541418"/>
            <a:ext cx="6491101"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3252" y="3980670"/>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35" name="TextBox 34"/>
          <p:cNvSpPr txBox="1"/>
          <p:nvPr/>
        </p:nvSpPr>
        <p:spPr>
          <a:xfrm>
            <a:off x="3767546" y="4980618"/>
            <a:ext cx="1609736" cy="400110"/>
          </a:xfrm>
          <a:prstGeom prst="rect">
            <a:avLst/>
          </a:prstGeom>
          <a:noFill/>
        </p:spPr>
        <p:txBody>
          <a:bodyPr wrap="none" rtlCol="0">
            <a:spAutoFit/>
          </a:bodyPr>
          <a:lstStyle/>
          <a:p>
            <a:pPr algn="ctr"/>
            <a:r>
              <a:rPr lang="en-US" sz="2000" dirty="0"/>
              <a:t>dns.evil.com</a:t>
            </a:r>
          </a:p>
        </p:txBody>
      </p:sp>
      <p:pic>
        <p:nvPicPr>
          <p:cNvPr id="9" name="Picture 2" descr="D:\Classes\CS 4700\assets\devil-ico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53926" y="3682643"/>
            <a:ext cx="718486" cy="718486"/>
          </a:xfrm>
          <a:prstGeom prst="rect">
            <a:avLst/>
          </a:prstGeom>
          <a:noFill/>
          <a:extLst>
            <a:ext uri="{909E8E84-426E-40dd-AFC4-6F175D3DCCD1}">
              <a14:hiddenFill xmlns="" xmlns:a14="http://schemas.microsoft.com/office/drawing/2010/main">
                <a:solidFill>
                  <a:srgbClr val="FFFFFF"/>
                </a:solidFill>
              </a14:hiddenFill>
            </a:ext>
          </a:extLst>
        </p:spPr>
      </p:pic>
      <p:sp>
        <p:nvSpPr>
          <p:cNvPr id="36" name="TextBox 35"/>
          <p:cNvSpPr txBox="1"/>
          <p:nvPr/>
        </p:nvSpPr>
        <p:spPr>
          <a:xfrm>
            <a:off x="7332115" y="6320379"/>
            <a:ext cx="1537600" cy="400110"/>
          </a:xfrm>
          <a:prstGeom prst="rect">
            <a:avLst/>
          </a:prstGeom>
          <a:noFill/>
        </p:spPr>
        <p:txBody>
          <a:bodyPr wrap="none" rtlCol="0">
            <a:spAutoFit/>
          </a:bodyPr>
          <a:lstStyle/>
          <a:p>
            <a:pPr algn="ctr"/>
            <a:r>
              <a:rPr lang="en-US" sz="2000" dirty="0"/>
              <a:t>66.66.66.93</a:t>
            </a:r>
          </a:p>
        </p:txBody>
      </p:sp>
      <p:pic>
        <p:nvPicPr>
          <p:cNvPr id="37" name="Picture 2" descr="D:\Classes\CS 4700\assets\server.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3212" y="5285230"/>
            <a:ext cx="982999" cy="982999"/>
          </a:xfrm>
          <a:prstGeom prst="rect">
            <a:avLst/>
          </a:prstGeom>
          <a:noFill/>
          <a:extLst>
            <a:ext uri="{909E8E84-426E-40dd-AFC4-6F175D3DCCD1}">
              <a14:hiddenFill xmlns="" xmlns:a14="http://schemas.microsoft.com/office/drawing/2010/main">
                <a:solidFill>
                  <a:srgbClr val="FFFFFF"/>
                </a:solidFill>
              </a14:hiddenFill>
            </a:ext>
          </a:extLst>
        </p:spPr>
      </p:pic>
      <p:pic>
        <p:nvPicPr>
          <p:cNvPr id="38" name="Picture 2" descr="D:\Classes\CS 4700\assets\devil-ico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32233" y="4893621"/>
            <a:ext cx="718486" cy="718486"/>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9" name="Group 38"/>
          <p:cNvGrpSpPr/>
          <p:nvPr/>
        </p:nvGrpSpPr>
        <p:grpSpPr>
          <a:xfrm flipH="1">
            <a:off x="4732399" y="370154"/>
            <a:ext cx="2599716" cy="743862"/>
            <a:chOff x="1219201" y="4876799"/>
            <a:chExt cx="5211555" cy="1384995"/>
          </a:xfrm>
        </p:grpSpPr>
        <p:sp>
          <p:nvSpPr>
            <p:cNvPr id="40" name="Rectangular Callout 39"/>
            <p:cNvSpPr/>
            <p:nvPr/>
          </p:nvSpPr>
          <p:spPr>
            <a:xfrm>
              <a:off x="1249153" y="4876799"/>
              <a:ext cx="5181603" cy="1384995"/>
            </a:xfrm>
            <a:prstGeom prst="wedgeRectCallout">
              <a:avLst>
                <a:gd name="adj1" fmla="val 51791"/>
                <a:gd name="adj2" fmla="val 140057"/>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41" name="TextBox 40"/>
            <p:cNvSpPr txBox="1"/>
            <p:nvPr/>
          </p:nvSpPr>
          <p:spPr>
            <a:xfrm>
              <a:off x="1219201" y="5140291"/>
              <a:ext cx="5181603" cy="72071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123.45.67.89</a:t>
              </a:r>
            </a:p>
          </p:txBody>
        </p:sp>
      </p:grpSp>
      <p:grpSp>
        <p:nvGrpSpPr>
          <p:cNvPr id="42" name="Group 41"/>
          <p:cNvGrpSpPr/>
          <p:nvPr/>
        </p:nvGrpSpPr>
        <p:grpSpPr>
          <a:xfrm flipH="1">
            <a:off x="663982" y="2644812"/>
            <a:ext cx="3783812" cy="1005472"/>
            <a:chOff x="1219201" y="4876799"/>
            <a:chExt cx="5211555" cy="1384995"/>
          </a:xfrm>
        </p:grpSpPr>
        <p:sp>
          <p:nvSpPr>
            <p:cNvPr id="43" name="Rectangular Callout 42"/>
            <p:cNvSpPr/>
            <p:nvPr/>
          </p:nvSpPr>
          <p:spPr>
            <a:xfrm>
              <a:off x="1249152" y="4876799"/>
              <a:ext cx="5181604" cy="1384995"/>
            </a:xfrm>
            <a:prstGeom prst="wedgeRectCallout">
              <a:avLst>
                <a:gd name="adj1" fmla="val 48422"/>
                <a:gd name="adj2" fmla="val 115179"/>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44" name="TextBox 43"/>
            <p:cNvSpPr txBox="1"/>
            <p:nvPr/>
          </p:nvSpPr>
          <p:spPr>
            <a:xfrm>
              <a:off x="1219201" y="4876799"/>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Where is bankofamerica.com?</a:t>
              </a:r>
            </a:p>
          </p:txBody>
        </p:sp>
      </p:grpSp>
      <p:grpSp>
        <p:nvGrpSpPr>
          <p:cNvPr id="45" name="Group 44"/>
          <p:cNvGrpSpPr/>
          <p:nvPr/>
        </p:nvGrpSpPr>
        <p:grpSpPr>
          <a:xfrm>
            <a:off x="1779464" y="1114713"/>
            <a:ext cx="5905869" cy="1345095"/>
            <a:chOff x="404487" y="3333623"/>
            <a:chExt cx="8274022" cy="1523216"/>
          </a:xfrm>
        </p:grpSpPr>
        <p:sp>
          <p:nvSpPr>
            <p:cNvPr id="46" name="Rectangle 45"/>
            <p:cNvSpPr/>
            <p:nvPr/>
          </p:nvSpPr>
          <p:spPr>
            <a:xfrm>
              <a:off x="414979" y="3333623"/>
              <a:ext cx="8263530" cy="1523216"/>
            </a:xfrm>
            <a:prstGeom prst="rect">
              <a:avLst/>
            </a:prstGeom>
            <a:ln w="57150">
              <a:solidFill>
                <a:schemeClr val="accent2">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7" name="Content Placeholder 2"/>
            <p:cNvSpPr txBox="1">
              <a:spLocks/>
            </p:cNvSpPr>
            <p:nvPr/>
          </p:nvSpPr>
          <p:spPr>
            <a:xfrm>
              <a:off x="404487" y="3496212"/>
              <a:ext cx="8118848" cy="1208303"/>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lgn="ctr">
                <a:buClr>
                  <a:schemeClr val="bg1"/>
                </a:buClr>
                <a:buNone/>
              </a:pPr>
              <a:r>
                <a:rPr lang="en-US" sz="3200" dirty="0">
                  <a:solidFill>
                    <a:schemeClr val="bg1"/>
                  </a:solidFill>
                </a:rPr>
                <a:t>How do you know that a given </a:t>
              </a:r>
              <a:r>
                <a:rPr lang="en-US" sz="3200" dirty="0" err="1">
                  <a:solidFill>
                    <a:schemeClr val="bg1"/>
                  </a:solidFill>
                </a:rPr>
                <a:t>name</a:t>
              </a:r>
              <a:r>
                <a:rPr lang="en-US" sz="3200" dirty="0" err="1">
                  <a:solidFill>
                    <a:schemeClr val="bg1"/>
                  </a:solidFill>
                  <a:sym typeface="Wingdings" pitchFamily="2" charset="2"/>
                </a:rPr>
                <a:t>IP</a:t>
              </a:r>
              <a:r>
                <a:rPr lang="en-US" sz="3200" dirty="0">
                  <a:solidFill>
                    <a:schemeClr val="bg1"/>
                  </a:solidFill>
                  <a:sym typeface="Wingdings" pitchFamily="2" charset="2"/>
                </a:rPr>
                <a:t> mapping is correct?</a:t>
              </a:r>
              <a:endParaRPr lang="en-US" sz="3200" dirty="0">
                <a:solidFill>
                  <a:schemeClr val="bg1"/>
                </a:solidFill>
              </a:endParaRPr>
            </a:p>
          </p:txBody>
        </p:sp>
      </p:grpSp>
      <p:grpSp>
        <p:nvGrpSpPr>
          <p:cNvPr id="25" name="Group 24"/>
          <p:cNvGrpSpPr/>
          <p:nvPr/>
        </p:nvGrpSpPr>
        <p:grpSpPr>
          <a:xfrm flipH="1">
            <a:off x="4747340" y="3201095"/>
            <a:ext cx="2584775" cy="746605"/>
            <a:chOff x="1219201" y="4876800"/>
            <a:chExt cx="5211555" cy="1384994"/>
          </a:xfrm>
        </p:grpSpPr>
        <p:sp>
          <p:nvSpPr>
            <p:cNvPr id="26" name="Rectangular Callout 25"/>
            <p:cNvSpPr/>
            <p:nvPr/>
          </p:nvSpPr>
          <p:spPr>
            <a:xfrm>
              <a:off x="1249152" y="4876800"/>
              <a:ext cx="5181604" cy="1384994"/>
            </a:xfrm>
            <a:prstGeom prst="wedgeRectCallout">
              <a:avLst>
                <a:gd name="adj1" fmla="val 47738"/>
                <a:gd name="adj2" fmla="val 101272"/>
              </a:avLst>
            </a:prstGeom>
            <a:solidFill>
              <a:schemeClr val="accent2"/>
            </a:solidFill>
            <a:ln w="38100" cap="flat" cmpd="sng" algn="ctr">
              <a:solidFill>
                <a:schemeClr val="accent2">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Tw Cen MT"/>
                <a:ea typeface="+mn-ea"/>
                <a:cs typeface="+mn-cs"/>
              </a:endParaRPr>
            </a:p>
          </p:txBody>
        </p:sp>
        <p:sp>
          <p:nvSpPr>
            <p:cNvPr id="27" name="TextBox 26"/>
            <p:cNvSpPr txBox="1"/>
            <p:nvPr/>
          </p:nvSpPr>
          <p:spPr>
            <a:xfrm>
              <a:off x="1219201" y="5098934"/>
              <a:ext cx="5181604" cy="72071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800" kern="0" dirty="0">
                  <a:solidFill>
                    <a:sysClr val="window" lastClr="FFFFFF"/>
                  </a:solidFill>
                </a:rPr>
                <a:t>66.66.66.93</a:t>
              </a:r>
              <a:endParaRPr kumimoji="0" lang="en-US" sz="2800" b="0" i="0" u="none" strike="noStrike" kern="0" cap="none" spc="0" normalizeH="0" baseline="0" noProof="0" dirty="0">
                <a:ln>
                  <a:noFill/>
                </a:ln>
                <a:solidFill>
                  <a:sysClr val="window" lastClr="FFFFFF"/>
                </a:solidFill>
                <a:effectLst/>
                <a:uLnTx/>
                <a:uFillTx/>
              </a:endParaRPr>
            </a:p>
          </p:txBody>
        </p:sp>
      </p:grpSp>
    </p:spTree>
    <p:extLst>
      <p:ext uri="{BB962C8B-B14F-4D97-AF65-F5344CB8AC3E}">
        <p14:creationId xmlns:p14="http://schemas.microsoft.com/office/powerpoint/2010/main" val="286841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anim calcmode="lin" valueType="num">
                                      <p:cBhvr>
                                        <p:cTn id="18" dur="500" fill="hold"/>
                                        <p:tgtEl>
                                          <p:spTgt spid="39"/>
                                        </p:tgtEl>
                                        <p:attrNameLst>
                                          <p:attrName>ppt_x</p:attrName>
                                        </p:attrNameLst>
                                      </p:cBhvr>
                                      <p:tavLst>
                                        <p:tav tm="0">
                                          <p:val>
                                            <p:strVal val="#ppt_x"/>
                                          </p:val>
                                        </p:tav>
                                        <p:tav tm="100000">
                                          <p:val>
                                            <p:strVal val="#ppt_x"/>
                                          </p:val>
                                        </p:tav>
                                      </p:tavLst>
                                    </p:anim>
                                    <p:anim calcmode="lin" valueType="num">
                                      <p:cBhvr>
                                        <p:cTn id="19"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xit" presetSubtype="8" fill="hold" grpId="1" nodeType="clickEffect">
                                  <p:stCondLst>
                                    <p:cond delay="0"/>
                                  </p:stCondLst>
                                  <p:childTnLst>
                                    <p:animEffect transition="out" filter="wipe(left)">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right)">
                                      <p:cBhvr>
                                        <p:cTn id="28" dur="500"/>
                                        <p:tgtEl>
                                          <p:spTgt spid="18"/>
                                        </p:tgtEl>
                                      </p:cBhvr>
                                    </p:animEffect>
                                  </p:childTnLst>
                                </p:cTn>
                              </p:par>
                            </p:childTnLst>
                          </p:cTn>
                        </p:par>
                        <p:par>
                          <p:cTn id="29" fill="hold">
                            <p:stCondLst>
                              <p:cond delay="1000"/>
                            </p:stCondLst>
                            <p:childTnLst>
                              <p:par>
                                <p:cTn id="30" presetID="22" presetClass="exit" presetSubtype="2" fill="hold" grpId="1" nodeType="afterEffect">
                                  <p:stCondLst>
                                    <p:cond delay="0"/>
                                  </p:stCondLst>
                                  <p:childTnLst>
                                    <p:animEffect transition="out" filter="wipe(right)">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xit" presetSubtype="0" fill="hold" nodeType="clickEffect">
                                  <p:stCondLst>
                                    <p:cond delay="0"/>
                                  </p:stCondLst>
                                  <p:childTnLst>
                                    <p:animEffect transition="out" filter="fade">
                                      <p:cBhvr>
                                        <p:cTn id="40" dur="500"/>
                                        <p:tgtEl>
                                          <p:spTgt spid="28"/>
                                        </p:tgtEl>
                                      </p:cBhvr>
                                    </p:animEffect>
                                    <p:anim calcmode="lin" valueType="num">
                                      <p:cBhvr>
                                        <p:cTn id="41" dur="500"/>
                                        <p:tgtEl>
                                          <p:spTgt spid="28"/>
                                        </p:tgtEl>
                                        <p:attrNameLst>
                                          <p:attrName>ppt_x</p:attrName>
                                        </p:attrNameLst>
                                      </p:cBhvr>
                                      <p:tavLst>
                                        <p:tav tm="0">
                                          <p:val>
                                            <p:strVal val="ppt_x"/>
                                          </p:val>
                                        </p:tav>
                                        <p:tav tm="100000">
                                          <p:val>
                                            <p:strVal val="ppt_x"/>
                                          </p:val>
                                        </p:tav>
                                      </p:tavLst>
                                    </p:anim>
                                    <p:anim calcmode="lin" valueType="num">
                                      <p:cBhvr>
                                        <p:cTn id="42" dur="500"/>
                                        <p:tgtEl>
                                          <p:spTgt spid="28"/>
                                        </p:tgtEl>
                                        <p:attrNameLst>
                                          <p:attrName>ppt_y</p:attrName>
                                        </p:attrNameLst>
                                      </p:cBhvr>
                                      <p:tavLst>
                                        <p:tav tm="0">
                                          <p:val>
                                            <p:strVal val="ppt_y"/>
                                          </p:val>
                                        </p:tav>
                                        <p:tav tm="100000">
                                          <p:val>
                                            <p:strVal val="ppt_y+.1"/>
                                          </p:val>
                                        </p:tav>
                                      </p:tavLst>
                                    </p:anim>
                                    <p:set>
                                      <p:cBhvr>
                                        <p:cTn id="43" dur="1" fill="hold">
                                          <p:stCondLst>
                                            <p:cond delay="499"/>
                                          </p:stCondLst>
                                        </p:cTn>
                                        <p:tgtEl>
                                          <p:spTgt spid="28"/>
                                        </p:tgtEl>
                                        <p:attrNameLst>
                                          <p:attrName>style.visibility</p:attrName>
                                        </p:attrNameLst>
                                      </p:cBhvr>
                                      <p:to>
                                        <p:strVal val="hidden"/>
                                      </p:to>
                                    </p:set>
                                  </p:childTnLst>
                                </p:cTn>
                              </p:par>
                              <p:par>
                                <p:cTn id="44" presetID="42" presetClass="exit" presetSubtype="0" fill="hold" nodeType="withEffect">
                                  <p:stCondLst>
                                    <p:cond delay="0"/>
                                  </p:stCondLst>
                                  <p:childTnLst>
                                    <p:animEffect transition="out" filter="fade">
                                      <p:cBhvr>
                                        <p:cTn id="45" dur="500"/>
                                        <p:tgtEl>
                                          <p:spTgt spid="39"/>
                                        </p:tgtEl>
                                      </p:cBhvr>
                                    </p:animEffect>
                                    <p:anim calcmode="lin" valueType="num">
                                      <p:cBhvr>
                                        <p:cTn id="46" dur="500"/>
                                        <p:tgtEl>
                                          <p:spTgt spid="39"/>
                                        </p:tgtEl>
                                        <p:attrNameLst>
                                          <p:attrName>ppt_x</p:attrName>
                                        </p:attrNameLst>
                                      </p:cBhvr>
                                      <p:tavLst>
                                        <p:tav tm="0">
                                          <p:val>
                                            <p:strVal val="ppt_x"/>
                                          </p:val>
                                        </p:tav>
                                        <p:tav tm="100000">
                                          <p:val>
                                            <p:strVal val="ppt_x"/>
                                          </p:val>
                                        </p:tav>
                                      </p:tavLst>
                                    </p:anim>
                                    <p:anim calcmode="lin" valueType="num">
                                      <p:cBhvr>
                                        <p:cTn id="47" dur="500"/>
                                        <p:tgtEl>
                                          <p:spTgt spid="39"/>
                                        </p:tgtEl>
                                        <p:attrNameLst>
                                          <p:attrName>ppt_y</p:attrName>
                                        </p:attrNameLst>
                                      </p:cBhvr>
                                      <p:tavLst>
                                        <p:tav tm="0">
                                          <p:val>
                                            <p:strVal val="ppt_y"/>
                                          </p:val>
                                        </p:tav>
                                        <p:tav tm="100000">
                                          <p:val>
                                            <p:strVal val="ppt_y+.1"/>
                                          </p:val>
                                        </p:tav>
                                      </p:tavLst>
                                    </p:anim>
                                    <p:set>
                                      <p:cBhvr>
                                        <p:cTn id="48" dur="1" fill="hold">
                                          <p:stCondLst>
                                            <p:cond delay="499"/>
                                          </p:stCondLst>
                                        </p:cTn>
                                        <p:tgtEl>
                                          <p:spTgt spid="39"/>
                                        </p:tgtEl>
                                        <p:attrNameLst>
                                          <p:attrName>style.visibility</p:attrName>
                                        </p:attrNameLst>
                                      </p:cBhvr>
                                      <p:to>
                                        <p:strVal val="hidden"/>
                                      </p:to>
                                    </p:set>
                                  </p:childTnLst>
                                </p:cTn>
                              </p:par>
                              <p:par>
                                <p:cTn id="49" presetID="22" presetClass="exit" presetSubtype="8" fill="hold" grpId="1" nodeType="withEffect">
                                  <p:stCondLst>
                                    <p:cond delay="0"/>
                                  </p:stCondLst>
                                  <p:childTnLst>
                                    <p:animEffect transition="out" filter="wipe(left)">
                                      <p:cBhvr>
                                        <p:cTn id="50" dur="500"/>
                                        <p:tgtEl>
                                          <p:spTgt spid="11"/>
                                        </p:tgtEl>
                                      </p:cBhvr>
                                    </p:animEffect>
                                    <p:set>
                                      <p:cBhvr>
                                        <p:cTn id="51" dur="1" fill="hold">
                                          <p:stCondLst>
                                            <p:cond delay="499"/>
                                          </p:stCondLst>
                                        </p:cTn>
                                        <p:tgtEl>
                                          <p:spTgt spid="11"/>
                                        </p:tgtEl>
                                        <p:attrNameLst>
                                          <p:attrName>style.visibility</p:attrName>
                                        </p:attrNameLst>
                                      </p:cBhvr>
                                      <p:to>
                                        <p:strVal val="hidden"/>
                                      </p:to>
                                    </p:set>
                                  </p:childTnLst>
                                </p:cTn>
                              </p:par>
                            </p:childTnLst>
                          </p:cTn>
                        </p:par>
                        <p:par>
                          <p:cTn id="52" fill="hold">
                            <p:stCondLst>
                              <p:cond delay="500"/>
                            </p:stCondLst>
                            <p:childTnLst>
                              <p:par>
                                <p:cTn id="53" presetID="42" presetClass="entr" presetSubtype="0" fill="hold" nodeType="after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tgtEl>
                                          <p:spTgt spid="5"/>
                                        </p:tgtEl>
                                      </p:cBhvr>
                                    </p:animEffect>
                                    <p:anim calcmode="lin" valueType="num">
                                      <p:cBhvr>
                                        <p:cTn id="56" dur="500" fill="hold"/>
                                        <p:tgtEl>
                                          <p:spTgt spid="5"/>
                                        </p:tgtEl>
                                        <p:attrNameLst>
                                          <p:attrName>ppt_x</p:attrName>
                                        </p:attrNameLst>
                                      </p:cBhvr>
                                      <p:tavLst>
                                        <p:tav tm="0">
                                          <p:val>
                                            <p:strVal val="#ppt_x"/>
                                          </p:val>
                                        </p:tav>
                                        <p:tav tm="100000">
                                          <p:val>
                                            <p:strVal val="#ppt_x"/>
                                          </p:val>
                                        </p:tav>
                                      </p:tavLst>
                                    </p:anim>
                                    <p:anim calcmode="lin" valueType="num">
                                      <p:cBhvr>
                                        <p:cTn id="57" dur="500" fill="hold"/>
                                        <p:tgtEl>
                                          <p:spTgt spid="5"/>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anim calcmode="lin" valueType="num">
                                      <p:cBhvr>
                                        <p:cTn id="61" dur="500" fill="hold"/>
                                        <p:tgtEl>
                                          <p:spTgt spid="34"/>
                                        </p:tgtEl>
                                        <p:attrNameLst>
                                          <p:attrName>ppt_x</p:attrName>
                                        </p:attrNameLst>
                                      </p:cBhvr>
                                      <p:tavLst>
                                        <p:tav tm="0">
                                          <p:val>
                                            <p:strVal val="#ppt_x"/>
                                          </p:val>
                                        </p:tav>
                                        <p:tav tm="100000">
                                          <p:val>
                                            <p:strVal val="#ppt_x"/>
                                          </p:val>
                                        </p:tav>
                                      </p:tavLst>
                                    </p:anim>
                                    <p:anim calcmode="lin" valueType="num">
                                      <p:cBhvr>
                                        <p:cTn id="62" dur="500" fill="hold"/>
                                        <p:tgtEl>
                                          <p:spTgt spid="3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00"/>
                                        <p:tgtEl>
                                          <p:spTgt spid="35"/>
                                        </p:tgtEl>
                                      </p:cBhvr>
                                    </p:animEffect>
                                    <p:anim calcmode="lin" valueType="num">
                                      <p:cBhvr>
                                        <p:cTn id="66" dur="500" fill="hold"/>
                                        <p:tgtEl>
                                          <p:spTgt spid="35"/>
                                        </p:tgtEl>
                                        <p:attrNameLst>
                                          <p:attrName>ppt_x</p:attrName>
                                        </p:attrNameLst>
                                      </p:cBhvr>
                                      <p:tavLst>
                                        <p:tav tm="0">
                                          <p:val>
                                            <p:strVal val="#ppt_x"/>
                                          </p:val>
                                        </p:tav>
                                        <p:tav tm="100000">
                                          <p:val>
                                            <p:strVal val="#ppt_x"/>
                                          </p:val>
                                        </p:tav>
                                      </p:tavLst>
                                    </p:anim>
                                    <p:anim calcmode="lin" valueType="num">
                                      <p:cBhvr>
                                        <p:cTn id="67" dur="500" fill="hold"/>
                                        <p:tgtEl>
                                          <p:spTgt spid="35"/>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500"/>
                                        <p:tgtEl>
                                          <p:spTgt spid="9"/>
                                        </p:tgtEl>
                                      </p:cBhvr>
                                    </p:animEffect>
                                    <p:anim calcmode="lin" valueType="num">
                                      <p:cBhvr>
                                        <p:cTn id="71" dur="500" fill="hold"/>
                                        <p:tgtEl>
                                          <p:spTgt spid="9"/>
                                        </p:tgtEl>
                                        <p:attrNameLst>
                                          <p:attrName>ppt_x</p:attrName>
                                        </p:attrNameLst>
                                      </p:cBhvr>
                                      <p:tavLst>
                                        <p:tav tm="0">
                                          <p:val>
                                            <p:strVal val="#ppt_x"/>
                                          </p:val>
                                        </p:tav>
                                        <p:tav tm="100000">
                                          <p:val>
                                            <p:strVal val="#ppt_x"/>
                                          </p:val>
                                        </p:tav>
                                      </p:tavLst>
                                    </p:anim>
                                    <p:anim calcmode="lin" valueType="num">
                                      <p:cBhvr>
                                        <p:cTn id="72" dur="500" fill="hold"/>
                                        <p:tgtEl>
                                          <p:spTgt spid="9"/>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anim calcmode="lin" valueType="num">
                                      <p:cBhvr>
                                        <p:cTn id="76" dur="500" fill="hold"/>
                                        <p:tgtEl>
                                          <p:spTgt spid="36"/>
                                        </p:tgtEl>
                                        <p:attrNameLst>
                                          <p:attrName>ppt_x</p:attrName>
                                        </p:attrNameLst>
                                      </p:cBhvr>
                                      <p:tavLst>
                                        <p:tav tm="0">
                                          <p:val>
                                            <p:strVal val="#ppt_x"/>
                                          </p:val>
                                        </p:tav>
                                        <p:tav tm="100000">
                                          <p:val>
                                            <p:strVal val="#ppt_x"/>
                                          </p:val>
                                        </p:tav>
                                      </p:tavLst>
                                    </p:anim>
                                    <p:anim calcmode="lin" valueType="num">
                                      <p:cBhvr>
                                        <p:cTn id="77" dur="500" fill="hold"/>
                                        <p:tgtEl>
                                          <p:spTgt spid="36"/>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500"/>
                                        <p:tgtEl>
                                          <p:spTgt spid="37"/>
                                        </p:tgtEl>
                                      </p:cBhvr>
                                    </p:animEffect>
                                    <p:anim calcmode="lin" valueType="num">
                                      <p:cBhvr>
                                        <p:cTn id="81" dur="500" fill="hold"/>
                                        <p:tgtEl>
                                          <p:spTgt spid="37"/>
                                        </p:tgtEl>
                                        <p:attrNameLst>
                                          <p:attrName>ppt_x</p:attrName>
                                        </p:attrNameLst>
                                      </p:cBhvr>
                                      <p:tavLst>
                                        <p:tav tm="0">
                                          <p:val>
                                            <p:strVal val="#ppt_x"/>
                                          </p:val>
                                        </p:tav>
                                        <p:tav tm="100000">
                                          <p:val>
                                            <p:strVal val="#ppt_x"/>
                                          </p:val>
                                        </p:tav>
                                      </p:tavLst>
                                    </p:anim>
                                    <p:anim calcmode="lin" valueType="num">
                                      <p:cBhvr>
                                        <p:cTn id="82" dur="500" fill="hold"/>
                                        <p:tgtEl>
                                          <p:spTgt spid="37"/>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500"/>
                                        <p:tgtEl>
                                          <p:spTgt spid="38"/>
                                        </p:tgtEl>
                                      </p:cBhvr>
                                    </p:animEffect>
                                    <p:anim calcmode="lin" valueType="num">
                                      <p:cBhvr>
                                        <p:cTn id="86" dur="500" fill="hold"/>
                                        <p:tgtEl>
                                          <p:spTgt spid="38"/>
                                        </p:tgtEl>
                                        <p:attrNameLst>
                                          <p:attrName>ppt_x</p:attrName>
                                        </p:attrNameLst>
                                      </p:cBhvr>
                                      <p:tavLst>
                                        <p:tav tm="0">
                                          <p:val>
                                            <p:strVal val="#ppt_x"/>
                                          </p:val>
                                        </p:tav>
                                        <p:tav tm="100000">
                                          <p:val>
                                            <p:strVal val="#ppt_x"/>
                                          </p:val>
                                        </p:tav>
                                      </p:tavLst>
                                    </p:anim>
                                    <p:anim calcmode="lin" valueType="num">
                                      <p:cBhvr>
                                        <p:cTn id="87"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500"/>
                                        <p:tgtEl>
                                          <p:spTgt spid="42"/>
                                        </p:tgtEl>
                                      </p:cBhvr>
                                    </p:animEffect>
                                    <p:anim calcmode="lin" valueType="num">
                                      <p:cBhvr>
                                        <p:cTn id="93" dur="500" fill="hold"/>
                                        <p:tgtEl>
                                          <p:spTgt spid="42"/>
                                        </p:tgtEl>
                                        <p:attrNameLst>
                                          <p:attrName>ppt_x</p:attrName>
                                        </p:attrNameLst>
                                      </p:cBhvr>
                                      <p:tavLst>
                                        <p:tav tm="0">
                                          <p:val>
                                            <p:strVal val="#ppt_x"/>
                                          </p:val>
                                        </p:tav>
                                        <p:tav tm="100000">
                                          <p:val>
                                            <p:strVal val="#ppt_x"/>
                                          </p:val>
                                        </p:tav>
                                      </p:tavLst>
                                    </p:anim>
                                    <p:anim calcmode="lin" valueType="num">
                                      <p:cBhvr>
                                        <p:cTn id="94" dur="500" fill="hold"/>
                                        <p:tgtEl>
                                          <p:spTgt spid="42"/>
                                        </p:tgtEl>
                                        <p:attrNameLst>
                                          <p:attrName>ppt_y</p:attrName>
                                        </p:attrNameLst>
                                      </p:cBhvr>
                                      <p:tavLst>
                                        <p:tav tm="0">
                                          <p:val>
                                            <p:strVal val="#ppt_y+.1"/>
                                          </p:val>
                                        </p:tav>
                                        <p:tav tm="100000">
                                          <p:val>
                                            <p:strVal val="#ppt_y"/>
                                          </p:val>
                                        </p:tav>
                                      </p:tavLst>
                                    </p:anim>
                                  </p:childTnLst>
                                </p:cTn>
                              </p:par>
                            </p:childTnLst>
                          </p:cTn>
                        </p:par>
                        <p:par>
                          <p:cTn id="95" fill="hold">
                            <p:stCondLst>
                              <p:cond delay="500"/>
                            </p:stCondLst>
                            <p:childTnLst>
                              <p:par>
                                <p:cTn id="96" presetID="22" presetClass="entr" presetSubtype="8" fill="hold" grpId="0" nodeType="after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left)">
                                      <p:cBhvr>
                                        <p:cTn id="98" dur="500"/>
                                        <p:tgtEl>
                                          <p:spTgt spid="31"/>
                                        </p:tgtEl>
                                      </p:cBhvr>
                                    </p:animEffect>
                                  </p:childTnLst>
                                </p:cTn>
                              </p:par>
                            </p:childTnLst>
                          </p:cTn>
                        </p:par>
                        <p:par>
                          <p:cTn id="99" fill="hold">
                            <p:stCondLst>
                              <p:cond delay="1000"/>
                            </p:stCondLst>
                            <p:childTnLst>
                              <p:par>
                                <p:cTn id="100" presetID="42" presetClass="entr" presetSubtype="0" fill="hold" nodeType="afterEffect">
                                  <p:stCondLst>
                                    <p:cond delay="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500"/>
                                        <p:tgtEl>
                                          <p:spTgt spid="25"/>
                                        </p:tgtEl>
                                      </p:cBhvr>
                                    </p:animEffect>
                                    <p:anim calcmode="lin" valueType="num">
                                      <p:cBhvr>
                                        <p:cTn id="103" dur="500" fill="hold"/>
                                        <p:tgtEl>
                                          <p:spTgt spid="25"/>
                                        </p:tgtEl>
                                        <p:attrNameLst>
                                          <p:attrName>ppt_x</p:attrName>
                                        </p:attrNameLst>
                                      </p:cBhvr>
                                      <p:tavLst>
                                        <p:tav tm="0">
                                          <p:val>
                                            <p:strVal val="#ppt_x"/>
                                          </p:val>
                                        </p:tav>
                                        <p:tav tm="100000">
                                          <p:val>
                                            <p:strVal val="#ppt_x"/>
                                          </p:val>
                                        </p:tav>
                                      </p:tavLst>
                                    </p:anim>
                                    <p:anim calcmode="lin" valueType="num">
                                      <p:cBhvr>
                                        <p:cTn id="104"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xit" presetSubtype="8" fill="hold" grpId="1" nodeType="clickEffect">
                                  <p:stCondLst>
                                    <p:cond delay="0"/>
                                  </p:stCondLst>
                                  <p:childTnLst>
                                    <p:animEffect transition="out" filter="wipe(left)">
                                      <p:cBhvr>
                                        <p:cTn id="108" dur="500"/>
                                        <p:tgtEl>
                                          <p:spTgt spid="31"/>
                                        </p:tgtEl>
                                      </p:cBhvr>
                                    </p:animEffect>
                                    <p:set>
                                      <p:cBhvr>
                                        <p:cTn id="109" dur="1" fill="hold">
                                          <p:stCondLst>
                                            <p:cond delay="499"/>
                                          </p:stCondLst>
                                        </p:cTn>
                                        <p:tgtEl>
                                          <p:spTgt spid="31"/>
                                        </p:tgtEl>
                                        <p:attrNameLst>
                                          <p:attrName>style.visibility</p:attrName>
                                        </p:attrNameLst>
                                      </p:cBhvr>
                                      <p:to>
                                        <p:strVal val="hidden"/>
                                      </p:to>
                                    </p:set>
                                  </p:childTnLst>
                                </p:cTn>
                              </p:par>
                            </p:childTnLst>
                          </p:cTn>
                        </p:par>
                        <p:par>
                          <p:cTn id="110" fill="hold">
                            <p:stCondLst>
                              <p:cond delay="500"/>
                            </p:stCondLst>
                            <p:childTnLst>
                              <p:par>
                                <p:cTn id="111" presetID="22" presetClass="entr" presetSubtype="2" fill="hold" grpId="0" nodeType="afterEffect">
                                  <p:stCondLst>
                                    <p:cond delay="0"/>
                                  </p:stCondLst>
                                  <p:childTnLst>
                                    <p:set>
                                      <p:cBhvr>
                                        <p:cTn id="112" dur="1" fill="hold">
                                          <p:stCondLst>
                                            <p:cond delay="0"/>
                                          </p:stCondLst>
                                        </p:cTn>
                                        <p:tgtEl>
                                          <p:spTgt spid="32"/>
                                        </p:tgtEl>
                                        <p:attrNameLst>
                                          <p:attrName>style.visibility</p:attrName>
                                        </p:attrNameLst>
                                      </p:cBhvr>
                                      <p:to>
                                        <p:strVal val="visible"/>
                                      </p:to>
                                    </p:set>
                                    <p:animEffect transition="in" filter="wipe(right)">
                                      <p:cBhvr>
                                        <p:cTn id="113" dur="500"/>
                                        <p:tgtEl>
                                          <p:spTgt spid="32"/>
                                        </p:tgtEl>
                                      </p:cBhvr>
                                    </p:animEffect>
                                  </p:childTnLst>
                                </p:cTn>
                              </p:par>
                            </p:childTnLst>
                          </p:cTn>
                        </p:par>
                        <p:par>
                          <p:cTn id="114" fill="hold">
                            <p:stCondLst>
                              <p:cond delay="1000"/>
                            </p:stCondLst>
                            <p:childTnLst>
                              <p:par>
                                <p:cTn id="115" presetID="22" presetClass="exit" presetSubtype="2" fill="hold" grpId="1" nodeType="afterEffect">
                                  <p:stCondLst>
                                    <p:cond delay="0"/>
                                  </p:stCondLst>
                                  <p:childTnLst>
                                    <p:animEffect transition="out" filter="wipe(right)">
                                      <p:cBhvr>
                                        <p:cTn id="116" dur="500"/>
                                        <p:tgtEl>
                                          <p:spTgt spid="32"/>
                                        </p:tgtEl>
                                      </p:cBhvr>
                                    </p:animEffect>
                                    <p:set>
                                      <p:cBhvr>
                                        <p:cTn id="117" dur="1" fill="hold">
                                          <p:stCondLst>
                                            <p:cond delay="499"/>
                                          </p:stCondLst>
                                        </p:cTn>
                                        <p:tgtEl>
                                          <p:spTgt spid="32"/>
                                        </p:tgtEl>
                                        <p:attrNameLst>
                                          <p:attrName>style.visibility</p:attrName>
                                        </p:attrNameLst>
                                      </p:cBhvr>
                                      <p:to>
                                        <p:strVal val="hidden"/>
                                      </p:to>
                                    </p:set>
                                  </p:childTnLst>
                                </p:cTn>
                              </p:par>
                            </p:childTnLst>
                          </p:cTn>
                        </p:par>
                        <p:par>
                          <p:cTn id="118" fill="hold">
                            <p:stCondLst>
                              <p:cond delay="1500"/>
                            </p:stCondLst>
                            <p:childTnLst>
                              <p:par>
                                <p:cTn id="119" presetID="22" presetClass="entr" presetSubtype="8" fill="hold" grpId="0" nodeType="afterEffect">
                                  <p:stCondLst>
                                    <p:cond delay="0"/>
                                  </p:stCondLst>
                                  <p:childTnLst>
                                    <p:set>
                                      <p:cBhvr>
                                        <p:cTn id="120" dur="1" fill="hold">
                                          <p:stCondLst>
                                            <p:cond delay="0"/>
                                          </p:stCondLst>
                                        </p:cTn>
                                        <p:tgtEl>
                                          <p:spTgt spid="13"/>
                                        </p:tgtEl>
                                        <p:attrNameLst>
                                          <p:attrName>style.visibility</p:attrName>
                                        </p:attrNameLst>
                                      </p:cBhvr>
                                      <p:to>
                                        <p:strVal val="visible"/>
                                      </p:to>
                                    </p:set>
                                    <p:animEffect transition="in" filter="wipe(left)">
                                      <p:cBhvr>
                                        <p:cTn id="121" dur="500"/>
                                        <p:tgtEl>
                                          <p:spTgt spid="13"/>
                                        </p:tgtEl>
                                      </p:cBhvr>
                                    </p:animEffect>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500"/>
                                        <p:tgtEl>
                                          <p:spTgt spid="45"/>
                                        </p:tgtEl>
                                      </p:cBhvr>
                                    </p:animEffect>
                                    <p:anim calcmode="lin" valueType="num">
                                      <p:cBhvr>
                                        <p:cTn id="127" dur="500" fill="hold"/>
                                        <p:tgtEl>
                                          <p:spTgt spid="45"/>
                                        </p:tgtEl>
                                        <p:attrNameLst>
                                          <p:attrName>ppt_x</p:attrName>
                                        </p:attrNameLst>
                                      </p:cBhvr>
                                      <p:tavLst>
                                        <p:tav tm="0">
                                          <p:val>
                                            <p:strVal val="#ppt_x"/>
                                          </p:val>
                                        </p:tav>
                                        <p:tav tm="100000">
                                          <p:val>
                                            <p:strVal val="#ppt_x"/>
                                          </p:val>
                                        </p:tav>
                                      </p:tavLst>
                                    </p:anim>
                                    <p:anim calcmode="lin" valueType="num">
                                      <p:cBhvr>
                                        <p:cTn id="128" dur="5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3" grpId="0" animBg="1"/>
      <p:bldP spid="18" grpId="0" animBg="1"/>
      <p:bldP spid="18" grpId="1" animBg="1"/>
      <p:bldP spid="31" grpId="0" animBg="1"/>
      <p:bldP spid="31" grpId="1" animBg="1"/>
      <p:bldP spid="32" grpId="0" animBg="1"/>
      <p:bldP spid="32" grpId="1" animBg="1"/>
      <p:bldP spid="11" grpId="0" animBg="1"/>
      <p:bldP spid="11" grpId="1" animBg="1"/>
      <p:bldP spid="35" grpId="0"/>
      <p:bldP spid="3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 Cache Poisoning</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32</a:t>
            </a:fld>
            <a:endParaRPr lang="en-US" dirty="0"/>
          </a:p>
        </p:txBody>
      </p:sp>
      <p:sp>
        <p:nvSpPr>
          <p:cNvPr id="4" name="Content Placeholder 3"/>
          <p:cNvSpPr>
            <a:spLocks noGrp="1"/>
          </p:cNvSpPr>
          <p:nvPr>
            <p:ph sz="quarter" idx="1"/>
          </p:nvPr>
        </p:nvSpPr>
        <p:spPr>
          <a:xfrm>
            <a:off x="76197" y="4495800"/>
            <a:ext cx="8138075" cy="2220686"/>
          </a:xfrm>
        </p:spPr>
        <p:txBody>
          <a:bodyPr/>
          <a:lstStyle/>
          <a:p>
            <a:r>
              <a:rPr lang="en-US" dirty="0"/>
              <a:t>Until the TTL expires, all queries for </a:t>
            </a:r>
            <a:r>
              <a:rPr lang="en-US" dirty="0" err="1"/>
              <a:t>BofA</a:t>
            </a:r>
            <a:r>
              <a:rPr lang="en-US" dirty="0"/>
              <a:t> to dns.neu.edu will return poisoned result</a:t>
            </a:r>
          </a:p>
          <a:p>
            <a:r>
              <a:rPr lang="en-US" dirty="0"/>
              <a:t>Much worse than spoofing/man-in-the-middle</a:t>
            </a:r>
          </a:p>
          <a:p>
            <a:pPr lvl="1"/>
            <a:r>
              <a:rPr lang="en-US" dirty="0"/>
              <a:t>Whole ISPs can be impacted!</a:t>
            </a:r>
          </a:p>
        </p:txBody>
      </p:sp>
      <p:pic>
        <p:nvPicPr>
          <p:cNvPr id="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37" y="2472206"/>
            <a:ext cx="851735" cy="851735"/>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3252" y="2047652"/>
            <a:ext cx="927338" cy="927338"/>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1235" y="2047652"/>
            <a:ext cx="927338" cy="927338"/>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2" descr="D:\Classes\CS 4700\assets\devil-ic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1235" y="3513882"/>
            <a:ext cx="1219200" cy="1219200"/>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Right Arrow 9"/>
          <p:cNvSpPr/>
          <p:nvPr/>
        </p:nvSpPr>
        <p:spPr>
          <a:xfrm rot="549842">
            <a:off x="1006843" y="2000873"/>
            <a:ext cx="2862967"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5030449" y="2285992"/>
            <a:ext cx="2829014"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0800000">
            <a:off x="5030449" y="2285992"/>
            <a:ext cx="2829014"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12184652">
            <a:off x="4865900" y="3184489"/>
            <a:ext cx="3106413" cy="457200"/>
          </a:xfrm>
          <a:prstGeom prs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15" name="Picture 2" descr="D:\Pictures\Server_icons_lnx\Icons\128X128\black_ser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35" y="1573035"/>
            <a:ext cx="851735" cy="851735"/>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TextBox 15"/>
          <p:cNvSpPr txBox="1"/>
          <p:nvPr/>
        </p:nvSpPr>
        <p:spPr>
          <a:xfrm>
            <a:off x="7217044" y="2962245"/>
            <a:ext cx="1994456" cy="400110"/>
          </a:xfrm>
          <a:prstGeom prst="rect">
            <a:avLst/>
          </a:prstGeom>
          <a:noFill/>
        </p:spPr>
        <p:txBody>
          <a:bodyPr wrap="none" rtlCol="0">
            <a:spAutoFit/>
          </a:bodyPr>
          <a:lstStyle/>
          <a:p>
            <a:pPr algn="ctr"/>
            <a:r>
              <a:rPr lang="en-US" sz="2000" dirty="0"/>
              <a:t>ns1.google.com</a:t>
            </a:r>
          </a:p>
        </p:txBody>
      </p:sp>
      <p:sp>
        <p:nvSpPr>
          <p:cNvPr id="17" name="TextBox 16"/>
          <p:cNvSpPr txBox="1"/>
          <p:nvPr/>
        </p:nvSpPr>
        <p:spPr>
          <a:xfrm>
            <a:off x="3639268" y="3012979"/>
            <a:ext cx="1595309" cy="400110"/>
          </a:xfrm>
          <a:prstGeom prst="rect">
            <a:avLst/>
          </a:prstGeom>
          <a:noFill/>
        </p:spPr>
        <p:txBody>
          <a:bodyPr wrap="none" rtlCol="0">
            <a:spAutoFit/>
          </a:bodyPr>
          <a:lstStyle/>
          <a:p>
            <a:pPr algn="ctr"/>
            <a:r>
              <a:rPr lang="en-US" sz="2000" dirty="0"/>
              <a:t>dns.neu.edu</a:t>
            </a:r>
          </a:p>
        </p:txBody>
      </p:sp>
      <p:sp>
        <p:nvSpPr>
          <p:cNvPr id="18" name="Right Arrow 17"/>
          <p:cNvSpPr/>
          <p:nvPr/>
        </p:nvSpPr>
        <p:spPr>
          <a:xfrm rot="11283476">
            <a:off x="980984" y="1982332"/>
            <a:ext cx="2829014"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p:cNvGrpSpPr/>
          <p:nvPr/>
        </p:nvGrpSpPr>
        <p:grpSpPr>
          <a:xfrm flipH="1">
            <a:off x="653108" y="344044"/>
            <a:ext cx="3320144" cy="1005472"/>
            <a:chOff x="1219201" y="4876799"/>
            <a:chExt cx="5211555" cy="1384995"/>
          </a:xfrm>
        </p:grpSpPr>
        <p:sp>
          <p:nvSpPr>
            <p:cNvPr id="20" name="Rectangular Callout 19"/>
            <p:cNvSpPr/>
            <p:nvPr/>
          </p:nvSpPr>
          <p:spPr>
            <a:xfrm>
              <a:off x="1249152" y="4876799"/>
              <a:ext cx="5181604" cy="1384995"/>
            </a:xfrm>
            <a:prstGeom prst="wedgeRectCallout">
              <a:avLst>
                <a:gd name="adj1" fmla="val 47297"/>
                <a:gd name="adj2" fmla="val 83782"/>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21" name="TextBox 20"/>
            <p:cNvSpPr txBox="1"/>
            <p:nvPr/>
          </p:nvSpPr>
          <p:spPr>
            <a:xfrm>
              <a:off x="1219201" y="4876799"/>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Where is www.google.com?</a:t>
              </a:r>
            </a:p>
          </p:txBody>
        </p:sp>
      </p:grpSp>
      <p:grpSp>
        <p:nvGrpSpPr>
          <p:cNvPr id="22" name="Group 21"/>
          <p:cNvGrpSpPr/>
          <p:nvPr/>
        </p:nvGrpSpPr>
        <p:grpSpPr>
          <a:xfrm flipH="1">
            <a:off x="5499928" y="760506"/>
            <a:ext cx="3320144" cy="1005472"/>
            <a:chOff x="1219201" y="4876799"/>
            <a:chExt cx="5211555" cy="1384995"/>
          </a:xfrm>
        </p:grpSpPr>
        <p:sp>
          <p:nvSpPr>
            <p:cNvPr id="23" name="Rectangular Callout 22"/>
            <p:cNvSpPr/>
            <p:nvPr/>
          </p:nvSpPr>
          <p:spPr>
            <a:xfrm>
              <a:off x="1249152" y="4876799"/>
              <a:ext cx="5181604" cy="1384995"/>
            </a:xfrm>
            <a:prstGeom prst="wedgeRectCallout">
              <a:avLst>
                <a:gd name="adj1" fmla="val -35804"/>
                <a:gd name="adj2" fmla="val 83782"/>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Tw Cen MT"/>
                <a:ea typeface="+mn-ea"/>
                <a:cs typeface="+mn-cs"/>
              </a:endParaRPr>
            </a:p>
          </p:txBody>
        </p:sp>
        <p:sp>
          <p:nvSpPr>
            <p:cNvPr id="24" name="TextBox 23"/>
            <p:cNvSpPr txBox="1"/>
            <p:nvPr/>
          </p:nvSpPr>
          <p:spPr>
            <a:xfrm>
              <a:off x="1219201" y="4876799"/>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www.google.com</a:t>
              </a:r>
              <a:r>
                <a:rPr lang="en-US" sz="2800" kern="0" dirty="0">
                  <a:solidFill>
                    <a:sysClr val="window" lastClr="FFFFFF"/>
                  </a:solidFill>
                </a:rPr>
                <a:t> = 74.125.131.26 </a:t>
              </a:r>
              <a:endParaRPr kumimoji="0" lang="en-US" sz="2800" b="0" i="0" u="none" strike="noStrike" kern="0" cap="none" spc="0" normalizeH="0" baseline="0" noProof="0" dirty="0">
                <a:ln>
                  <a:noFill/>
                </a:ln>
                <a:solidFill>
                  <a:sysClr val="window" lastClr="FFFFFF"/>
                </a:solidFill>
                <a:effectLst/>
                <a:uLnTx/>
                <a:uFillTx/>
              </a:endParaRPr>
            </a:p>
          </p:txBody>
        </p:sp>
      </p:grpSp>
      <p:grpSp>
        <p:nvGrpSpPr>
          <p:cNvPr id="25" name="Group 24"/>
          <p:cNvGrpSpPr/>
          <p:nvPr/>
        </p:nvGrpSpPr>
        <p:grpSpPr>
          <a:xfrm flipH="1">
            <a:off x="5556972" y="4893241"/>
            <a:ext cx="3320144" cy="1005473"/>
            <a:chOff x="1219201" y="4876798"/>
            <a:chExt cx="5211555" cy="1384996"/>
          </a:xfrm>
        </p:grpSpPr>
        <p:sp>
          <p:nvSpPr>
            <p:cNvPr id="26" name="Rectangular Callout 25"/>
            <p:cNvSpPr/>
            <p:nvPr/>
          </p:nvSpPr>
          <p:spPr>
            <a:xfrm>
              <a:off x="1249152" y="4876799"/>
              <a:ext cx="5181604" cy="1384995"/>
            </a:xfrm>
            <a:prstGeom prst="wedgeRectCallout">
              <a:avLst>
                <a:gd name="adj1" fmla="val -33166"/>
                <a:gd name="adj2" fmla="val -97020"/>
              </a:avLst>
            </a:prstGeom>
            <a:solidFill>
              <a:schemeClr val="accent2"/>
            </a:solidFill>
            <a:ln w="38100" cap="flat" cmpd="sng" algn="ctr">
              <a:solidFill>
                <a:schemeClr val="accent2">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Tw Cen MT"/>
                <a:ea typeface="+mn-ea"/>
                <a:cs typeface="+mn-cs"/>
              </a:endParaRPr>
            </a:p>
          </p:txBody>
        </p:sp>
        <p:sp>
          <p:nvSpPr>
            <p:cNvPr id="27" name="TextBox 26"/>
            <p:cNvSpPr txBox="1"/>
            <p:nvPr/>
          </p:nvSpPr>
          <p:spPr>
            <a:xfrm>
              <a:off x="1219201" y="4876798"/>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bankofamerica.com</a:t>
              </a:r>
              <a:r>
                <a:rPr lang="en-US" sz="2800" kern="0" dirty="0">
                  <a:solidFill>
                    <a:sysClr val="window" lastClr="FFFFFF"/>
                  </a:solidFill>
                </a:rPr>
                <a:t> = 66.66.66.92</a:t>
              </a:r>
              <a:endParaRPr kumimoji="0" lang="en-US" sz="2800" b="0" i="0" u="none" strike="noStrike" kern="0" cap="none" spc="0" normalizeH="0" baseline="0" noProof="0" dirty="0">
                <a:ln>
                  <a:noFill/>
                </a:ln>
                <a:solidFill>
                  <a:sysClr val="window" lastClr="FFFFFF"/>
                </a:solidFill>
                <a:effectLst/>
                <a:uLnTx/>
                <a:uFillTx/>
              </a:endParaRPr>
            </a:p>
          </p:txBody>
        </p:sp>
      </p:grpSp>
      <p:grpSp>
        <p:nvGrpSpPr>
          <p:cNvPr id="28" name="Group 27"/>
          <p:cNvGrpSpPr/>
          <p:nvPr/>
        </p:nvGrpSpPr>
        <p:grpSpPr>
          <a:xfrm flipH="1">
            <a:off x="1116776" y="846780"/>
            <a:ext cx="3783812" cy="1005472"/>
            <a:chOff x="1219201" y="4876799"/>
            <a:chExt cx="5211555" cy="1384995"/>
          </a:xfrm>
        </p:grpSpPr>
        <p:sp>
          <p:nvSpPr>
            <p:cNvPr id="29" name="Rectangular Callout 28"/>
            <p:cNvSpPr/>
            <p:nvPr/>
          </p:nvSpPr>
          <p:spPr>
            <a:xfrm>
              <a:off x="1249152" y="4876799"/>
              <a:ext cx="5181604" cy="1384995"/>
            </a:xfrm>
            <a:prstGeom prst="wedgeRectCallout">
              <a:avLst>
                <a:gd name="adj1" fmla="val 58839"/>
                <a:gd name="adj2" fmla="val 147658"/>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30" name="TextBox 29"/>
            <p:cNvSpPr txBox="1"/>
            <p:nvPr/>
          </p:nvSpPr>
          <p:spPr>
            <a:xfrm>
              <a:off x="1219201" y="4876799"/>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Where is bankofamerica.com?</a:t>
              </a:r>
            </a:p>
          </p:txBody>
        </p:sp>
      </p:grpSp>
      <p:sp>
        <p:nvSpPr>
          <p:cNvPr id="31" name="Right Arrow 30"/>
          <p:cNvSpPr/>
          <p:nvPr/>
        </p:nvSpPr>
        <p:spPr>
          <a:xfrm rot="21403608">
            <a:off x="1059349" y="2700042"/>
            <a:ext cx="2862967"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rot="10595456">
            <a:off x="999722" y="2704885"/>
            <a:ext cx="2912975" cy="457200"/>
          </a:xfrm>
          <a:prstGeom prst="right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325645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anim calcmode="lin" valueType="num">
                                      <p:cBhvr>
                                        <p:cTn id="8" dur="500" fill="hold"/>
                                        <p:tgtEl>
                                          <p:spTgt spid="19"/>
                                        </p:tgtEl>
                                        <p:attrNameLst>
                                          <p:attrName>ppt_x</p:attrName>
                                        </p:attrNameLst>
                                      </p:cBhvr>
                                      <p:tavLst>
                                        <p:tav tm="0">
                                          <p:val>
                                            <p:strVal val="#ppt_x"/>
                                          </p:val>
                                        </p:tav>
                                        <p:tav tm="100000">
                                          <p:val>
                                            <p:strVal val="#ppt_x"/>
                                          </p:val>
                                        </p:tav>
                                      </p:tavLst>
                                    </p:anim>
                                    <p:anim calcmode="lin" valueType="num">
                                      <p:cBhvr>
                                        <p:cTn id="9" dur="5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11"/>
                                        </p:tgtEl>
                                      </p:cBhvr>
                                    </p:animEffect>
                                    <p:set>
                                      <p:cBhvr>
                                        <p:cTn id="25" dur="1" fill="hold">
                                          <p:stCondLst>
                                            <p:cond delay="499"/>
                                          </p:stCondLst>
                                        </p:cTn>
                                        <p:tgtEl>
                                          <p:spTgt spid="11"/>
                                        </p:tgtEl>
                                        <p:attrNameLst>
                                          <p:attrName>style.visibility</p:attrName>
                                        </p:attrNameLst>
                                      </p:cBhvr>
                                      <p:to>
                                        <p:strVal val="hidden"/>
                                      </p:to>
                                    </p:set>
                                  </p:childTnLst>
                                </p:cTn>
                              </p:par>
                              <p:par>
                                <p:cTn id="26" presetID="42" presetClass="exit" presetSubtype="0" fill="hold" nodeType="withEffect">
                                  <p:stCondLst>
                                    <p:cond delay="0"/>
                                  </p:stCondLst>
                                  <p:childTnLst>
                                    <p:animEffect transition="out" filter="fade">
                                      <p:cBhvr>
                                        <p:cTn id="27" dur="500"/>
                                        <p:tgtEl>
                                          <p:spTgt spid="19"/>
                                        </p:tgtEl>
                                      </p:cBhvr>
                                    </p:animEffect>
                                    <p:anim calcmode="lin" valueType="num">
                                      <p:cBhvr>
                                        <p:cTn id="28" dur="500"/>
                                        <p:tgtEl>
                                          <p:spTgt spid="19"/>
                                        </p:tgtEl>
                                        <p:attrNameLst>
                                          <p:attrName>ppt_x</p:attrName>
                                        </p:attrNameLst>
                                      </p:cBhvr>
                                      <p:tavLst>
                                        <p:tav tm="0">
                                          <p:val>
                                            <p:strVal val="ppt_x"/>
                                          </p:val>
                                        </p:tav>
                                        <p:tav tm="100000">
                                          <p:val>
                                            <p:strVal val="ppt_x"/>
                                          </p:val>
                                        </p:tav>
                                      </p:tavLst>
                                    </p:anim>
                                    <p:anim calcmode="lin" valueType="num">
                                      <p:cBhvr>
                                        <p:cTn id="29" dur="500"/>
                                        <p:tgtEl>
                                          <p:spTgt spid="19"/>
                                        </p:tgtEl>
                                        <p:attrNameLst>
                                          <p:attrName>ppt_y</p:attrName>
                                        </p:attrNameLst>
                                      </p:cBhvr>
                                      <p:tavLst>
                                        <p:tav tm="0">
                                          <p:val>
                                            <p:strVal val="ppt_y"/>
                                          </p:val>
                                        </p:tav>
                                        <p:tav tm="100000">
                                          <p:val>
                                            <p:strVal val="ppt_y+.1"/>
                                          </p:val>
                                        </p:tav>
                                      </p:tavLst>
                                    </p:anim>
                                    <p:set>
                                      <p:cBhvr>
                                        <p:cTn id="30" dur="1" fill="hold">
                                          <p:stCondLst>
                                            <p:cond delay="499"/>
                                          </p:stCondLst>
                                        </p:cTn>
                                        <p:tgtEl>
                                          <p:spTgt spid="19"/>
                                        </p:tgtEl>
                                        <p:attrNameLst>
                                          <p:attrName>style.visibility</p:attrName>
                                        </p:attrNameLst>
                                      </p:cBhvr>
                                      <p:to>
                                        <p:strVal val="hidden"/>
                                      </p:to>
                                    </p:set>
                                  </p:childTnLst>
                                </p:cTn>
                              </p:par>
                            </p:childTnLst>
                          </p:cTn>
                        </p:par>
                        <p:par>
                          <p:cTn id="31" fill="hold">
                            <p:stCondLst>
                              <p:cond delay="500"/>
                            </p:stCondLst>
                            <p:childTnLst>
                              <p:par>
                                <p:cTn id="32" presetID="42" presetClass="entr" presetSubtype="0" fill="hold"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anim calcmode="lin" valueType="num">
                                      <p:cBhvr>
                                        <p:cTn id="35" dur="500" fill="hold"/>
                                        <p:tgtEl>
                                          <p:spTgt spid="22"/>
                                        </p:tgtEl>
                                        <p:attrNameLst>
                                          <p:attrName>ppt_x</p:attrName>
                                        </p:attrNameLst>
                                      </p:cBhvr>
                                      <p:tavLst>
                                        <p:tav tm="0">
                                          <p:val>
                                            <p:strVal val="#ppt_x"/>
                                          </p:val>
                                        </p:tav>
                                        <p:tav tm="100000">
                                          <p:val>
                                            <p:strVal val="#ppt_x"/>
                                          </p:val>
                                        </p:tav>
                                      </p:tavLst>
                                    </p:anim>
                                    <p:anim calcmode="lin" valueType="num">
                                      <p:cBhvr>
                                        <p:cTn id="36" dur="500" fill="hold"/>
                                        <p:tgtEl>
                                          <p:spTgt spid="22"/>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22" presetClass="entr" presetSubtype="2"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right)">
                                      <p:cBhvr>
                                        <p:cTn id="40" dur="500"/>
                                        <p:tgtEl>
                                          <p:spTgt spid="12"/>
                                        </p:tgtEl>
                                      </p:cBhvr>
                                    </p:animEffect>
                                  </p:childTnLst>
                                </p:cTn>
                              </p:par>
                            </p:childTnLst>
                          </p:cTn>
                        </p:par>
                        <p:par>
                          <p:cTn id="41" fill="hold">
                            <p:stCondLst>
                              <p:cond delay="1500"/>
                            </p:stCondLst>
                            <p:childTnLst>
                              <p:par>
                                <p:cTn id="42" presetID="22" presetClass="entr" presetSubtype="2"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right)">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anim calcmode="lin" valueType="num">
                                      <p:cBhvr>
                                        <p:cTn id="50" dur="500" fill="hold"/>
                                        <p:tgtEl>
                                          <p:spTgt spid="25"/>
                                        </p:tgtEl>
                                        <p:attrNameLst>
                                          <p:attrName>ppt_x</p:attrName>
                                        </p:attrNameLst>
                                      </p:cBhvr>
                                      <p:tavLst>
                                        <p:tav tm="0">
                                          <p:val>
                                            <p:strVal val="#ppt_x"/>
                                          </p:val>
                                        </p:tav>
                                        <p:tav tm="100000">
                                          <p:val>
                                            <p:strVal val="#ppt_x"/>
                                          </p:val>
                                        </p:tav>
                                      </p:tavLst>
                                    </p:anim>
                                    <p:anim calcmode="lin" valueType="num">
                                      <p:cBhvr>
                                        <p:cTn id="51" dur="500" fill="hold"/>
                                        <p:tgtEl>
                                          <p:spTgt spid="25"/>
                                        </p:tgtEl>
                                        <p:attrNameLst>
                                          <p:attrName>ppt_y</p:attrName>
                                        </p:attrNameLst>
                                      </p:cBhvr>
                                      <p:tavLst>
                                        <p:tav tm="0">
                                          <p:val>
                                            <p:strVal val="#ppt_y+.1"/>
                                          </p:val>
                                        </p:tav>
                                        <p:tav tm="100000">
                                          <p:val>
                                            <p:strVal val="#ppt_y"/>
                                          </p:val>
                                        </p:tav>
                                      </p:tavLst>
                                    </p:anim>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1" nodeType="clickEffect">
                                  <p:stCondLst>
                                    <p:cond delay="0"/>
                                  </p:stCondLst>
                                  <p:childTnLst>
                                    <p:animEffect transition="out" filter="fade">
                                      <p:cBhvr>
                                        <p:cTn id="59" dur="500"/>
                                        <p:tgtEl>
                                          <p:spTgt spid="12"/>
                                        </p:tgtEl>
                                      </p:cBhvr>
                                    </p:animEffect>
                                    <p:set>
                                      <p:cBhvr>
                                        <p:cTn id="60" dur="1" fill="hold">
                                          <p:stCondLst>
                                            <p:cond delay="499"/>
                                          </p:stCondLst>
                                        </p:cTn>
                                        <p:tgtEl>
                                          <p:spTgt spid="12"/>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18"/>
                                        </p:tgtEl>
                                      </p:cBhvr>
                                    </p:animEffect>
                                    <p:set>
                                      <p:cBhvr>
                                        <p:cTn id="63" dur="1" fill="hold">
                                          <p:stCondLst>
                                            <p:cond delay="499"/>
                                          </p:stCondLst>
                                        </p:cTn>
                                        <p:tgtEl>
                                          <p:spTgt spid="18"/>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13"/>
                                        </p:tgtEl>
                                      </p:cBhvr>
                                    </p:animEffect>
                                    <p:set>
                                      <p:cBhvr>
                                        <p:cTn id="66" dur="1" fill="hold">
                                          <p:stCondLst>
                                            <p:cond delay="499"/>
                                          </p:stCondLst>
                                        </p:cTn>
                                        <p:tgtEl>
                                          <p:spTgt spid="13"/>
                                        </p:tgtEl>
                                        <p:attrNameLst>
                                          <p:attrName>style.visibility</p:attrName>
                                        </p:attrNameLst>
                                      </p:cBhvr>
                                      <p:to>
                                        <p:strVal val="hidden"/>
                                      </p:to>
                                    </p:set>
                                  </p:childTnLst>
                                </p:cTn>
                              </p:par>
                              <p:par>
                                <p:cTn id="67" presetID="42" presetClass="exit" presetSubtype="0" fill="hold" nodeType="withEffect">
                                  <p:stCondLst>
                                    <p:cond delay="0"/>
                                  </p:stCondLst>
                                  <p:childTnLst>
                                    <p:animEffect transition="out" filter="fade">
                                      <p:cBhvr>
                                        <p:cTn id="68" dur="500"/>
                                        <p:tgtEl>
                                          <p:spTgt spid="22"/>
                                        </p:tgtEl>
                                      </p:cBhvr>
                                    </p:animEffect>
                                    <p:anim calcmode="lin" valueType="num">
                                      <p:cBhvr>
                                        <p:cTn id="69" dur="500"/>
                                        <p:tgtEl>
                                          <p:spTgt spid="22"/>
                                        </p:tgtEl>
                                        <p:attrNameLst>
                                          <p:attrName>ppt_x</p:attrName>
                                        </p:attrNameLst>
                                      </p:cBhvr>
                                      <p:tavLst>
                                        <p:tav tm="0">
                                          <p:val>
                                            <p:strVal val="ppt_x"/>
                                          </p:val>
                                        </p:tav>
                                        <p:tav tm="100000">
                                          <p:val>
                                            <p:strVal val="ppt_x"/>
                                          </p:val>
                                        </p:tav>
                                      </p:tavLst>
                                    </p:anim>
                                    <p:anim calcmode="lin" valueType="num">
                                      <p:cBhvr>
                                        <p:cTn id="70" dur="500"/>
                                        <p:tgtEl>
                                          <p:spTgt spid="22"/>
                                        </p:tgtEl>
                                        <p:attrNameLst>
                                          <p:attrName>ppt_y</p:attrName>
                                        </p:attrNameLst>
                                      </p:cBhvr>
                                      <p:tavLst>
                                        <p:tav tm="0">
                                          <p:val>
                                            <p:strVal val="ppt_y"/>
                                          </p:val>
                                        </p:tav>
                                        <p:tav tm="100000">
                                          <p:val>
                                            <p:strVal val="ppt_y+.1"/>
                                          </p:val>
                                        </p:tav>
                                      </p:tavLst>
                                    </p:anim>
                                    <p:set>
                                      <p:cBhvr>
                                        <p:cTn id="71" dur="1" fill="hold">
                                          <p:stCondLst>
                                            <p:cond delay="499"/>
                                          </p:stCondLst>
                                        </p:cTn>
                                        <p:tgtEl>
                                          <p:spTgt spid="22"/>
                                        </p:tgtEl>
                                        <p:attrNameLst>
                                          <p:attrName>style.visibility</p:attrName>
                                        </p:attrNameLst>
                                      </p:cBhvr>
                                      <p:to>
                                        <p:strVal val="hidden"/>
                                      </p:to>
                                    </p:set>
                                  </p:childTnLst>
                                </p:cTn>
                              </p:par>
                              <p:par>
                                <p:cTn id="72" presetID="42" presetClass="exit" presetSubtype="0" fill="hold" nodeType="withEffect">
                                  <p:stCondLst>
                                    <p:cond delay="0"/>
                                  </p:stCondLst>
                                  <p:childTnLst>
                                    <p:animEffect transition="out" filter="fade">
                                      <p:cBhvr>
                                        <p:cTn id="73" dur="500"/>
                                        <p:tgtEl>
                                          <p:spTgt spid="25"/>
                                        </p:tgtEl>
                                      </p:cBhvr>
                                    </p:animEffect>
                                    <p:anim calcmode="lin" valueType="num">
                                      <p:cBhvr>
                                        <p:cTn id="74" dur="500"/>
                                        <p:tgtEl>
                                          <p:spTgt spid="25"/>
                                        </p:tgtEl>
                                        <p:attrNameLst>
                                          <p:attrName>ppt_x</p:attrName>
                                        </p:attrNameLst>
                                      </p:cBhvr>
                                      <p:tavLst>
                                        <p:tav tm="0">
                                          <p:val>
                                            <p:strVal val="ppt_x"/>
                                          </p:val>
                                        </p:tav>
                                        <p:tav tm="100000">
                                          <p:val>
                                            <p:strVal val="ppt_x"/>
                                          </p:val>
                                        </p:tav>
                                      </p:tavLst>
                                    </p:anim>
                                    <p:anim calcmode="lin" valueType="num">
                                      <p:cBhvr>
                                        <p:cTn id="75" dur="500"/>
                                        <p:tgtEl>
                                          <p:spTgt spid="25"/>
                                        </p:tgtEl>
                                        <p:attrNameLst>
                                          <p:attrName>ppt_y</p:attrName>
                                        </p:attrNameLst>
                                      </p:cBhvr>
                                      <p:tavLst>
                                        <p:tav tm="0">
                                          <p:val>
                                            <p:strVal val="ppt_y"/>
                                          </p:val>
                                        </p:tav>
                                        <p:tav tm="100000">
                                          <p:val>
                                            <p:strVal val="ppt_y+.1"/>
                                          </p:val>
                                        </p:tav>
                                      </p:tavLst>
                                    </p:anim>
                                    <p:set>
                                      <p:cBhvr>
                                        <p:cTn id="76" dur="1" fill="hold">
                                          <p:stCondLst>
                                            <p:cond delay="499"/>
                                          </p:stCondLst>
                                        </p:cTn>
                                        <p:tgtEl>
                                          <p:spTgt spid="25"/>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anim calcmode="lin" valueType="num">
                                      <p:cBhvr>
                                        <p:cTn id="82" dur="500" fill="hold"/>
                                        <p:tgtEl>
                                          <p:spTgt spid="28"/>
                                        </p:tgtEl>
                                        <p:attrNameLst>
                                          <p:attrName>ppt_x</p:attrName>
                                        </p:attrNameLst>
                                      </p:cBhvr>
                                      <p:tavLst>
                                        <p:tav tm="0">
                                          <p:val>
                                            <p:strVal val="#ppt_x"/>
                                          </p:val>
                                        </p:tav>
                                        <p:tav tm="100000">
                                          <p:val>
                                            <p:strVal val="#ppt_x"/>
                                          </p:val>
                                        </p:tav>
                                      </p:tavLst>
                                    </p:anim>
                                    <p:anim calcmode="lin" valueType="num">
                                      <p:cBhvr>
                                        <p:cTn id="83" dur="500" fill="hold"/>
                                        <p:tgtEl>
                                          <p:spTgt spid="28"/>
                                        </p:tgtEl>
                                        <p:attrNameLst>
                                          <p:attrName>ppt_y</p:attrName>
                                        </p:attrNameLst>
                                      </p:cBhvr>
                                      <p:tavLst>
                                        <p:tav tm="0">
                                          <p:val>
                                            <p:strVal val="#ppt_y+.1"/>
                                          </p:val>
                                        </p:tav>
                                        <p:tav tm="100000">
                                          <p:val>
                                            <p:strVal val="#ppt_y"/>
                                          </p:val>
                                        </p:tav>
                                      </p:tavLst>
                                    </p:anim>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left)">
                                      <p:cBhvr>
                                        <p:cTn id="87" dur="500"/>
                                        <p:tgtEl>
                                          <p:spTgt spid="31"/>
                                        </p:tgtEl>
                                      </p:cBhvr>
                                    </p:animEffect>
                                  </p:childTnLst>
                                </p:cTn>
                              </p:par>
                            </p:childTnLst>
                          </p:cTn>
                        </p:par>
                        <p:par>
                          <p:cTn id="88" fill="hold">
                            <p:stCondLst>
                              <p:cond delay="1000"/>
                            </p:stCondLst>
                            <p:childTnLst>
                              <p:par>
                                <p:cTn id="89" presetID="22" presetClass="exit" presetSubtype="8" fill="hold" grpId="1" nodeType="afterEffect">
                                  <p:stCondLst>
                                    <p:cond delay="0"/>
                                  </p:stCondLst>
                                  <p:childTnLst>
                                    <p:animEffect transition="out" filter="wipe(left)">
                                      <p:cBhvr>
                                        <p:cTn id="90" dur="500"/>
                                        <p:tgtEl>
                                          <p:spTgt spid="31"/>
                                        </p:tgtEl>
                                      </p:cBhvr>
                                    </p:animEffect>
                                    <p:set>
                                      <p:cBhvr>
                                        <p:cTn id="91" dur="1" fill="hold">
                                          <p:stCondLst>
                                            <p:cond delay="499"/>
                                          </p:stCondLst>
                                        </p:cTn>
                                        <p:tgtEl>
                                          <p:spTgt spid="31"/>
                                        </p:tgtEl>
                                        <p:attrNameLst>
                                          <p:attrName>style.visibility</p:attrName>
                                        </p:attrNameLst>
                                      </p:cBhvr>
                                      <p:to>
                                        <p:strVal val="hidden"/>
                                      </p:to>
                                    </p:set>
                                  </p:childTnLst>
                                </p:cTn>
                              </p:par>
                            </p:childTnLst>
                          </p:cTn>
                        </p:par>
                        <p:par>
                          <p:cTn id="92" fill="hold">
                            <p:stCondLst>
                              <p:cond delay="1500"/>
                            </p:stCondLst>
                            <p:childTnLst>
                              <p:par>
                                <p:cTn id="93" presetID="22" presetClass="entr" presetSubtype="2" fill="hold" grpId="0" nodeType="after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wipe(right)">
                                      <p:cBhvr>
                                        <p:cTn id="95" dur="500"/>
                                        <p:tgtEl>
                                          <p:spTgt spid="32"/>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exit" presetSubtype="0" fill="hold" nodeType="clickEffect">
                                  <p:stCondLst>
                                    <p:cond delay="0"/>
                                  </p:stCondLst>
                                  <p:childTnLst>
                                    <p:animEffect transition="out" filter="fade">
                                      <p:cBhvr>
                                        <p:cTn id="99" dur="500"/>
                                        <p:tgtEl>
                                          <p:spTgt spid="28"/>
                                        </p:tgtEl>
                                      </p:cBhvr>
                                    </p:animEffect>
                                    <p:anim calcmode="lin" valueType="num">
                                      <p:cBhvr>
                                        <p:cTn id="100" dur="500"/>
                                        <p:tgtEl>
                                          <p:spTgt spid="28"/>
                                        </p:tgtEl>
                                        <p:attrNameLst>
                                          <p:attrName>ppt_x</p:attrName>
                                        </p:attrNameLst>
                                      </p:cBhvr>
                                      <p:tavLst>
                                        <p:tav tm="0">
                                          <p:val>
                                            <p:strVal val="ppt_x"/>
                                          </p:val>
                                        </p:tav>
                                        <p:tav tm="100000">
                                          <p:val>
                                            <p:strVal val="ppt_x"/>
                                          </p:val>
                                        </p:tav>
                                      </p:tavLst>
                                    </p:anim>
                                    <p:anim calcmode="lin" valueType="num">
                                      <p:cBhvr>
                                        <p:cTn id="101" dur="500"/>
                                        <p:tgtEl>
                                          <p:spTgt spid="28"/>
                                        </p:tgtEl>
                                        <p:attrNameLst>
                                          <p:attrName>ppt_y</p:attrName>
                                        </p:attrNameLst>
                                      </p:cBhvr>
                                      <p:tavLst>
                                        <p:tav tm="0">
                                          <p:val>
                                            <p:strVal val="ppt_y"/>
                                          </p:val>
                                        </p:tav>
                                        <p:tav tm="100000">
                                          <p:val>
                                            <p:strVal val="ppt_y+.1"/>
                                          </p:val>
                                        </p:tav>
                                      </p:tavLst>
                                    </p:anim>
                                    <p:set>
                                      <p:cBhvr>
                                        <p:cTn id="102" dur="1" fill="hold">
                                          <p:stCondLst>
                                            <p:cond delay="499"/>
                                          </p:stCondLst>
                                        </p:cTn>
                                        <p:tgtEl>
                                          <p:spTgt spid="28"/>
                                        </p:tgtEl>
                                        <p:attrNameLst>
                                          <p:attrName>style.visibility</p:attrName>
                                        </p:attrNameLst>
                                      </p:cBhvr>
                                      <p:to>
                                        <p:strVal val="hidden"/>
                                      </p:to>
                                    </p:set>
                                  </p:childTnLst>
                                </p:cTn>
                              </p:par>
                              <p:par>
                                <p:cTn id="103" presetID="10" presetClass="exit" presetSubtype="0" fill="hold" grpId="1" nodeType="withEffect">
                                  <p:stCondLst>
                                    <p:cond delay="0"/>
                                  </p:stCondLst>
                                  <p:childTnLst>
                                    <p:animEffect transition="out" filter="fade">
                                      <p:cBhvr>
                                        <p:cTn id="104" dur="500"/>
                                        <p:tgtEl>
                                          <p:spTgt spid="32"/>
                                        </p:tgtEl>
                                      </p:cBhvr>
                                    </p:animEffect>
                                    <p:set>
                                      <p:cBhvr>
                                        <p:cTn id="105" dur="1" fill="hold">
                                          <p:stCondLst>
                                            <p:cond delay="499"/>
                                          </p:stCondLst>
                                        </p:cTn>
                                        <p:tgtEl>
                                          <p:spTgt spid="32"/>
                                        </p:tgtEl>
                                        <p:attrNameLst>
                                          <p:attrName>style.visibility</p:attrName>
                                        </p:attrNameLst>
                                      </p:cBhvr>
                                      <p:to>
                                        <p:strVal val="hidden"/>
                                      </p:to>
                                    </p:set>
                                  </p:childTnLst>
                                </p:cTn>
                              </p:par>
                            </p:childTnLst>
                          </p:cTn>
                        </p:par>
                        <p:par>
                          <p:cTn id="106" fill="hold">
                            <p:stCondLst>
                              <p:cond delay="500"/>
                            </p:stCondLst>
                            <p:childTnLst>
                              <p:par>
                                <p:cTn id="107" presetID="42" presetClass="entr" presetSubtype="0" fill="hold" grpId="0" nodeType="afterEffect">
                                  <p:stCondLst>
                                    <p:cond delay="0"/>
                                  </p:stCondLst>
                                  <p:childTnLst>
                                    <p:set>
                                      <p:cBhvr>
                                        <p:cTn id="108" dur="1" fill="hold">
                                          <p:stCondLst>
                                            <p:cond delay="0"/>
                                          </p:stCondLst>
                                        </p:cTn>
                                        <p:tgtEl>
                                          <p:spTgt spid="4">
                                            <p:txEl>
                                              <p:pRg st="0" end="0"/>
                                            </p:txEl>
                                          </p:spTgt>
                                        </p:tgtEl>
                                        <p:attrNameLst>
                                          <p:attrName>style.visibility</p:attrName>
                                        </p:attrNameLst>
                                      </p:cBhvr>
                                      <p:to>
                                        <p:strVal val="visible"/>
                                      </p:to>
                                    </p:set>
                                    <p:animEffect transition="in" filter="fade">
                                      <p:cBhvr>
                                        <p:cTn id="109" dur="500"/>
                                        <p:tgtEl>
                                          <p:spTgt spid="4">
                                            <p:txEl>
                                              <p:pRg st="0" end="0"/>
                                            </p:txEl>
                                          </p:spTgt>
                                        </p:tgtEl>
                                      </p:cBhvr>
                                    </p:animEffect>
                                    <p:anim calcmode="lin" valueType="num">
                                      <p:cBhvr>
                                        <p:cTn id="110"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11" dur="500" fill="hold"/>
                                        <p:tgtEl>
                                          <p:spTgt spid="4">
                                            <p:txEl>
                                              <p:pRg st="0" end="0"/>
                                            </p:txEl>
                                          </p:spTgt>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4">
                                            <p:txEl>
                                              <p:pRg st="1" end="1"/>
                                            </p:txEl>
                                          </p:spTgt>
                                        </p:tgtEl>
                                        <p:attrNameLst>
                                          <p:attrName>style.visibility</p:attrName>
                                        </p:attrNameLst>
                                      </p:cBhvr>
                                      <p:to>
                                        <p:strVal val="visible"/>
                                      </p:to>
                                    </p:set>
                                    <p:animEffect transition="in" filter="fade">
                                      <p:cBhvr>
                                        <p:cTn id="114" dur="500"/>
                                        <p:tgtEl>
                                          <p:spTgt spid="4">
                                            <p:txEl>
                                              <p:pRg st="1" end="1"/>
                                            </p:txEl>
                                          </p:spTgt>
                                        </p:tgtEl>
                                      </p:cBhvr>
                                    </p:animEffect>
                                    <p:anim calcmode="lin" valueType="num">
                                      <p:cBhvr>
                                        <p:cTn id="11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16" dur="500" fill="hold"/>
                                        <p:tgtEl>
                                          <p:spTgt spid="4">
                                            <p:txEl>
                                              <p:pRg st="1" end="1"/>
                                            </p:txEl>
                                          </p:spTgt>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4">
                                            <p:txEl>
                                              <p:pRg st="2" end="2"/>
                                            </p:txEl>
                                          </p:spTgt>
                                        </p:tgtEl>
                                        <p:attrNameLst>
                                          <p:attrName>style.visibility</p:attrName>
                                        </p:attrNameLst>
                                      </p:cBhvr>
                                      <p:to>
                                        <p:strVal val="visible"/>
                                      </p:to>
                                    </p:set>
                                    <p:animEffect transition="in" filter="fade">
                                      <p:cBhvr>
                                        <p:cTn id="119" dur="500"/>
                                        <p:tgtEl>
                                          <p:spTgt spid="4">
                                            <p:txEl>
                                              <p:pRg st="2" end="2"/>
                                            </p:txEl>
                                          </p:spTgt>
                                        </p:tgtEl>
                                      </p:cBhvr>
                                    </p:animEffect>
                                    <p:anim calcmode="lin" valueType="num">
                                      <p:cBhvr>
                                        <p:cTn id="120"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21"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0" grpId="0" animBg="1"/>
      <p:bldP spid="10" grpId="1" animBg="1"/>
      <p:bldP spid="11" grpId="0" animBg="1"/>
      <p:bldP spid="11" grpId="1" animBg="1"/>
      <p:bldP spid="12" grpId="0" animBg="1"/>
      <p:bldP spid="12" grpId="1" animBg="1"/>
      <p:bldP spid="13" grpId="0" animBg="1"/>
      <p:bldP spid="13" grpId="1" animBg="1"/>
      <p:bldP spid="18" grpId="0" animBg="1"/>
      <p:bldP spid="18" grpId="1" animBg="1"/>
      <p:bldP spid="31" grpId="0" animBg="1"/>
      <p:bldP spid="31" grpId="1" animBg="1"/>
      <p:bldP spid="32" grpId="0" animBg="1"/>
      <p:bldP spid="32"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DNSSEC</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33</a:t>
            </a:fld>
            <a:endParaRPr lang="en-US" dirty="0"/>
          </a:p>
        </p:txBody>
      </p:sp>
      <p:sp>
        <p:nvSpPr>
          <p:cNvPr id="4" name="Content Placeholder 3"/>
          <p:cNvSpPr>
            <a:spLocks noGrp="1"/>
          </p:cNvSpPr>
          <p:nvPr>
            <p:ph sz="quarter" idx="1"/>
          </p:nvPr>
        </p:nvSpPr>
        <p:spPr>
          <a:xfrm>
            <a:off x="152400" y="1600200"/>
            <a:ext cx="8839200" cy="5257800"/>
          </a:xfrm>
        </p:spPr>
        <p:txBody>
          <a:bodyPr>
            <a:normAutofit fontScale="92500" lnSpcReduction="10000"/>
          </a:bodyPr>
          <a:lstStyle/>
          <a:p>
            <a:r>
              <a:rPr lang="en-US" dirty="0"/>
              <a:t>Cryptographically sign critical resource records</a:t>
            </a:r>
          </a:p>
          <a:p>
            <a:pPr lvl="1"/>
            <a:r>
              <a:rPr lang="en-US" dirty="0"/>
              <a:t>Resolver can verify the cryptographic signature</a:t>
            </a:r>
          </a:p>
          <a:p>
            <a:r>
              <a:rPr lang="en-US" dirty="0"/>
              <a:t>Two new resource </a:t>
            </a:r>
            <a:r>
              <a:rPr lang="en-US" dirty="0">
                <a:solidFill>
                  <a:schemeClr val="accent1"/>
                </a:solidFill>
              </a:rPr>
              <a:t>types</a:t>
            </a:r>
          </a:p>
          <a:p>
            <a:pPr lvl="1"/>
            <a:r>
              <a:rPr lang="en-US" dirty="0"/>
              <a:t>Type = DNSKEY</a:t>
            </a:r>
          </a:p>
          <a:p>
            <a:pPr lvl="2"/>
            <a:r>
              <a:rPr lang="en-US" dirty="0"/>
              <a:t>Name = Zone domain name</a:t>
            </a:r>
          </a:p>
          <a:p>
            <a:pPr lvl="2"/>
            <a:r>
              <a:rPr lang="en-US" dirty="0"/>
              <a:t>Value = Public key for the zone</a:t>
            </a:r>
          </a:p>
          <a:p>
            <a:pPr lvl="1"/>
            <a:r>
              <a:rPr lang="en-US" dirty="0"/>
              <a:t>Type = RRSIG</a:t>
            </a:r>
          </a:p>
          <a:p>
            <a:pPr lvl="2"/>
            <a:r>
              <a:rPr lang="en-US" dirty="0"/>
              <a:t>Name = (type, name) tuple, i.e. the query itself</a:t>
            </a:r>
          </a:p>
          <a:p>
            <a:pPr lvl="2"/>
            <a:r>
              <a:rPr lang="en-US" dirty="0"/>
              <a:t>Value = Cryptographic signature of the query results</a:t>
            </a:r>
          </a:p>
          <a:p>
            <a:r>
              <a:rPr lang="en-US" dirty="0"/>
              <a:t>Deployment</a:t>
            </a:r>
          </a:p>
          <a:p>
            <a:pPr lvl="1"/>
            <a:r>
              <a:rPr lang="en-US" dirty="0"/>
              <a:t>On the roots since July 2010</a:t>
            </a:r>
          </a:p>
          <a:p>
            <a:pPr lvl="1"/>
            <a:r>
              <a:rPr lang="en-US" dirty="0" err="1"/>
              <a:t>Verisign</a:t>
            </a:r>
            <a:r>
              <a:rPr lang="en-US" dirty="0"/>
              <a:t> enabled it on .com and </a:t>
            </a:r>
            <a:r>
              <a:rPr lang="en-US" dirty="0" err="1"/>
              <a:t>.net</a:t>
            </a:r>
            <a:r>
              <a:rPr lang="en-US" dirty="0"/>
              <a:t> in January 2011</a:t>
            </a:r>
          </a:p>
          <a:p>
            <a:pPr lvl="1"/>
            <a:r>
              <a:rPr lang="en-US" dirty="0"/>
              <a:t>Comcast is the first major ISP to support it (January 2012)</a:t>
            </a:r>
          </a:p>
        </p:txBody>
      </p:sp>
      <p:grpSp>
        <p:nvGrpSpPr>
          <p:cNvPr id="5" name="Group 4"/>
          <p:cNvGrpSpPr/>
          <p:nvPr/>
        </p:nvGrpSpPr>
        <p:grpSpPr>
          <a:xfrm flipH="1">
            <a:off x="5606143" y="3034808"/>
            <a:ext cx="3331028" cy="1005472"/>
            <a:chOff x="1219200" y="4876799"/>
            <a:chExt cx="5181605" cy="1384995"/>
          </a:xfrm>
        </p:grpSpPr>
        <p:sp>
          <p:nvSpPr>
            <p:cNvPr id="6" name="Rectangular Callout 5"/>
            <p:cNvSpPr/>
            <p:nvPr/>
          </p:nvSpPr>
          <p:spPr>
            <a:xfrm>
              <a:off x="1219200" y="4876799"/>
              <a:ext cx="5181603" cy="1384995"/>
            </a:xfrm>
            <a:prstGeom prst="wedgeRectCallout">
              <a:avLst>
                <a:gd name="adj1" fmla="val 32846"/>
                <a:gd name="adj2" fmla="val 87030"/>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7" name="TextBox 6"/>
            <p:cNvSpPr txBox="1"/>
            <p:nvPr/>
          </p:nvSpPr>
          <p:spPr>
            <a:xfrm>
              <a:off x="1219202" y="4876799"/>
              <a:ext cx="5181603"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Prevents hijacking and spoofing</a:t>
              </a:r>
            </a:p>
          </p:txBody>
        </p:sp>
      </p:grpSp>
      <p:grpSp>
        <p:nvGrpSpPr>
          <p:cNvPr id="8" name="Group 7"/>
          <p:cNvGrpSpPr/>
          <p:nvPr/>
        </p:nvGrpSpPr>
        <p:grpSpPr>
          <a:xfrm flipH="1">
            <a:off x="4767942" y="2532072"/>
            <a:ext cx="3788226" cy="1005472"/>
            <a:chOff x="1219201" y="4876799"/>
            <a:chExt cx="5211555" cy="1384995"/>
          </a:xfrm>
        </p:grpSpPr>
        <p:sp>
          <p:nvSpPr>
            <p:cNvPr id="9" name="Rectangular Callout 8"/>
            <p:cNvSpPr/>
            <p:nvPr/>
          </p:nvSpPr>
          <p:spPr>
            <a:xfrm>
              <a:off x="1249152" y="4876799"/>
              <a:ext cx="5181604" cy="1384995"/>
            </a:xfrm>
            <a:prstGeom prst="wedgeRectCallout">
              <a:avLst>
                <a:gd name="adj1" fmla="val 47297"/>
                <a:gd name="adj2" fmla="val 83782"/>
              </a:avLst>
            </a:prstGeom>
            <a:solidFill>
              <a:srgbClr val="DA1F28"/>
            </a:solidFill>
            <a:ln w="38100" cap="flat" cmpd="sng" algn="ctr">
              <a:solidFill>
                <a:srgbClr val="DA1F28">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10" name="TextBox 9"/>
            <p:cNvSpPr txBox="1"/>
            <p:nvPr/>
          </p:nvSpPr>
          <p:spPr>
            <a:xfrm>
              <a:off x="1219201" y="4876799"/>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Creates a hierarchy of trust within</a:t>
              </a:r>
              <a:r>
                <a:rPr kumimoji="0" lang="en-US" sz="2800" b="0" i="0" u="none" strike="noStrike" kern="0" cap="none" spc="0" normalizeH="0" noProof="0" dirty="0">
                  <a:ln>
                    <a:noFill/>
                  </a:ln>
                  <a:solidFill>
                    <a:sysClr val="window" lastClr="FFFFFF"/>
                  </a:solidFill>
                  <a:effectLst/>
                  <a:uLnTx/>
                  <a:uFillTx/>
                </a:rPr>
                <a:t> each zone</a:t>
              </a:r>
              <a:endParaRPr kumimoji="0" lang="en-US" sz="2800" b="0" i="0" u="none" strike="noStrike" kern="0" cap="none" spc="0" normalizeH="0" baseline="0" noProof="0" dirty="0">
                <a:ln>
                  <a:noFill/>
                </a:ln>
                <a:solidFill>
                  <a:sysClr val="window" lastClr="FFFFFF"/>
                </a:solidFill>
                <a:effectLst/>
                <a:uLnTx/>
                <a:uFillTx/>
              </a:endParaRPr>
            </a:p>
          </p:txBody>
        </p:sp>
      </p:grpSp>
    </p:spTree>
    <p:extLst>
      <p:ext uri="{BB962C8B-B14F-4D97-AF65-F5344CB8AC3E}">
        <p14:creationId xmlns:p14="http://schemas.microsoft.com/office/powerpoint/2010/main" val="382161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nodeType="clickEffect">
                                  <p:stCondLst>
                                    <p:cond delay="0"/>
                                  </p:stCondLst>
                                  <p:childTnLst>
                                    <p:animEffect transition="out" filter="fade">
                                      <p:cBhvr>
                                        <p:cTn id="13" dur="500"/>
                                        <p:tgtEl>
                                          <p:spTgt spid="8"/>
                                        </p:tgtEl>
                                      </p:cBhvr>
                                    </p:animEffect>
                                    <p:anim calcmode="lin" valueType="num">
                                      <p:cBhvr>
                                        <p:cTn id="14" dur="500"/>
                                        <p:tgtEl>
                                          <p:spTgt spid="8"/>
                                        </p:tgtEl>
                                        <p:attrNameLst>
                                          <p:attrName>ppt_x</p:attrName>
                                        </p:attrNameLst>
                                      </p:cBhvr>
                                      <p:tavLst>
                                        <p:tav tm="0">
                                          <p:val>
                                            <p:strVal val="ppt_x"/>
                                          </p:val>
                                        </p:tav>
                                        <p:tav tm="100000">
                                          <p:val>
                                            <p:strVal val="ppt_x"/>
                                          </p:val>
                                        </p:tav>
                                      </p:tavLst>
                                    </p:anim>
                                    <p:anim calcmode="lin" valueType="num">
                                      <p:cBhvr>
                                        <p:cTn id="15" dur="500"/>
                                        <p:tgtEl>
                                          <p:spTgt spid="8"/>
                                        </p:tgtEl>
                                        <p:attrNameLst>
                                          <p:attrName>ppt_y</p:attrName>
                                        </p:attrNameLst>
                                      </p:cBhvr>
                                      <p:tavLst>
                                        <p:tav tm="0">
                                          <p:val>
                                            <p:strVal val="ppt_y"/>
                                          </p:val>
                                        </p:tav>
                                        <p:tav tm="100000">
                                          <p:val>
                                            <p:strVal val="ppt_y+.1"/>
                                          </p:val>
                                        </p:tav>
                                      </p:tavLst>
                                    </p:anim>
                                    <p:set>
                                      <p:cBhvr>
                                        <p:cTn id="16" dur="1" fill="hold">
                                          <p:stCondLst>
                                            <p:cond delay="499"/>
                                          </p:stCondLst>
                                        </p:cTn>
                                        <p:tgtEl>
                                          <p:spTgt spid="8"/>
                                        </p:tgtEl>
                                        <p:attrNameLst>
                                          <p:attrName>style.visibility</p:attrName>
                                        </p:attrNameLst>
                                      </p:cBhvr>
                                      <p:to>
                                        <p:strVal val="hidden"/>
                                      </p:to>
                                    </p:set>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xit" presetSubtype="0" fill="hold" nodeType="clickEffect">
                                  <p:stCondLst>
                                    <p:cond delay="0"/>
                                  </p:stCondLst>
                                  <p:childTnLst>
                                    <p:animEffect transition="out" filter="fade">
                                      <p:cBhvr>
                                        <p:cTn id="26" dur="500"/>
                                        <p:tgtEl>
                                          <p:spTgt spid="5"/>
                                        </p:tgtEl>
                                      </p:cBhvr>
                                    </p:animEffect>
                                    <p:anim calcmode="lin" valueType="num">
                                      <p:cBhvr>
                                        <p:cTn id="27" dur="500"/>
                                        <p:tgtEl>
                                          <p:spTgt spid="5"/>
                                        </p:tgtEl>
                                        <p:attrNameLst>
                                          <p:attrName>ppt_x</p:attrName>
                                        </p:attrNameLst>
                                      </p:cBhvr>
                                      <p:tavLst>
                                        <p:tav tm="0">
                                          <p:val>
                                            <p:strVal val="ppt_x"/>
                                          </p:val>
                                        </p:tav>
                                        <p:tav tm="100000">
                                          <p:val>
                                            <p:strVal val="ppt_x"/>
                                          </p:val>
                                        </p:tav>
                                      </p:tavLst>
                                    </p:anim>
                                    <p:anim calcmode="lin" valueType="num">
                                      <p:cBhvr>
                                        <p:cTn id="28" dur="500"/>
                                        <p:tgtEl>
                                          <p:spTgt spid="5"/>
                                        </p:tgtEl>
                                        <p:attrNameLst>
                                          <p:attrName>ppt_y</p:attrName>
                                        </p:attrNameLst>
                                      </p:cBhvr>
                                      <p:tavLst>
                                        <p:tav tm="0">
                                          <p:val>
                                            <p:strVal val="ppt_y"/>
                                          </p:val>
                                        </p:tav>
                                        <p:tav tm="100000">
                                          <p:val>
                                            <p:strVal val="ppt_y+.1"/>
                                          </p:val>
                                        </p:tav>
                                      </p:tavLst>
                                    </p:anim>
                                    <p:set>
                                      <p:cBhvr>
                                        <p:cTn id="29" dur="1" fill="hold">
                                          <p:stCondLst>
                                            <p:cond delay="499"/>
                                          </p:stCondLst>
                                        </p:cTn>
                                        <p:tgtEl>
                                          <p:spTgt spid="5"/>
                                        </p:tgtEl>
                                        <p:attrNameLst>
                                          <p:attrName>style.visibility</p:attrName>
                                        </p:attrNameLst>
                                      </p:cBhvr>
                                      <p:to>
                                        <p:strVal val="hidden"/>
                                      </p:to>
                                    </p:set>
                                  </p:childTnLst>
                                </p:cTn>
                              </p:par>
                            </p:childTnLst>
                          </p:cTn>
                        </p:par>
                        <p:par>
                          <p:cTn id="30" fill="hold">
                            <p:stCondLst>
                              <p:cond delay="500"/>
                            </p:stCondLst>
                            <p:childTnLst>
                              <p:par>
                                <p:cTn id="31" presetID="42" presetClass="entr" presetSubtype="0" fill="hold" nodeType="after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Effect transition="in" filter="fade">
                                      <p:cBhvr>
                                        <p:cTn id="33" dur="500"/>
                                        <p:tgtEl>
                                          <p:spTgt spid="4">
                                            <p:txEl>
                                              <p:pRg st="9" end="9"/>
                                            </p:txEl>
                                          </p:spTgt>
                                        </p:tgtEl>
                                      </p:cBhvr>
                                    </p:animEffect>
                                    <p:anim calcmode="lin" valueType="num">
                                      <p:cBhvr>
                                        <p:cTn id="34"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35" dur="500" fill="hold"/>
                                        <p:tgtEl>
                                          <p:spTgt spid="4">
                                            <p:txEl>
                                              <p:pRg st="9" end="9"/>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xEl>
                                              <p:pRg st="10" end="10"/>
                                            </p:txEl>
                                          </p:spTgt>
                                        </p:tgtEl>
                                        <p:attrNameLst>
                                          <p:attrName>style.visibility</p:attrName>
                                        </p:attrNameLst>
                                      </p:cBhvr>
                                      <p:to>
                                        <p:strVal val="visible"/>
                                      </p:to>
                                    </p:set>
                                    <p:animEffect transition="in" filter="fade">
                                      <p:cBhvr>
                                        <p:cTn id="38" dur="500"/>
                                        <p:tgtEl>
                                          <p:spTgt spid="4">
                                            <p:txEl>
                                              <p:pRg st="10" end="10"/>
                                            </p:txEl>
                                          </p:spTgt>
                                        </p:tgtEl>
                                      </p:cBhvr>
                                    </p:animEffect>
                                    <p:anim calcmode="lin" valueType="num">
                                      <p:cBhvr>
                                        <p:cTn id="3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0" dur="500" fill="hold"/>
                                        <p:tgtEl>
                                          <p:spTgt spid="4">
                                            <p:txEl>
                                              <p:pRg st="10" end="10"/>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anim calcmode="lin" valueType="num">
                                      <p:cBhvr>
                                        <p:cTn id="44"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45" dur="500" fill="hold"/>
                                        <p:tgtEl>
                                          <p:spTgt spid="4">
                                            <p:txEl>
                                              <p:pRg st="11" end="11"/>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4">
                                            <p:txEl>
                                              <p:pRg st="12" end="12"/>
                                            </p:txEl>
                                          </p:spTgt>
                                        </p:tgtEl>
                                        <p:attrNameLst>
                                          <p:attrName>style.visibility</p:attrName>
                                        </p:attrNameLst>
                                      </p:cBhvr>
                                      <p:to>
                                        <p:strVal val="visible"/>
                                      </p:to>
                                    </p:set>
                                    <p:animEffect transition="in" filter="fade">
                                      <p:cBhvr>
                                        <p:cTn id="48" dur="500"/>
                                        <p:tgtEl>
                                          <p:spTgt spid="4">
                                            <p:txEl>
                                              <p:pRg st="12" end="12"/>
                                            </p:txEl>
                                          </p:spTgt>
                                        </p:tgtEl>
                                      </p:cBhvr>
                                    </p:animEffect>
                                    <p:anim calcmode="lin" valueType="num">
                                      <p:cBhvr>
                                        <p:cTn id="4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50" dur="5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2D0AA-A934-346F-899C-E1A589E28F7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5C69190F-6B96-67A1-9CA5-760240CB9A15}"/>
              </a:ext>
            </a:extLst>
          </p:cNvPr>
          <p:cNvSpPr>
            <a:spLocks noGrp="1"/>
          </p:cNvSpPr>
          <p:nvPr>
            <p:ph type="sldNum" sz="quarter" idx="12"/>
          </p:nvPr>
        </p:nvSpPr>
        <p:spPr/>
        <p:txBody>
          <a:bodyPr>
            <a:normAutofit fontScale="92500" lnSpcReduction="20000"/>
          </a:bodyPr>
          <a:lstStyle/>
          <a:p>
            <a:fld id="{283B9EA5-CE9A-4950-A80C-5ADF06B45BB8}" type="slidenum">
              <a:rPr lang="en-US" smtClean="0"/>
              <a:pPr/>
              <a:t>34</a:t>
            </a:fld>
            <a:endParaRPr lang="en-US" dirty="0"/>
          </a:p>
        </p:txBody>
      </p:sp>
      <p:pic>
        <p:nvPicPr>
          <p:cNvPr id="8" name="Content Placeholder 7">
            <a:extLst>
              <a:ext uri="{FF2B5EF4-FFF2-40B4-BE49-F238E27FC236}">
                <a16:creationId xmlns:a16="http://schemas.microsoft.com/office/drawing/2014/main" id="{D280B57C-0C05-2BBD-F71F-82E7CF94C1F7}"/>
              </a:ext>
            </a:extLst>
          </p:cNvPr>
          <p:cNvPicPr>
            <a:picLocks noGrp="1" noChangeAspect="1"/>
          </p:cNvPicPr>
          <p:nvPr>
            <p:ph sz="quarter"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76400" y="2152650"/>
            <a:ext cx="5791200" cy="4000500"/>
          </a:xfrm>
        </p:spPr>
      </p:pic>
    </p:spTree>
    <p:extLst>
      <p:ext uri="{BB962C8B-B14F-4D97-AF65-F5344CB8AC3E}">
        <p14:creationId xmlns:p14="http://schemas.microsoft.com/office/powerpoint/2010/main" val="705018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3182-9FE0-2F92-071B-802A4D93F3C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589A6BEC-BBB5-42FB-3641-3A375F19E67F}"/>
              </a:ext>
            </a:extLst>
          </p:cNvPr>
          <p:cNvSpPr>
            <a:spLocks noGrp="1"/>
          </p:cNvSpPr>
          <p:nvPr>
            <p:ph type="sldNum" sz="quarter" idx="12"/>
          </p:nvPr>
        </p:nvSpPr>
        <p:spPr/>
        <p:txBody>
          <a:bodyPr>
            <a:normAutofit fontScale="92500" lnSpcReduction="20000"/>
          </a:bodyPr>
          <a:lstStyle/>
          <a:p>
            <a:fld id="{283B9EA5-CE9A-4950-A80C-5ADF06B45BB8}" type="slidenum">
              <a:rPr lang="en-US" smtClean="0"/>
              <a:pPr/>
              <a:t>35</a:t>
            </a:fld>
            <a:endParaRPr lang="en-US" dirty="0"/>
          </a:p>
        </p:txBody>
      </p:sp>
      <p:pic>
        <p:nvPicPr>
          <p:cNvPr id="8" name="Graphic 7">
            <a:extLst>
              <a:ext uri="{FF2B5EF4-FFF2-40B4-BE49-F238E27FC236}">
                <a16:creationId xmlns:a16="http://schemas.microsoft.com/office/drawing/2014/main" id="{FBF5B42C-634A-C297-3C56-F68C38FC34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1039" y="2381907"/>
            <a:ext cx="7584761" cy="2718238"/>
          </a:xfrm>
          <a:prstGeom prst="rect">
            <a:avLst/>
          </a:prstGeom>
        </p:spPr>
      </p:pic>
    </p:spTree>
    <p:extLst>
      <p:ext uri="{BB962C8B-B14F-4D97-AF65-F5344CB8AC3E}">
        <p14:creationId xmlns:p14="http://schemas.microsoft.com/office/powerpoint/2010/main" val="998961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DNSSEC Hierarchy of Trust</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36</a:t>
            </a:fld>
            <a:endParaRPr lang="en-US" dirty="0"/>
          </a:p>
        </p:txBody>
      </p:sp>
      <p:pic>
        <p:nvPicPr>
          <p:cNvPr id="6"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848" y="5383255"/>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Right Arrow 9"/>
          <p:cNvSpPr/>
          <p:nvPr/>
        </p:nvSpPr>
        <p:spPr>
          <a:xfrm rot="685083">
            <a:off x="1033555" y="4924232"/>
            <a:ext cx="334469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D:\Pictures\Server_icons_lnx\Icons\128X128\black_serv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389" y="4277739"/>
            <a:ext cx="851735" cy="851735"/>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TextBox 16"/>
          <p:cNvSpPr txBox="1"/>
          <p:nvPr/>
        </p:nvSpPr>
        <p:spPr>
          <a:xfrm>
            <a:off x="4074037" y="6383203"/>
            <a:ext cx="1721946" cy="400110"/>
          </a:xfrm>
          <a:prstGeom prst="rect">
            <a:avLst/>
          </a:prstGeom>
          <a:noFill/>
        </p:spPr>
        <p:txBody>
          <a:bodyPr wrap="none" rtlCol="0">
            <a:spAutoFit/>
          </a:bodyPr>
          <a:lstStyle/>
          <a:p>
            <a:pPr algn="ctr"/>
            <a:r>
              <a:rPr lang="en-US" sz="2000" dirty="0"/>
              <a:t>dns.bofa.com</a:t>
            </a:r>
          </a:p>
        </p:txBody>
      </p:sp>
      <p:grpSp>
        <p:nvGrpSpPr>
          <p:cNvPr id="28" name="Group 27"/>
          <p:cNvGrpSpPr/>
          <p:nvPr/>
        </p:nvGrpSpPr>
        <p:grpSpPr>
          <a:xfrm flipH="1">
            <a:off x="118389" y="5751254"/>
            <a:ext cx="3629225" cy="1005472"/>
            <a:chOff x="1219201" y="4876799"/>
            <a:chExt cx="5211555" cy="1384995"/>
          </a:xfrm>
        </p:grpSpPr>
        <p:sp>
          <p:nvSpPr>
            <p:cNvPr id="29" name="Rectangular Callout 28"/>
            <p:cNvSpPr/>
            <p:nvPr/>
          </p:nvSpPr>
          <p:spPr>
            <a:xfrm>
              <a:off x="1249152" y="4876799"/>
              <a:ext cx="5181604" cy="1384995"/>
            </a:xfrm>
            <a:prstGeom prst="wedgeRectCallout">
              <a:avLst>
                <a:gd name="adj1" fmla="val 36355"/>
                <a:gd name="adj2" fmla="val -121920"/>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30" name="TextBox 29"/>
            <p:cNvSpPr txBox="1"/>
            <p:nvPr/>
          </p:nvSpPr>
          <p:spPr>
            <a:xfrm>
              <a:off x="1219201" y="4876799"/>
              <a:ext cx="5181604" cy="131424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Where is bankofamerica.com?</a:t>
              </a:r>
            </a:p>
          </p:txBody>
        </p:sp>
      </p:grpSp>
      <p:grpSp>
        <p:nvGrpSpPr>
          <p:cNvPr id="39" name="Group 38"/>
          <p:cNvGrpSpPr/>
          <p:nvPr/>
        </p:nvGrpSpPr>
        <p:grpSpPr>
          <a:xfrm flipH="1">
            <a:off x="5576402" y="5066049"/>
            <a:ext cx="3401150" cy="1393356"/>
            <a:chOff x="1219201" y="4876799"/>
            <a:chExt cx="5211555" cy="1429325"/>
          </a:xfrm>
        </p:grpSpPr>
        <p:sp>
          <p:nvSpPr>
            <p:cNvPr id="40" name="Rectangular Callout 39"/>
            <p:cNvSpPr/>
            <p:nvPr/>
          </p:nvSpPr>
          <p:spPr>
            <a:xfrm>
              <a:off x="1249153" y="4876799"/>
              <a:ext cx="5181603" cy="1384995"/>
            </a:xfrm>
            <a:prstGeom prst="wedgeRectCallout">
              <a:avLst>
                <a:gd name="adj1" fmla="val 63105"/>
                <a:gd name="adj2" fmla="val 7830"/>
              </a:avLst>
            </a:prstGeom>
            <a:solidFill>
              <a:schemeClr val="accent1"/>
            </a:solidFill>
            <a:ln w="38100" cap="flat" cmpd="sng" algn="ctr">
              <a:solidFill>
                <a:schemeClr val="accent1">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41" name="TextBox 40"/>
            <p:cNvSpPr txBox="1"/>
            <p:nvPr/>
          </p:nvSpPr>
          <p:spPr>
            <a:xfrm>
              <a:off x="1219201" y="4885376"/>
              <a:ext cx="5181603" cy="142074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IP: 123.45.67.89</a:t>
              </a:r>
            </a:p>
            <a:p>
              <a:pPr marL="0" marR="0" lvl="0" indent="0" algn="ctr" defTabSz="914400" eaLnBrk="1" fontAlgn="auto" latinLnBrk="0" hangingPunct="1">
                <a:lnSpc>
                  <a:spcPct val="100000"/>
                </a:lnSpc>
                <a:spcBef>
                  <a:spcPts val="0"/>
                </a:spcBef>
                <a:spcAft>
                  <a:spcPts val="0"/>
                </a:spcAft>
                <a:buClrTx/>
                <a:buSzTx/>
                <a:buFontTx/>
                <a:buNone/>
                <a:tabLst/>
                <a:defRPr/>
              </a:pPr>
              <a:r>
                <a:rPr lang="en-US" sz="2800" kern="0" dirty="0">
                  <a:solidFill>
                    <a:sysClr val="window" lastClr="FFFFFF"/>
                  </a:solidFill>
                </a:rPr>
                <a:t>Key: &lt;     &gt;</a:t>
              </a:r>
              <a:endParaRPr kumimoji="0" lang="en-US" sz="2800" b="0" i="0" u="none" strike="noStrike" kern="0" cap="none" spc="0" normalizeH="0" baseline="0" noProof="0" dirty="0">
                <a:ln>
                  <a:noFill/>
                </a:ln>
                <a:solidFill>
                  <a:sysClr val="window" lastClr="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US" sz="2800" kern="0" noProof="0" dirty="0">
                  <a:solidFill>
                    <a:sysClr val="window" lastClr="FFFFFF"/>
                  </a:solidFill>
                </a:rPr>
                <a:t>SIG: x9fnskflkalk</a:t>
              </a:r>
              <a:endParaRPr kumimoji="0" lang="en-US" sz="2800" b="0" i="0" u="none" strike="noStrike" kern="0" cap="none" spc="0" normalizeH="0" baseline="0" noProof="0" dirty="0">
                <a:ln>
                  <a:noFill/>
                </a:ln>
                <a:solidFill>
                  <a:sysClr val="window" lastClr="FFFFFF"/>
                </a:solidFill>
                <a:effectLst/>
                <a:uLnTx/>
                <a:uFillTx/>
              </a:endParaRPr>
            </a:p>
          </p:txBody>
        </p:sp>
      </p:grpSp>
      <p:pic>
        <p:nvPicPr>
          <p:cNvPr id="3074" name="Picture 2" descr="D:\Classes\CS 4700\assets\ke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83341" y="5523424"/>
            <a:ext cx="486965" cy="486965"/>
          </a:xfrm>
          <a:prstGeom prst="rect">
            <a:avLst/>
          </a:prstGeom>
          <a:noFill/>
          <a:extLst>
            <a:ext uri="{909E8E84-426E-40dd-AFC4-6F175D3DCCD1}">
              <a14:hiddenFill xmlns="" xmlns:a14="http://schemas.microsoft.com/office/drawing/2010/main">
                <a:solidFill>
                  <a:srgbClr val="FFFFFF"/>
                </a:solidFill>
              </a14:hiddenFill>
            </a:ext>
          </a:extLst>
        </p:spPr>
      </p:pic>
      <p:pic>
        <p:nvPicPr>
          <p:cNvPr id="48"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848" y="3487455"/>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49" name="TextBox 48"/>
          <p:cNvSpPr txBox="1"/>
          <p:nvPr/>
        </p:nvSpPr>
        <p:spPr>
          <a:xfrm>
            <a:off x="3988151" y="4487403"/>
            <a:ext cx="1893725" cy="400110"/>
          </a:xfrm>
          <a:prstGeom prst="rect">
            <a:avLst/>
          </a:prstGeom>
          <a:noFill/>
        </p:spPr>
        <p:txBody>
          <a:bodyPr wrap="none" rtlCol="0">
            <a:spAutoFit/>
          </a:bodyPr>
          <a:lstStyle/>
          <a:p>
            <a:pPr algn="ctr"/>
            <a:r>
              <a:rPr lang="en-US" sz="2000" dirty="0"/>
              <a:t>.com (</a:t>
            </a:r>
            <a:r>
              <a:rPr lang="en-US" sz="2000" dirty="0" err="1"/>
              <a:t>Verisign</a:t>
            </a:r>
            <a:r>
              <a:rPr lang="en-US" sz="2000" dirty="0"/>
              <a:t>)</a:t>
            </a:r>
          </a:p>
        </p:txBody>
      </p:sp>
      <p:pic>
        <p:nvPicPr>
          <p:cNvPr id="51" name="Picture 2" descr="D:\Classes\CS 4700\assets\ke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47034" y="3459123"/>
            <a:ext cx="486965" cy="486965"/>
          </a:xfrm>
          <a:prstGeom prst="rect">
            <a:avLst/>
          </a:prstGeom>
          <a:noFill/>
          <a:extLst>
            <a:ext uri="{909E8E84-426E-40dd-AFC4-6F175D3DCCD1}">
              <a14:hiddenFill xmlns="" xmlns:a14="http://schemas.microsoft.com/office/drawing/2010/main">
                <a:solidFill>
                  <a:srgbClr val="FFFFFF"/>
                </a:solidFill>
              </a14:hiddenFill>
            </a:ext>
          </a:extLst>
        </p:spPr>
      </p:pic>
      <p:sp>
        <p:nvSpPr>
          <p:cNvPr id="52" name="Right Arrow 51"/>
          <p:cNvSpPr/>
          <p:nvPr/>
        </p:nvSpPr>
        <p:spPr>
          <a:xfrm rot="20984107">
            <a:off x="1036451" y="4194205"/>
            <a:ext cx="3209069"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1734" y="1593332"/>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55" name="TextBox 54"/>
          <p:cNvSpPr txBox="1"/>
          <p:nvPr/>
        </p:nvSpPr>
        <p:spPr>
          <a:xfrm>
            <a:off x="3809673" y="2593280"/>
            <a:ext cx="2422459" cy="400110"/>
          </a:xfrm>
          <a:prstGeom prst="rect">
            <a:avLst/>
          </a:prstGeom>
          <a:noFill/>
        </p:spPr>
        <p:txBody>
          <a:bodyPr wrap="none" rtlCol="0">
            <a:spAutoFit/>
          </a:bodyPr>
          <a:lstStyle/>
          <a:p>
            <a:pPr algn="ctr"/>
            <a:r>
              <a:rPr lang="en-US" sz="2000" dirty="0"/>
              <a:t>Root Zone (ICANN)</a:t>
            </a:r>
          </a:p>
        </p:txBody>
      </p:sp>
      <p:pic>
        <p:nvPicPr>
          <p:cNvPr id="56" name="Picture 2" descr="D:\Classes\CS 4700\assets\ke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2920" y="1565000"/>
            <a:ext cx="486965" cy="486965"/>
          </a:xfrm>
          <a:prstGeom prst="rect">
            <a:avLst/>
          </a:prstGeom>
          <a:noFill/>
          <a:extLst>
            <a:ext uri="{909E8E84-426E-40dd-AFC4-6F175D3DCCD1}">
              <a14:hiddenFill xmlns="" xmlns:a14="http://schemas.microsoft.com/office/drawing/2010/main">
                <a:solidFill>
                  <a:srgbClr val="FFFFFF"/>
                </a:solidFill>
              </a14:hiddenFill>
            </a:ext>
          </a:extLst>
        </p:spPr>
      </p:pic>
      <p:sp>
        <p:nvSpPr>
          <p:cNvPr id="57" name="Right Arrow 56"/>
          <p:cNvSpPr/>
          <p:nvPr/>
        </p:nvSpPr>
        <p:spPr>
          <a:xfrm rot="19558391">
            <a:off x="629422" y="3129749"/>
            <a:ext cx="4040626"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rved Down Arrow 13"/>
          <p:cNvSpPr/>
          <p:nvPr/>
        </p:nvSpPr>
        <p:spPr>
          <a:xfrm rot="5400000">
            <a:off x="5318807" y="2196729"/>
            <a:ext cx="1988495" cy="968828"/>
          </a:xfrm>
          <a:prstGeom prst="curvedDownArrow">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8" name="Picture 3" descr="D:\Pictures\Server_icons_lnx\Icons\128X128\data_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0704" y="5383255"/>
            <a:ext cx="927338" cy="927338"/>
          </a:xfrm>
          <a:prstGeom prst="rect">
            <a:avLst/>
          </a:prstGeom>
          <a:noFill/>
          <a:extLst>
            <a:ext uri="{909E8E84-426E-40dd-AFC4-6F175D3DCCD1}">
              <a14:hiddenFill xmlns="" xmlns:a14="http://schemas.microsoft.com/office/drawing/2010/main">
                <a:solidFill>
                  <a:srgbClr val="FFFFFF"/>
                </a:solidFill>
              </a14:hiddenFill>
            </a:ext>
          </a:extLst>
        </p:spPr>
      </p:pic>
      <p:sp>
        <p:nvSpPr>
          <p:cNvPr id="59" name="TextBox 58"/>
          <p:cNvSpPr txBox="1"/>
          <p:nvPr/>
        </p:nvSpPr>
        <p:spPr>
          <a:xfrm>
            <a:off x="4134998" y="6383203"/>
            <a:ext cx="1609736" cy="400110"/>
          </a:xfrm>
          <a:prstGeom prst="rect">
            <a:avLst/>
          </a:prstGeom>
          <a:noFill/>
        </p:spPr>
        <p:txBody>
          <a:bodyPr wrap="none" rtlCol="0">
            <a:spAutoFit/>
          </a:bodyPr>
          <a:lstStyle/>
          <a:p>
            <a:pPr algn="ctr"/>
            <a:r>
              <a:rPr lang="en-US" sz="2000" dirty="0"/>
              <a:t>dns.evil.com</a:t>
            </a:r>
          </a:p>
        </p:txBody>
      </p:sp>
      <p:grpSp>
        <p:nvGrpSpPr>
          <p:cNvPr id="60" name="Group 59"/>
          <p:cNvGrpSpPr/>
          <p:nvPr/>
        </p:nvGrpSpPr>
        <p:grpSpPr>
          <a:xfrm flipH="1">
            <a:off x="5581258" y="5066049"/>
            <a:ext cx="3401150" cy="1393356"/>
            <a:chOff x="1219201" y="4876799"/>
            <a:chExt cx="5211555" cy="1429325"/>
          </a:xfrm>
          <a:solidFill>
            <a:schemeClr val="accent2"/>
          </a:solidFill>
        </p:grpSpPr>
        <p:sp>
          <p:nvSpPr>
            <p:cNvPr id="61" name="Rectangular Callout 60"/>
            <p:cNvSpPr/>
            <p:nvPr/>
          </p:nvSpPr>
          <p:spPr>
            <a:xfrm>
              <a:off x="1249153" y="4876799"/>
              <a:ext cx="5181603" cy="1384995"/>
            </a:xfrm>
            <a:prstGeom prst="wedgeRectCallout">
              <a:avLst>
                <a:gd name="adj1" fmla="val 63105"/>
                <a:gd name="adj2" fmla="val 7830"/>
              </a:avLst>
            </a:prstGeom>
            <a:grpFill/>
            <a:ln w="38100" cap="flat" cmpd="sng" algn="ctr">
              <a:solidFill>
                <a:schemeClr val="accent2">
                  <a:lumMod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Tw Cen MT"/>
                <a:ea typeface="+mn-ea"/>
                <a:cs typeface="+mn-cs"/>
              </a:endParaRPr>
            </a:p>
          </p:txBody>
        </p:sp>
        <p:sp>
          <p:nvSpPr>
            <p:cNvPr id="62" name="TextBox 61"/>
            <p:cNvSpPr txBox="1"/>
            <p:nvPr/>
          </p:nvSpPr>
          <p:spPr>
            <a:xfrm>
              <a:off x="1219201" y="4885376"/>
              <a:ext cx="5181603" cy="1420748"/>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ysClr val="window" lastClr="FFFFFF"/>
                  </a:solidFill>
                  <a:effectLst/>
                  <a:uLnTx/>
                  <a:uFillTx/>
                </a:rPr>
                <a:t>IP: 66.66.66.93</a:t>
              </a:r>
            </a:p>
            <a:p>
              <a:pPr marL="0" marR="0" lvl="0" indent="0" algn="ctr" defTabSz="914400" eaLnBrk="1" fontAlgn="auto" latinLnBrk="0" hangingPunct="1">
                <a:lnSpc>
                  <a:spcPct val="100000"/>
                </a:lnSpc>
                <a:spcBef>
                  <a:spcPts val="0"/>
                </a:spcBef>
                <a:spcAft>
                  <a:spcPts val="0"/>
                </a:spcAft>
                <a:buClrTx/>
                <a:buSzTx/>
                <a:buFontTx/>
                <a:buNone/>
                <a:tabLst/>
                <a:defRPr/>
              </a:pPr>
              <a:r>
                <a:rPr lang="en-US" sz="2800" kern="0" dirty="0">
                  <a:solidFill>
                    <a:sysClr val="window" lastClr="FFFFFF"/>
                  </a:solidFill>
                </a:rPr>
                <a:t>Key: &lt;     &gt;</a:t>
              </a:r>
              <a:endParaRPr kumimoji="0" lang="en-US" sz="2800" b="0" i="0" u="none" strike="noStrike" kern="0" cap="none" spc="0" normalizeH="0" baseline="0" noProof="0" dirty="0">
                <a:ln>
                  <a:noFill/>
                </a:ln>
                <a:solidFill>
                  <a:sysClr val="window" lastClr="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US" sz="2800" kern="0" noProof="0" dirty="0">
                  <a:solidFill>
                    <a:sysClr val="window" lastClr="FFFFFF"/>
                  </a:solidFill>
                </a:rPr>
                <a:t>SIG: 9na8x7040a3</a:t>
              </a:r>
              <a:endParaRPr kumimoji="0" lang="en-US" sz="2800" b="0" i="0" u="none" strike="noStrike" kern="0" cap="none" spc="0" normalizeH="0" baseline="0" noProof="0" dirty="0">
                <a:ln>
                  <a:noFill/>
                </a:ln>
                <a:solidFill>
                  <a:sysClr val="window" lastClr="FFFFFF"/>
                </a:solidFill>
                <a:effectLst/>
                <a:uLnTx/>
                <a:uFillTx/>
              </a:endParaRPr>
            </a:p>
          </p:txBody>
        </p:sp>
      </p:grpSp>
      <p:pic>
        <p:nvPicPr>
          <p:cNvPr id="63" name="Picture 2" descr="D:\Classes\CS 4700\assets\ke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88197" y="5523424"/>
            <a:ext cx="486965" cy="486965"/>
          </a:xfrm>
          <a:prstGeom prst="rect">
            <a:avLst/>
          </a:prstGeom>
          <a:noFill/>
          <a:extLst>
            <a:ext uri="{909E8E84-426E-40dd-AFC4-6F175D3DCCD1}">
              <a14:hiddenFill xmlns="" xmlns:a14="http://schemas.microsoft.com/office/drawing/2010/main">
                <a:solidFill>
                  <a:srgbClr val="FFFFFF"/>
                </a:solidFill>
              </a14:hiddenFill>
            </a:ext>
          </a:extLst>
        </p:spPr>
      </p:pic>
      <p:pic>
        <p:nvPicPr>
          <p:cNvPr id="64" name="Picture 2" descr="D:\Classes\CS 4700\assets\devil-ico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45141" y="5058351"/>
            <a:ext cx="718486" cy="718486"/>
          </a:xfrm>
          <a:prstGeom prst="rect">
            <a:avLst/>
          </a:prstGeom>
          <a:noFill/>
          <a:extLst>
            <a:ext uri="{909E8E84-426E-40dd-AFC4-6F175D3DCCD1}">
              <a14:hiddenFill xmlns="" xmlns:a14="http://schemas.microsoft.com/office/drawing/2010/main">
                <a:solidFill>
                  <a:srgbClr val="FFFFFF"/>
                </a:solidFill>
              </a14:hiddenFill>
            </a:ext>
          </a:extLst>
        </p:spPr>
      </p:pic>
      <p:sp>
        <p:nvSpPr>
          <p:cNvPr id="12" name="Bent Arrow 11"/>
          <p:cNvSpPr/>
          <p:nvPr/>
        </p:nvSpPr>
        <p:spPr>
          <a:xfrm rot="5400000">
            <a:off x="5999120" y="3523371"/>
            <a:ext cx="1791949" cy="2150421"/>
          </a:xfrm>
          <a:prstGeom prst="bentArrow">
            <a:avLst>
              <a:gd name="adj1" fmla="val 9813"/>
              <a:gd name="adj2" fmla="val 13458"/>
              <a:gd name="adj3" fmla="val 31682"/>
              <a:gd name="adj4" fmla="val 43750"/>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Multiply 19"/>
          <p:cNvSpPr/>
          <p:nvPr/>
        </p:nvSpPr>
        <p:spPr>
          <a:xfrm>
            <a:off x="7012362" y="3276209"/>
            <a:ext cx="1253189" cy="1349829"/>
          </a:xfrm>
          <a:prstGeom prst="mathMultiply">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346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anim calcmode="lin" valueType="num">
                                      <p:cBhvr>
                                        <p:cTn id="18" dur="500" fill="hold"/>
                                        <p:tgtEl>
                                          <p:spTgt spid="39"/>
                                        </p:tgtEl>
                                        <p:attrNameLst>
                                          <p:attrName>ppt_x</p:attrName>
                                        </p:attrNameLst>
                                      </p:cBhvr>
                                      <p:tavLst>
                                        <p:tav tm="0">
                                          <p:val>
                                            <p:strVal val="#ppt_x"/>
                                          </p:val>
                                        </p:tav>
                                        <p:tav tm="100000">
                                          <p:val>
                                            <p:strVal val="#ppt_x"/>
                                          </p:val>
                                        </p:tav>
                                      </p:tavLst>
                                    </p:anim>
                                    <p:anim calcmode="lin" valueType="num">
                                      <p:cBhvr>
                                        <p:cTn id="19" dur="500" fill="hold"/>
                                        <p:tgtEl>
                                          <p:spTgt spid="3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074"/>
                                        </p:tgtEl>
                                        <p:attrNameLst>
                                          <p:attrName>style.visibility</p:attrName>
                                        </p:attrNameLst>
                                      </p:cBhvr>
                                      <p:to>
                                        <p:strVal val="visible"/>
                                      </p:to>
                                    </p:set>
                                    <p:animEffect transition="in" filter="fade">
                                      <p:cBhvr>
                                        <p:cTn id="22" dur="500"/>
                                        <p:tgtEl>
                                          <p:spTgt spid="3074"/>
                                        </p:tgtEl>
                                      </p:cBhvr>
                                    </p:animEffect>
                                    <p:anim calcmode="lin" valueType="num">
                                      <p:cBhvr>
                                        <p:cTn id="23" dur="500" fill="hold"/>
                                        <p:tgtEl>
                                          <p:spTgt spid="3074"/>
                                        </p:tgtEl>
                                        <p:attrNameLst>
                                          <p:attrName>ppt_x</p:attrName>
                                        </p:attrNameLst>
                                      </p:cBhvr>
                                      <p:tavLst>
                                        <p:tav tm="0">
                                          <p:val>
                                            <p:strVal val="#ppt_x"/>
                                          </p:val>
                                        </p:tav>
                                        <p:tav tm="100000">
                                          <p:val>
                                            <p:strVal val="#ppt_x"/>
                                          </p:val>
                                        </p:tav>
                                      </p:tavLst>
                                    </p:anim>
                                    <p:anim calcmode="lin" valueType="num">
                                      <p:cBhvr>
                                        <p:cTn id="24" dur="500" fill="hold"/>
                                        <p:tgtEl>
                                          <p:spTgt spid="307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wipe(left)">
                                      <p:cBhvr>
                                        <p:cTn id="29" dur="500"/>
                                        <p:tgtEl>
                                          <p:spTgt spid="52"/>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wipe(left)">
                                      <p:cBhvr>
                                        <p:cTn id="38" dur="500"/>
                                        <p:tgtEl>
                                          <p:spTgt spid="57"/>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up)">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xit" presetSubtype="0" fill="hold" nodeType="clickEffect">
                                  <p:stCondLst>
                                    <p:cond delay="0"/>
                                  </p:stCondLst>
                                  <p:childTnLst>
                                    <p:animEffect transition="out" filter="fade">
                                      <p:cBhvr>
                                        <p:cTn id="46" dur="500"/>
                                        <p:tgtEl>
                                          <p:spTgt spid="39"/>
                                        </p:tgtEl>
                                      </p:cBhvr>
                                    </p:animEffect>
                                    <p:anim calcmode="lin" valueType="num">
                                      <p:cBhvr>
                                        <p:cTn id="47" dur="500"/>
                                        <p:tgtEl>
                                          <p:spTgt spid="39"/>
                                        </p:tgtEl>
                                        <p:attrNameLst>
                                          <p:attrName>ppt_x</p:attrName>
                                        </p:attrNameLst>
                                      </p:cBhvr>
                                      <p:tavLst>
                                        <p:tav tm="0">
                                          <p:val>
                                            <p:strVal val="ppt_x"/>
                                          </p:val>
                                        </p:tav>
                                        <p:tav tm="100000">
                                          <p:val>
                                            <p:strVal val="ppt_x"/>
                                          </p:val>
                                        </p:tav>
                                      </p:tavLst>
                                    </p:anim>
                                    <p:anim calcmode="lin" valueType="num">
                                      <p:cBhvr>
                                        <p:cTn id="48" dur="500"/>
                                        <p:tgtEl>
                                          <p:spTgt spid="39"/>
                                        </p:tgtEl>
                                        <p:attrNameLst>
                                          <p:attrName>ppt_y</p:attrName>
                                        </p:attrNameLst>
                                      </p:cBhvr>
                                      <p:tavLst>
                                        <p:tav tm="0">
                                          <p:val>
                                            <p:strVal val="ppt_y"/>
                                          </p:val>
                                        </p:tav>
                                        <p:tav tm="100000">
                                          <p:val>
                                            <p:strVal val="ppt_y+.1"/>
                                          </p:val>
                                        </p:tav>
                                      </p:tavLst>
                                    </p:anim>
                                    <p:set>
                                      <p:cBhvr>
                                        <p:cTn id="49" dur="1" fill="hold">
                                          <p:stCondLst>
                                            <p:cond delay="499"/>
                                          </p:stCondLst>
                                        </p:cTn>
                                        <p:tgtEl>
                                          <p:spTgt spid="39"/>
                                        </p:tgtEl>
                                        <p:attrNameLst>
                                          <p:attrName>style.visibility</p:attrName>
                                        </p:attrNameLst>
                                      </p:cBhvr>
                                      <p:to>
                                        <p:strVal val="hidden"/>
                                      </p:to>
                                    </p:set>
                                  </p:childTnLst>
                                </p:cTn>
                              </p:par>
                              <p:par>
                                <p:cTn id="50" presetID="42" presetClass="exit" presetSubtype="0" fill="hold" nodeType="withEffect">
                                  <p:stCondLst>
                                    <p:cond delay="0"/>
                                  </p:stCondLst>
                                  <p:childTnLst>
                                    <p:animEffect transition="out" filter="fade">
                                      <p:cBhvr>
                                        <p:cTn id="51" dur="500"/>
                                        <p:tgtEl>
                                          <p:spTgt spid="3074"/>
                                        </p:tgtEl>
                                      </p:cBhvr>
                                    </p:animEffect>
                                    <p:anim calcmode="lin" valueType="num">
                                      <p:cBhvr>
                                        <p:cTn id="52" dur="500"/>
                                        <p:tgtEl>
                                          <p:spTgt spid="3074"/>
                                        </p:tgtEl>
                                        <p:attrNameLst>
                                          <p:attrName>ppt_x</p:attrName>
                                        </p:attrNameLst>
                                      </p:cBhvr>
                                      <p:tavLst>
                                        <p:tav tm="0">
                                          <p:val>
                                            <p:strVal val="ppt_x"/>
                                          </p:val>
                                        </p:tav>
                                        <p:tav tm="100000">
                                          <p:val>
                                            <p:strVal val="ppt_x"/>
                                          </p:val>
                                        </p:tav>
                                      </p:tavLst>
                                    </p:anim>
                                    <p:anim calcmode="lin" valueType="num">
                                      <p:cBhvr>
                                        <p:cTn id="53" dur="500"/>
                                        <p:tgtEl>
                                          <p:spTgt spid="3074"/>
                                        </p:tgtEl>
                                        <p:attrNameLst>
                                          <p:attrName>ppt_y</p:attrName>
                                        </p:attrNameLst>
                                      </p:cBhvr>
                                      <p:tavLst>
                                        <p:tav tm="0">
                                          <p:val>
                                            <p:strVal val="ppt_y"/>
                                          </p:val>
                                        </p:tav>
                                        <p:tav tm="100000">
                                          <p:val>
                                            <p:strVal val="ppt_y+.1"/>
                                          </p:val>
                                        </p:tav>
                                      </p:tavLst>
                                    </p:anim>
                                    <p:set>
                                      <p:cBhvr>
                                        <p:cTn id="54" dur="1" fill="hold">
                                          <p:stCondLst>
                                            <p:cond delay="499"/>
                                          </p:stCondLst>
                                        </p:cTn>
                                        <p:tgtEl>
                                          <p:spTgt spid="3074"/>
                                        </p:tgtEl>
                                        <p:attrNameLst>
                                          <p:attrName>style.visibility</p:attrName>
                                        </p:attrNameLst>
                                      </p:cBhvr>
                                      <p:to>
                                        <p:strVal val="hidden"/>
                                      </p:to>
                                    </p:set>
                                  </p:childTnLst>
                                </p:cTn>
                              </p:par>
                              <p:par>
                                <p:cTn id="55" presetID="42" presetClass="exit" presetSubtype="0" fill="hold" nodeType="withEffect">
                                  <p:stCondLst>
                                    <p:cond delay="0"/>
                                  </p:stCondLst>
                                  <p:childTnLst>
                                    <p:animEffect transition="out" filter="fade">
                                      <p:cBhvr>
                                        <p:cTn id="56" dur="500"/>
                                        <p:tgtEl>
                                          <p:spTgt spid="6"/>
                                        </p:tgtEl>
                                      </p:cBhvr>
                                    </p:animEffect>
                                    <p:anim calcmode="lin" valueType="num">
                                      <p:cBhvr>
                                        <p:cTn id="57" dur="500"/>
                                        <p:tgtEl>
                                          <p:spTgt spid="6"/>
                                        </p:tgtEl>
                                        <p:attrNameLst>
                                          <p:attrName>ppt_x</p:attrName>
                                        </p:attrNameLst>
                                      </p:cBhvr>
                                      <p:tavLst>
                                        <p:tav tm="0">
                                          <p:val>
                                            <p:strVal val="ppt_x"/>
                                          </p:val>
                                        </p:tav>
                                        <p:tav tm="100000">
                                          <p:val>
                                            <p:strVal val="ppt_x"/>
                                          </p:val>
                                        </p:tav>
                                      </p:tavLst>
                                    </p:anim>
                                    <p:anim calcmode="lin" valueType="num">
                                      <p:cBhvr>
                                        <p:cTn id="58" dur="500"/>
                                        <p:tgtEl>
                                          <p:spTgt spid="6"/>
                                        </p:tgtEl>
                                        <p:attrNameLst>
                                          <p:attrName>ppt_y</p:attrName>
                                        </p:attrNameLst>
                                      </p:cBhvr>
                                      <p:tavLst>
                                        <p:tav tm="0">
                                          <p:val>
                                            <p:strVal val="ppt_y"/>
                                          </p:val>
                                        </p:tav>
                                        <p:tav tm="100000">
                                          <p:val>
                                            <p:strVal val="ppt_y+.1"/>
                                          </p:val>
                                        </p:tav>
                                      </p:tavLst>
                                    </p:anim>
                                    <p:set>
                                      <p:cBhvr>
                                        <p:cTn id="59" dur="1" fill="hold">
                                          <p:stCondLst>
                                            <p:cond delay="499"/>
                                          </p:stCondLst>
                                        </p:cTn>
                                        <p:tgtEl>
                                          <p:spTgt spid="6"/>
                                        </p:tgtEl>
                                        <p:attrNameLst>
                                          <p:attrName>style.visibility</p:attrName>
                                        </p:attrNameLst>
                                      </p:cBhvr>
                                      <p:to>
                                        <p:strVal val="hidden"/>
                                      </p:to>
                                    </p:set>
                                  </p:childTnLst>
                                </p:cTn>
                              </p:par>
                              <p:par>
                                <p:cTn id="60" presetID="42" presetClass="exit" presetSubtype="0" fill="hold" grpId="0" nodeType="withEffect">
                                  <p:stCondLst>
                                    <p:cond delay="0"/>
                                  </p:stCondLst>
                                  <p:childTnLst>
                                    <p:animEffect transition="out" filter="fade">
                                      <p:cBhvr>
                                        <p:cTn id="61" dur="500"/>
                                        <p:tgtEl>
                                          <p:spTgt spid="17"/>
                                        </p:tgtEl>
                                      </p:cBhvr>
                                    </p:animEffect>
                                    <p:anim calcmode="lin" valueType="num">
                                      <p:cBhvr>
                                        <p:cTn id="62" dur="500"/>
                                        <p:tgtEl>
                                          <p:spTgt spid="17"/>
                                        </p:tgtEl>
                                        <p:attrNameLst>
                                          <p:attrName>ppt_x</p:attrName>
                                        </p:attrNameLst>
                                      </p:cBhvr>
                                      <p:tavLst>
                                        <p:tav tm="0">
                                          <p:val>
                                            <p:strVal val="ppt_x"/>
                                          </p:val>
                                        </p:tav>
                                        <p:tav tm="100000">
                                          <p:val>
                                            <p:strVal val="ppt_x"/>
                                          </p:val>
                                        </p:tav>
                                      </p:tavLst>
                                    </p:anim>
                                    <p:anim calcmode="lin" valueType="num">
                                      <p:cBhvr>
                                        <p:cTn id="63" dur="500"/>
                                        <p:tgtEl>
                                          <p:spTgt spid="17"/>
                                        </p:tgtEl>
                                        <p:attrNameLst>
                                          <p:attrName>ppt_y</p:attrName>
                                        </p:attrNameLst>
                                      </p:cBhvr>
                                      <p:tavLst>
                                        <p:tav tm="0">
                                          <p:val>
                                            <p:strVal val="ppt_y"/>
                                          </p:val>
                                        </p:tav>
                                        <p:tav tm="100000">
                                          <p:val>
                                            <p:strVal val="ppt_y+.1"/>
                                          </p:val>
                                        </p:tav>
                                      </p:tavLst>
                                    </p:anim>
                                    <p:set>
                                      <p:cBhvr>
                                        <p:cTn id="64" dur="1" fill="hold">
                                          <p:stCondLst>
                                            <p:cond delay="499"/>
                                          </p:stCondLst>
                                        </p:cTn>
                                        <p:tgtEl>
                                          <p:spTgt spid="17"/>
                                        </p:tgtEl>
                                        <p:attrNameLst>
                                          <p:attrName>style.visibility</p:attrName>
                                        </p:attrNameLst>
                                      </p:cBhvr>
                                      <p:to>
                                        <p:strVal val="hidden"/>
                                      </p:to>
                                    </p:set>
                                  </p:childTnLst>
                                </p:cTn>
                              </p:par>
                            </p:childTnLst>
                          </p:cTn>
                        </p:par>
                        <p:par>
                          <p:cTn id="65" fill="hold">
                            <p:stCondLst>
                              <p:cond delay="500"/>
                            </p:stCondLst>
                            <p:childTnLst>
                              <p:par>
                                <p:cTn id="66" presetID="42" presetClass="entr" presetSubtype="0" fill="hold" nodeType="afterEffect">
                                  <p:stCondLst>
                                    <p:cond delay="0"/>
                                  </p:stCondLst>
                                  <p:childTnLst>
                                    <p:set>
                                      <p:cBhvr>
                                        <p:cTn id="67" dur="1" fill="hold">
                                          <p:stCondLst>
                                            <p:cond delay="0"/>
                                          </p:stCondLst>
                                        </p:cTn>
                                        <p:tgtEl>
                                          <p:spTgt spid="60"/>
                                        </p:tgtEl>
                                        <p:attrNameLst>
                                          <p:attrName>style.visibility</p:attrName>
                                        </p:attrNameLst>
                                      </p:cBhvr>
                                      <p:to>
                                        <p:strVal val="visible"/>
                                      </p:to>
                                    </p:set>
                                    <p:animEffect transition="in" filter="fade">
                                      <p:cBhvr>
                                        <p:cTn id="68" dur="500"/>
                                        <p:tgtEl>
                                          <p:spTgt spid="60"/>
                                        </p:tgtEl>
                                      </p:cBhvr>
                                    </p:animEffect>
                                    <p:anim calcmode="lin" valueType="num">
                                      <p:cBhvr>
                                        <p:cTn id="69" dur="500" fill="hold"/>
                                        <p:tgtEl>
                                          <p:spTgt spid="60"/>
                                        </p:tgtEl>
                                        <p:attrNameLst>
                                          <p:attrName>ppt_x</p:attrName>
                                        </p:attrNameLst>
                                      </p:cBhvr>
                                      <p:tavLst>
                                        <p:tav tm="0">
                                          <p:val>
                                            <p:strVal val="#ppt_x"/>
                                          </p:val>
                                        </p:tav>
                                        <p:tav tm="100000">
                                          <p:val>
                                            <p:strVal val="#ppt_x"/>
                                          </p:val>
                                        </p:tav>
                                      </p:tavLst>
                                    </p:anim>
                                    <p:anim calcmode="lin" valueType="num">
                                      <p:cBhvr>
                                        <p:cTn id="70" dur="500" fill="hold"/>
                                        <p:tgtEl>
                                          <p:spTgt spid="60"/>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63"/>
                                        </p:tgtEl>
                                        <p:attrNameLst>
                                          <p:attrName>style.visibility</p:attrName>
                                        </p:attrNameLst>
                                      </p:cBhvr>
                                      <p:to>
                                        <p:strVal val="visible"/>
                                      </p:to>
                                    </p:set>
                                    <p:animEffect transition="in" filter="fade">
                                      <p:cBhvr>
                                        <p:cTn id="73" dur="500"/>
                                        <p:tgtEl>
                                          <p:spTgt spid="63"/>
                                        </p:tgtEl>
                                      </p:cBhvr>
                                    </p:animEffect>
                                    <p:anim calcmode="lin" valueType="num">
                                      <p:cBhvr>
                                        <p:cTn id="74" dur="500" fill="hold"/>
                                        <p:tgtEl>
                                          <p:spTgt spid="63"/>
                                        </p:tgtEl>
                                        <p:attrNameLst>
                                          <p:attrName>ppt_x</p:attrName>
                                        </p:attrNameLst>
                                      </p:cBhvr>
                                      <p:tavLst>
                                        <p:tav tm="0">
                                          <p:val>
                                            <p:strVal val="#ppt_x"/>
                                          </p:val>
                                        </p:tav>
                                        <p:tav tm="100000">
                                          <p:val>
                                            <p:strVal val="#ppt_x"/>
                                          </p:val>
                                        </p:tav>
                                      </p:tavLst>
                                    </p:anim>
                                    <p:anim calcmode="lin" valueType="num">
                                      <p:cBhvr>
                                        <p:cTn id="75" dur="500" fill="hold"/>
                                        <p:tgtEl>
                                          <p:spTgt spid="63"/>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58"/>
                                        </p:tgtEl>
                                        <p:attrNameLst>
                                          <p:attrName>style.visibility</p:attrName>
                                        </p:attrNameLst>
                                      </p:cBhvr>
                                      <p:to>
                                        <p:strVal val="visible"/>
                                      </p:to>
                                    </p:set>
                                    <p:animEffect transition="in" filter="fade">
                                      <p:cBhvr>
                                        <p:cTn id="78" dur="500"/>
                                        <p:tgtEl>
                                          <p:spTgt spid="58"/>
                                        </p:tgtEl>
                                      </p:cBhvr>
                                    </p:animEffect>
                                    <p:anim calcmode="lin" valueType="num">
                                      <p:cBhvr>
                                        <p:cTn id="79" dur="500" fill="hold"/>
                                        <p:tgtEl>
                                          <p:spTgt spid="58"/>
                                        </p:tgtEl>
                                        <p:attrNameLst>
                                          <p:attrName>ppt_x</p:attrName>
                                        </p:attrNameLst>
                                      </p:cBhvr>
                                      <p:tavLst>
                                        <p:tav tm="0">
                                          <p:val>
                                            <p:strVal val="#ppt_x"/>
                                          </p:val>
                                        </p:tav>
                                        <p:tav tm="100000">
                                          <p:val>
                                            <p:strVal val="#ppt_x"/>
                                          </p:val>
                                        </p:tav>
                                      </p:tavLst>
                                    </p:anim>
                                    <p:anim calcmode="lin" valueType="num">
                                      <p:cBhvr>
                                        <p:cTn id="80" dur="500" fill="hold"/>
                                        <p:tgtEl>
                                          <p:spTgt spid="58"/>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500"/>
                                        <p:tgtEl>
                                          <p:spTgt spid="59"/>
                                        </p:tgtEl>
                                      </p:cBhvr>
                                    </p:animEffect>
                                    <p:anim calcmode="lin" valueType="num">
                                      <p:cBhvr>
                                        <p:cTn id="84" dur="500" fill="hold"/>
                                        <p:tgtEl>
                                          <p:spTgt spid="59"/>
                                        </p:tgtEl>
                                        <p:attrNameLst>
                                          <p:attrName>ppt_x</p:attrName>
                                        </p:attrNameLst>
                                      </p:cBhvr>
                                      <p:tavLst>
                                        <p:tav tm="0">
                                          <p:val>
                                            <p:strVal val="#ppt_x"/>
                                          </p:val>
                                        </p:tav>
                                        <p:tav tm="100000">
                                          <p:val>
                                            <p:strVal val="#ppt_x"/>
                                          </p:val>
                                        </p:tav>
                                      </p:tavLst>
                                    </p:anim>
                                    <p:anim calcmode="lin" valueType="num">
                                      <p:cBhvr>
                                        <p:cTn id="85" dur="500" fill="hold"/>
                                        <p:tgtEl>
                                          <p:spTgt spid="59"/>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64"/>
                                        </p:tgtEl>
                                        <p:attrNameLst>
                                          <p:attrName>style.visibility</p:attrName>
                                        </p:attrNameLst>
                                      </p:cBhvr>
                                      <p:to>
                                        <p:strVal val="visible"/>
                                      </p:to>
                                    </p:set>
                                    <p:animEffect transition="in" filter="fade">
                                      <p:cBhvr>
                                        <p:cTn id="88" dur="500"/>
                                        <p:tgtEl>
                                          <p:spTgt spid="64"/>
                                        </p:tgtEl>
                                      </p:cBhvr>
                                    </p:animEffect>
                                    <p:anim calcmode="lin" valueType="num">
                                      <p:cBhvr>
                                        <p:cTn id="89" dur="500" fill="hold"/>
                                        <p:tgtEl>
                                          <p:spTgt spid="64"/>
                                        </p:tgtEl>
                                        <p:attrNameLst>
                                          <p:attrName>ppt_x</p:attrName>
                                        </p:attrNameLst>
                                      </p:cBhvr>
                                      <p:tavLst>
                                        <p:tav tm="0">
                                          <p:val>
                                            <p:strVal val="#ppt_x"/>
                                          </p:val>
                                        </p:tav>
                                        <p:tav tm="100000">
                                          <p:val>
                                            <p:strVal val="#ppt_x"/>
                                          </p:val>
                                        </p:tav>
                                      </p:tavLst>
                                    </p:anim>
                                    <p:anim calcmode="lin" valueType="num">
                                      <p:cBhvr>
                                        <p:cTn id="90" dur="5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31" presetClass="entr" presetSubtype="0"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 calcmode="lin" valueType="num">
                                      <p:cBhvr>
                                        <p:cTn id="95" dur="500" fill="hold"/>
                                        <p:tgtEl>
                                          <p:spTgt spid="20"/>
                                        </p:tgtEl>
                                        <p:attrNameLst>
                                          <p:attrName>ppt_w</p:attrName>
                                        </p:attrNameLst>
                                      </p:cBhvr>
                                      <p:tavLst>
                                        <p:tav tm="0">
                                          <p:val>
                                            <p:fltVal val="0"/>
                                          </p:val>
                                        </p:tav>
                                        <p:tav tm="100000">
                                          <p:val>
                                            <p:strVal val="#ppt_w"/>
                                          </p:val>
                                        </p:tav>
                                      </p:tavLst>
                                    </p:anim>
                                    <p:anim calcmode="lin" valueType="num">
                                      <p:cBhvr>
                                        <p:cTn id="96" dur="500" fill="hold"/>
                                        <p:tgtEl>
                                          <p:spTgt spid="20"/>
                                        </p:tgtEl>
                                        <p:attrNameLst>
                                          <p:attrName>ppt_h</p:attrName>
                                        </p:attrNameLst>
                                      </p:cBhvr>
                                      <p:tavLst>
                                        <p:tav tm="0">
                                          <p:val>
                                            <p:fltVal val="0"/>
                                          </p:val>
                                        </p:tav>
                                        <p:tav tm="100000">
                                          <p:val>
                                            <p:strVal val="#ppt_h"/>
                                          </p:val>
                                        </p:tav>
                                      </p:tavLst>
                                    </p:anim>
                                    <p:anim calcmode="lin" valueType="num">
                                      <p:cBhvr>
                                        <p:cTn id="97" dur="500" fill="hold"/>
                                        <p:tgtEl>
                                          <p:spTgt spid="20"/>
                                        </p:tgtEl>
                                        <p:attrNameLst>
                                          <p:attrName>style.rotation</p:attrName>
                                        </p:attrNameLst>
                                      </p:cBhvr>
                                      <p:tavLst>
                                        <p:tav tm="0">
                                          <p:val>
                                            <p:fltVal val="90"/>
                                          </p:val>
                                        </p:tav>
                                        <p:tav tm="100000">
                                          <p:val>
                                            <p:fltVal val="0"/>
                                          </p:val>
                                        </p:tav>
                                      </p:tavLst>
                                    </p:anim>
                                    <p:animEffect transition="in" filter="fade">
                                      <p:cBhvr>
                                        <p:cTn id="9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52" grpId="0" animBg="1"/>
      <p:bldP spid="57" grpId="0" animBg="1"/>
      <p:bldP spid="14" grpId="0" animBg="1"/>
      <p:bldP spid="59" grpId="0"/>
      <p:bldP spid="12" grpId="0" animBg="1"/>
      <p:bldP spid="20"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 Finder</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37</a:t>
            </a:fld>
            <a:endParaRPr lang="en-US" dirty="0"/>
          </a:p>
        </p:txBody>
      </p:sp>
      <p:sp>
        <p:nvSpPr>
          <p:cNvPr id="4" name="Content Placeholder 3"/>
          <p:cNvSpPr>
            <a:spLocks noGrp="1"/>
          </p:cNvSpPr>
          <p:nvPr>
            <p:ph sz="quarter" idx="1"/>
          </p:nvPr>
        </p:nvSpPr>
        <p:spPr/>
        <p:txBody>
          <a:bodyPr/>
          <a:lstStyle/>
          <a:p>
            <a:r>
              <a:rPr lang="en-US" dirty="0"/>
              <a:t>September 2003: </a:t>
            </a:r>
            <a:r>
              <a:rPr lang="en-US" dirty="0" err="1"/>
              <a:t>Verisign</a:t>
            </a:r>
            <a:r>
              <a:rPr lang="en-US" dirty="0"/>
              <a:t> created DNS wildcards for *.com and *</a:t>
            </a:r>
            <a:r>
              <a:rPr lang="en-US" dirty="0" err="1"/>
              <a:t>.net</a:t>
            </a:r>
            <a:r>
              <a:rPr lang="en-US" dirty="0"/>
              <a:t> </a:t>
            </a:r>
          </a:p>
          <a:p>
            <a:pPr lvl="1"/>
            <a:r>
              <a:rPr lang="en-US" dirty="0"/>
              <a:t>Essentially, catch-all records for unknown domains</a:t>
            </a:r>
          </a:p>
          <a:p>
            <a:pPr lvl="1"/>
            <a:r>
              <a:rPr lang="en-US" dirty="0"/>
              <a:t>Pointed to a search website run by </a:t>
            </a:r>
            <a:r>
              <a:rPr lang="en-US" dirty="0" err="1"/>
              <a:t>Verisign</a:t>
            </a:r>
            <a:endParaRPr lang="en-US" dirty="0"/>
          </a:p>
          <a:p>
            <a:pPr lvl="1"/>
            <a:r>
              <a:rPr lang="en-US" dirty="0"/>
              <a:t>Search website was full of advertisements</a:t>
            </a:r>
          </a:p>
          <a:p>
            <a:r>
              <a:rPr lang="en-US" dirty="0"/>
              <a:t>Extremely controversial move</a:t>
            </a:r>
          </a:p>
          <a:p>
            <a:pPr lvl="1"/>
            <a:r>
              <a:rPr lang="en-US" dirty="0"/>
              <a:t>Is this DNS hijacking?</a:t>
            </a:r>
          </a:p>
          <a:p>
            <a:pPr lvl="1"/>
            <a:r>
              <a:rPr lang="en-US" dirty="0"/>
              <a:t>Definitely abuse of trust by </a:t>
            </a:r>
            <a:r>
              <a:rPr lang="en-US" dirty="0" err="1"/>
              <a:t>Verisign</a:t>
            </a:r>
            <a:endParaRPr lang="en-US" dirty="0"/>
          </a:p>
          <a:p>
            <a:pPr lvl="1"/>
            <a:r>
              <a:rPr lang="en-US" dirty="0"/>
              <a:t>Site Finder was quickly shut down, lawsuits ensued</a:t>
            </a:r>
          </a:p>
        </p:txBody>
      </p:sp>
      <p:pic>
        <p:nvPicPr>
          <p:cNvPr id="1026" name="Picture 2" descr="D:\Classes\CS 4700\assets\opendn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385" y="2612572"/>
            <a:ext cx="7890227" cy="360317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0047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anim calcmode="lin" valueType="num">
                                      <p:cBhvr>
                                        <p:cTn id="8" dur="500" fill="hold"/>
                                        <p:tgtEl>
                                          <p:spTgt spid="1026"/>
                                        </p:tgtEl>
                                        <p:attrNameLst>
                                          <p:attrName>ppt_x</p:attrName>
                                        </p:attrNameLst>
                                      </p:cBhvr>
                                      <p:tavLst>
                                        <p:tav tm="0">
                                          <p:val>
                                            <p:strVal val="#ppt_x"/>
                                          </p:val>
                                        </p:tav>
                                        <p:tav tm="100000">
                                          <p:val>
                                            <p:strVal val="#ppt_x"/>
                                          </p:val>
                                        </p:tav>
                                      </p:tavLst>
                                    </p:anim>
                                    <p:anim calcmode="lin" valueType="num">
                                      <p:cBhvr>
                                        <p:cTn id="9" dur="5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nodeType="clickEffect">
                                  <p:stCondLst>
                                    <p:cond delay="0"/>
                                  </p:stCondLst>
                                  <p:childTnLst>
                                    <p:animEffect transition="out" filter="fade">
                                      <p:cBhvr>
                                        <p:cTn id="13" dur="500"/>
                                        <p:tgtEl>
                                          <p:spTgt spid="1026"/>
                                        </p:tgtEl>
                                      </p:cBhvr>
                                    </p:animEffect>
                                    <p:anim calcmode="lin" valueType="num">
                                      <p:cBhvr>
                                        <p:cTn id="14" dur="500"/>
                                        <p:tgtEl>
                                          <p:spTgt spid="1026"/>
                                        </p:tgtEl>
                                        <p:attrNameLst>
                                          <p:attrName>ppt_x</p:attrName>
                                        </p:attrNameLst>
                                      </p:cBhvr>
                                      <p:tavLst>
                                        <p:tav tm="0">
                                          <p:val>
                                            <p:strVal val="ppt_x"/>
                                          </p:val>
                                        </p:tav>
                                        <p:tav tm="100000">
                                          <p:val>
                                            <p:strVal val="ppt_x"/>
                                          </p:val>
                                        </p:tav>
                                      </p:tavLst>
                                    </p:anim>
                                    <p:anim calcmode="lin" valueType="num">
                                      <p:cBhvr>
                                        <p:cTn id="15" dur="500"/>
                                        <p:tgtEl>
                                          <p:spTgt spid="1026"/>
                                        </p:tgtEl>
                                        <p:attrNameLst>
                                          <p:attrName>ppt_y</p:attrName>
                                        </p:attrNameLst>
                                      </p:cBhvr>
                                      <p:tavLst>
                                        <p:tav tm="0">
                                          <p:val>
                                            <p:strVal val="ppt_y"/>
                                          </p:val>
                                        </p:tav>
                                        <p:tav tm="100000">
                                          <p:val>
                                            <p:strVal val="ppt_y+.1"/>
                                          </p:val>
                                        </p:tav>
                                      </p:tavLst>
                                    </p:anim>
                                    <p:set>
                                      <p:cBhvr>
                                        <p:cTn id="16" dur="1" fill="hold">
                                          <p:stCondLst>
                                            <p:cond delay="499"/>
                                          </p:stCondLst>
                                        </p:cTn>
                                        <p:tgtEl>
                                          <p:spTgt spid="102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anim calcmode="lin" valueType="num">
                                      <p:cBhvr>
                                        <p:cTn id="22"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anim calcmode="lin" valueType="num">
                                      <p:cBhvr>
                                        <p:cTn id="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8" dur="500" fill="hold"/>
                                        <p:tgtEl>
                                          <p:spTgt spid="4">
                                            <p:txEl>
                                              <p:pRg st="5" end="5"/>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anim calcmode="lin" valueType="num">
                                      <p:cBhvr>
                                        <p:cTn id="3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3" dur="500" fill="hold"/>
                                        <p:tgtEl>
                                          <p:spTgt spid="4">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fade">
                                      <p:cBhvr>
                                        <p:cTn id="36" dur="500"/>
                                        <p:tgtEl>
                                          <p:spTgt spid="4">
                                            <p:txEl>
                                              <p:pRg st="7" end="7"/>
                                            </p:txEl>
                                          </p:spTgt>
                                        </p:tgtEl>
                                      </p:cBhvr>
                                    </p:animEffect>
                                    <p:anim calcmode="lin" valueType="num">
                                      <p:cBhvr>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8" dur="5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Much More to DNS</a:t>
            </a:r>
          </a:p>
        </p:txBody>
      </p:sp>
      <p:sp>
        <p:nvSpPr>
          <p:cNvPr id="3" name="Slide Number Placeholder 2"/>
          <p:cNvSpPr>
            <a:spLocks noGrp="1"/>
          </p:cNvSpPr>
          <p:nvPr>
            <p:ph type="sldNum" sz="quarter" idx="12"/>
          </p:nvPr>
        </p:nvSpPr>
        <p:spPr/>
        <p:txBody>
          <a:bodyPr>
            <a:normAutofit fontScale="92500" lnSpcReduction="20000"/>
          </a:bodyPr>
          <a:lstStyle/>
          <a:p>
            <a:fld id="{283B9EA5-CE9A-4950-A80C-5ADF06B45BB8}" type="slidenum">
              <a:rPr lang="en-US" smtClean="0"/>
              <a:pPr/>
              <a:t>38</a:t>
            </a:fld>
            <a:endParaRPr lang="en-US" dirty="0"/>
          </a:p>
        </p:txBody>
      </p:sp>
      <p:sp>
        <p:nvSpPr>
          <p:cNvPr id="4" name="Content Placeholder 3"/>
          <p:cNvSpPr>
            <a:spLocks noGrp="1"/>
          </p:cNvSpPr>
          <p:nvPr>
            <p:ph sz="quarter" idx="1"/>
          </p:nvPr>
        </p:nvSpPr>
        <p:spPr/>
        <p:txBody>
          <a:bodyPr/>
          <a:lstStyle/>
          <a:p>
            <a:r>
              <a:rPr lang="en-US" dirty="0"/>
              <a:t>Caching: when, where, how much, etc.</a:t>
            </a:r>
          </a:p>
          <a:p>
            <a:r>
              <a:rPr lang="en-US" dirty="0"/>
              <a:t>Other uses for DNS (i.e. DNS hacks)</a:t>
            </a:r>
          </a:p>
          <a:p>
            <a:pPr lvl="1"/>
            <a:r>
              <a:rPr lang="en-US" dirty="0"/>
              <a:t>Content Delivery Networks (CDNs)</a:t>
            </a:r>
          </a:p>
          <a:p>
            <a:pPr lvl="1"/>
            <a:r>
              <a:rPr lang="en-US" dirty="0"/>
              <a:t>Different types of DNS load balancing</a:t>
            </a:r>
          </a:p>
          <a:p>
            <a:pPr lvl="1"/>
            <a:r>
              <a:rPr lang="en-US" dirty="0"/>
              <a:t>Dynamic DNS (e.g. for mobile hosts)</a:t>
            </a:r>
          </a:p>
          <a:p>
            <a:r>
              <a:rPr lang="en-US" dirty="0"/>
              <a:t>DNS and botnets</a:t>
            </a:r>
          </a:p>
          <a:p>
            <a:r>
              <a:rPr lang="en-US" dirty="0"/>
              <a:t>Politics and growth of the DNS system</a:t>
            </a:r>
          </a:p>
          <a:p>
            <a:pPr lvl="1"/>
            <a:r>
              <a:rPr lang="en-US" dirty="0"/>
              <a:t>Governance</a:t>
            </a:r>
          </a:p>
          <a:p>
            <a:pPr lvl="1"/>
            <a:r>
              <a:rPr lang="en-US" dirty="0"/>
              <a:t>New TLDs (.xxx, .biz), eliminating TLDs altogether</a:t>
            </a:r>
          </a:p>
          <a:p>
            <a:pPr lvl="1"/>
            <a:r>
              <a:rPr lang="en-US" dirty="0"/>
              <a:t>Copyright, arbitration, squatting, typo-squatting</a:t>
            </a:r>
          </a:p>
        </p:txBody>
      </p:sp>
    </p:spTree>
    <p:extLst>
      <p:ext uri="{BB962C8B-B14F-4D97-AF65-F5344CB8AC3E}">
        <p14:creationId xmlns:p14="http://schemas.microsoft.com/office/powerpoint/2010/main" val="254430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anim calcmode="lin" valueType="num">
                                      <p:cBhvr>
                                        <p:cTn id="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anim calcmode="lin" valueType="num">
                                      <p:cBhvr>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anim calcmode="lin" valueType="num">
                                      <p:cBhvr>
                                        <p:cTn id="1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5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anim calcmode="lin" valueType="num">
                                      <p:cBhvr>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fade">
                                      <p:cBhvr>
                                        <p:cTn id="29" dur="500"/>
                                        <p:tgtEl>
                                          <p:spTgt spid="4">
                                            <p:txEl>
                                              <p:pRg st="5" end="5"/>
                                            </p:txEl>
                                          </p:spTgt>
                                        </p:tgtEl>
                                      </p:cBhvr>
                                    </p:animEffect>
                                    <p:anim calcmode="lin" valueType="num">
                                      <p:cBhvr>
                                        <p:cTn id="3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1"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animEffect transition="in" filter="fade">
                                      <p:cBhvr>
                                        <p:cTn id="36" dur="500"/>
                                        <p:tgtEl>
                                          <p:spTgt spid="4">
                                            <p:txEl>
                                              <p:pRg st="6" end="6"/>
                                            </p:txEl>
                                          </p:spTgt>
                                        </p:tgtEl>
                                      </p:cBhvr>
                                    </p:animEffect>
                                    <p:anim calcmode="lin" valueType="num">
                                      <p:cBhvr>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8" dur="500" fill="hold"/>
                                        <p:tgtEl>
                                          <p:spTgt spid="4">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Effect transition="in" filter="fade">
                                      <p:cBhvr>
                                        <p:cTn id="41" dur="500"/>
                                        <p:tgtEl>
                                          <p:spTgt spid="4">
                                            <p:txEl>
                                              <p:pRg st="7" end="7"/>
                                            </p:txEl>
                                          </p:spTgt>
                                        </p:tgtEl>
                                      </p:cBhvr>
                                    </p:animEffect>
                                    <p:anim calcmode="lin" valueType="num">
                                      <p:cBhvr>
                                        <p:cTn id="42"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3" dur="500" fill="hold"/>
                                        <p:tgtEl>
                                          <p:spTgt spid="4">
                                            <p:txEl>
                                              <p:pRg st="7" end="7"/>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animEffect transition="in" filter="fade">
                                      <p:cBhvr>
                                        <p:cTn id="46" dur="500"/>
                                        <p:tgtEl>
                                          <p:spTgt spid="4">
                                            <p:txEl>
                                              <p:pRg st="8" end="8"/>
                                            </p:txEl>
                                          </p:spTgt>
                                        </p:tgtEl>
                                      </p:cBhvr>
                                    </p:animEffect>
                                    <p:anim calcmode="lin" valueType="num">
                                      <p:cBhvr>
                                        <p:cTn id="4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8" dur="500" fill="hold"/>
                                        <p:tgtEl>
                                          <p:spTgt spid="4">
                                            <p:txEl>
                                              <p:pRg st="8" end="8"/>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animEffect transition="in" filter="fade">
                                      <p:cBhvr>
                                        <p:cTn id="51" dur="500"/>
                                        <p:tgtEl>
                                          <p:spTgt spid="4">
                                            <p:txEl>
                                              <p:pRg st="9" end="9"/>
                                            </p:txEl>
                                          </p:spTgt>
                                        </p:tgtEl>
                                      </p:cBhvr>
                                    </p:animEffect>
                                    <p:anim calcmode="lin" valueType="num">
                                      <p:cBhvr>
                                        <p:cTn id="52"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3" dur="5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73180</TotalTime>
  <Words>2766</Words>
  <Application>Microsoft Macintosh PowerPoint</Application>
  <PresentationFormat>On-screen Show (4:3)</PresentationFormat>
  <Paragraphs>457</Paragraphs>
  <Slides>38</Slides>
  <Notes>5</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-apple-system</vt:lpstr>
      <vt:lpstr>Arial</vt:lpstr>
      <vt:lpstr>Calibri</vt:lpstr>
      <vt:lpstr>Tw Cen MT</vt:lpstr>
      <vt:lpstr>Wingdings</vt:lpstr>
      <vt:lpstr>Wingdings 2</vt:lpstr>
      <vt:lpstr>Median</vt:lpstr>
      <vt:lpstr>CS 6903 Network Security</vt:lpstr>
      <vt:lpstr>Layer 8 (The Carbon-based nodes)</vt:lpstr>
      <vt:lpstr>Internet Names and Addresses</vt:lpstr>
      <vt:lpstr>History</vt:lpstr>
      <vt:lpstr>Towards DNS</vt:lpstr>
      <vt:lpstr>Outline</vt:lpstr>
      <vt:lpstr>DNS at a High-Level</vt:lpstr>
      <vt:lpstr>Naming Hierarchy</vt:lpstr>
      <vt:lpstr>Hierarchical Administration</vt:lpstr>
      <vt:lpstr>Server Hierarchy</vt:lpstr>
      <vt:lpstr>Root Name Servers</vt:lpstr>
      <vt:lpstr>Map of the Roots</vt:lpstr>
      <vt:lpstr>Local Name Servers</vt:lpstr>
      <vt:lpstr>Authoritative Name Servers</vt:lpstr>
      <vt:lpstr>Basic Domain Name Resolution</vt:lpstr>
      <vt:lpstr>Recursive DNS Query</vt:lpstr>
      <vt:lpstr>Iterated DNS query</vt:lpstr>
      <vt:lpstr>DNS Propagation</vt:lpstr>
      <vt:lpstr>Caching vs. Freshness</vt:lpstr>
      <vt:lpstr>DNS Resource Records</vt:lpstr>
      <vt:lpstr>DNS Types</vt:lpstr>
      <vt:lpstr>DNS Types, Continued</vt:lpstr>
      <vt:lpstr>Reverse Lookups</vt:lpstr>
      <vt:lpstr>DNS as Indirection Service</vt:lpstr>
      <vt:lpstr>Aliasing and Load Balancing</vt:lpstr>
      <vt:lpstr>Content Delivery Networks</vt:lpstr>
      <vt:lpstr>Outline</vt:lpstr>
      <vt:lpstr>The Importance of DNS</vt:lpstr>
      <vt:lpstr>Denial Of Service</vt:lpstr>
      <vt:lpstr>DNS Hijacking</vt:lpstr>
      <vt:lpstr>DNS Spoofing</vt:lpstr>
      <vt:lpstr>DNS Cache Poisoning</vt:lpstr>
      <vt:lpstr>Solution: DNSSEC</vt:lpstr>
      <vt:lpstr>PowerPoint Presentation</vt:lpstr>
      <vt:lpstr>PowerPoint Presentation</vt:lpstr>
      <vt:lpstr>DNSSEC Hierarchy of Trust</vt:lpstr>
      <vt:lpstr>Site Finder</vt:lpstr>
      <vt:lpstr>Much More to DNS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 Wilson</dc:creator>
  <cp:lastModifiedBy>Praveen T</cp:lastModifiedBy>
  <cp:revision>843</cp:revision>
  <cp:lastPrinted>2012-08-22T04:00:45Z</cp:lastPrinted>
  <dcterms:created xsi:type="dcterms:W3CDTF">2012-01-03T02:22:46Z</dcterms:created>
  <dcterms:modified xsi:type="dcterms:W3CDTF">2026-03-23T06:24:15Z</dcterms:modified>
</cp:coreProperties>
</file>